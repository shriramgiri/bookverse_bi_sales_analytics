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73" r:id="rId2"/>
    <p:sldId id="275" r:id="rId3"/>
    <p:sldId id="283" r:id="rId4"/>
    <p:sldId id="257" r:id="rId5"/>
    <p:sldId id="258" r:id="rId6"/>
    <p:sldId id="259" r:id="rId7"/>
    <p:sldId id="260" r:id="rId8"/>
    <p:sldId id="261" r:id="rId9"/>
    <p:sldId id="262" r:id="rId10"/>
    <p:sldId id="277" r:id="rId11"/>
    <p:sldId id="263" r:id="rId12"/>
    <p:sldId id="264" r:id="rId13"/>
    <p:sldId id="280" r:id="rId14"/>
    <p:sldId id="282" r:id="rId15"/>
    <p:sldId id="265" r:id="rId16"/>
    <p:sldId id="266" r:id="rId17"/>
    <p:sldId id="267" r:id="rId18"/>
    <p:sldId id="268" r:id="rId19"/>
    <p:sldId id="279" r:id="rId20"/>
    <p:sldId id="269" r:id="rId21"/>
    <p:sldId id="271" r:id="rId22"/>
    <p:sldId id="270" r:id="rId23"/>
    <p:sldId id="272"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riram G" initials="SG" lastIdx="1" clrIdx="0">
    <p:extLst>
      <p:ext uri="{19B8F6BF-5375-455C-9EA6-DF929625EA0E}">
        <p15:presenceInfo xmlns:p15="http://schemas.microsoft.com/office/powerpoint/2012/main" userId="7ff90d388bd969a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2A4A"/>
    <a:srgbClr val="D6A300"/>
    <a:srgbClr val="6B7280"/>
    <a:srgbClr val="E7EAF2"/>
    <a:srgbClr val="0563C1"/>
    <a:srgbClr val="616161"/>
    <a:srgbClr val="E8D48A"/>
    <a:srgbClr val="F7EFD9"/>
    <a:srgbClr val="F29111"/>
    <a:srgbClr val="007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05" autoAdjust="0"/>
    <p:restoredTop sz="95127" autoAdjust="0"/>
  </p:normalViewPr>
  <p:slideViewPr>
    <p:cSldViewPr snapToGrid="0" snapToObjects="1">
      <p:cViewPr varScale="1">
        <p:scale>
          <a:sx n="73" d="100"/>
          <a:sy n="73" d="100"/>
        </p:scale>
        <p:origin x="436" y="3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5531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Frame BookVerse as a realistic retail business before touching any SQL. The three operations map directly to the three tables in the database (Books, Customers, Orders). The five decision areas on this slide are the lens the rest of the deck is organized around, and they reappear as section headers later. Keep this slide business-language only — no SQL yet.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Walk through the schema exactly as implemented in Workbench: three tables, Orders sitting between Customers and Books as the junction table. Point out the PK/FK/UNIQUE tags — these are the actual constraints from the CREATE TABLE statements, not assumptions. This relational structure is what makes every later JOIN-based query possible.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shows the build-then-verify discipline behind the database: schema first, then four categories of validation before any analysis is trusted. The record counts, duplicate checks, missing-value checks and foreign-key checks all come directly from queries already written in the Workbench file — only the actual returned numbers still need to be dropped 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is the 'get to know the data' step before any business analysis. Every card corresponds to a real query already written in Workbench — COUNT for volumes, DISTINCT for genre/country coverage, SUM and AVG for the revenue baseline. Run each query and drop the returned number into the placeholder before presenting; never estimate these.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is the core of the sales analysis: everything here rolls up Orders against Books using JOIN, then GROUP BY book, author or genre, aggregating with SUM and presenting cleanly with ROUND and ORDER BY. The genre-revenue query shown is copied directly from the Workbench file so the audience sees real, working SQL rather than a mocked-up example.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These three business situations are taken directly from the project manual, not invented. For each one, walk left to right: the tables and columns needed, the SQL construct that answers it, and the business use of the result. No figures are shown here — this slide is about method, not results.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Customer behaviour comes from joining Customers, Orders and Books together — without that three-way join you can't see spending by geography or genre mix, only order counts. The four pairings at the bottom are the chart types this analysis naturally produces once real results are available.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Four manual questions, each mapped to the tables, columns and SQL construct that answers it. Note the last one needs all three tables joined together — Customers, Orders and Books — because 'genre' only exists on Books, so you must traverse Orders to connect a customer to a genre at all.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Product and genre performance both reuse the same Books-to-Orders relationship, but with a LEFT JOIN instead of an inner JOIN. That single change is what lets the query surface books with zero matching orders — an inner JOIN would simply drop them and hide the never-ordered titles entirely.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Two fixed thresholds drive every inventory flag in this project — Stock under 20 for low stock, Stock 80 or above for high stock — and they stay exactly as implemented in Workbench throughout the deck. Inventory value (Price × Stock) gives a rupee figure to prioritize which low or high stock items matter most.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connects two things already built separately: sales demand from the Orders side and stock position from the Books side. The two shaded zones use the exact HAVING thresholds from the Workbench file — nothing here is a new rule, it's the same conditions visualized as a quadrant. The never-ordered category sits outside the quadrant because it isn't a sales-volume comparison, it's a zero-sales flag.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Three manual questions from the Inventory &amp; Operations area. Questions 1 and 3 map directly onto queries already written in the Workbench file — the low-stock filter and the LEFT JOIN for never-ordered books. Question 2 is presented at the planning level: the genre-wise sales query and the stock-by-author query already exist separately in Workbench, so combining stock and sales at the genre level is a natural next query to add, not a result already produced — be upfront about that distinction if asked.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Two halves, deliberately different in style: insights are placeholders because they depend entirely on the numbers your queries return — do not fill these in from memory or estimation, copy them from the actual Workbench output. Recommendations, on the right, follow logically from the analysis framework itself and hold regardless of the exact figures, though their priority order may shift once real numbers are in.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 working checklist, not a presentation talking point — run every query grouped here in Workbench, copy the actual output into the corresponding slide, and only then treat the deck as presentation-ready. Nothing on this slide is a result; it is the list of results still required.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Close by retracing the nine-stage journey across the top of the slide — from business understanding all the way to management recommendations — and land on the closing statement. This is the moment to emphasize that every step was grounded in the actual Workbench SQL, not assumed data, which is the core credibility point of the whole project.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extLst>
      <p:ext uri="{BB962C8B-B14F-4D97-AF65-F5344CB8AC3E}">
        <p14:creationId xmlns:p14="http://schemas.microsoft.com/office/powerpoint/2010/main" val="2141944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extLst>
      <p:ext uri="{BB962C8B-B14F-4D97-AF65-F5344CB8AC3E}">
        <p14:creationId xmlns:p14="http://schemas.microsoft.com/office/powerpoint/2010/main" val="27798526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jpeg"/><Relationship Id="rId7" Type="http://schemas.openxmlformats.org/officeDocument/2006/relationships/hyperlink" Target="https://github.com/Shriramgiri"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hyperlink" Target="http://www.linkedin.com/in/shriram-giri"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6.png"/><Relationship Id="rId4" Type="http://schemas.openxmlformats.org/officeDocument/2006/relationships/image" Target="../media/image12.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8.png"/><Relationship Id="rId7"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6.png"/><Relationship Id="rId7"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34.png"/><Relationship Id="rId5" Type="http://schemas.openxmlformats.org/officeDocument/2006/relationships/image" Target="../media/image18.png"/><Relationship Id="rId10" Type="http://schemas.openxmlformats.org/officeDocument/2006/relationships/image" Target="../media/image16.png"/><Relationship Id="rId4" Type="http://schemas.openxmlformats.org/officeDocument/2006/relationships/image" Target="../media/image33.png"/><Relationship Id="rId9"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12" name="Picture 11">
            <a:extLst>
              <a:ext uri="{FF2B5EF4-FFF2-40B4-BE49-F238E27FC236}">
                <a16:creationId xmlns:a16="http://schemas.microsoft.com/office/drawing/2014/main" id="{FD44142F-0D7D-8244-E3BD-A76A7BB26BD1}"/>
              </a:ext>
            </a:extLst>
          </p:cNvPr>
          <p:cNvPicPr>
            <a:picLocks noChangeAspect="1"/>
          </p:cNvPicPr>
          <p:nvPr/>
        </p:nvPicPr>
        <p:blipFill>
          <a:blip r:embed="rId3"/>
          <a:stretch>
            <a:fillRect/>
          </a:stretch>
        </p:blipFill>
        <p:spPr>
          <a:xfrm flipV="1">
            <a:off x="9648825" y="3810000"/>
            <a:ext cx="2543175" cy="3048000"/>
          </a:xfrm>
          <a:prstGeom prst="rect">
            <a:avLst/>
          </a:prstGeom>
        </p:spPr>
      </p:pic>
      <p:pic>
        <p:nvPicPr>
          <p:cNvPr id="8" name="Picture 7">
            <a:extLst>
              <a:ext uri="{FF2B5EF4-FFF2-40B4-BE49-F238E27FC236}">
                <a16:creationId xmlns:a16="http://schemas.microsoft.com/office/drawing/2014/main" id="{65628D41-81A6-5276-7A6B-8D67A1883CB0}"/>
              </a:ext>
            </a:extLst>
          </p:cNvPr>
          <p:cNvPicPr>
            <a:picLocks noChangeAspect="1"/>
          </p:cNvPicPr>
          <p:nvPr/>
        </p:nvPicPr>
        <p:blipFill>
          <a:blip r:embed="rId4"/>
          <a:stretch>
            <a:fillRect/>
          </a:stretch>
        </p:blipFill>
        <p:spPr>
          <a:xfrm flipV="1">
            <a:off x="-5903" y="3815464"/>
            <a:ext cx="2543530" cy="3048425"/>
          </a:xfrm>
          <a:prstGeom prst="rect">
            <a:avLst/>
          </a:prstGeom>
        </p:spPr>
      </p:pic>
      <p:pic>
        <p:nvPicPr>
          <p:cNvPr id="98" name="Google Shape;98;p1"/>
          <p:cNvPicPr preferRelativeResize="0"/>
          <p:nvPr/>
        </p:nvPicPr>
        <p:blipFill rotWithShape="1">
          <a:blip r:embed="rId5">
            <a:alphaModFix/>
          </a:blip>
          <a:srcRect b="58717"/>
          <a:stretch/>
        </p:blipFill>
        <p:spPr>
          <a:xfrm>
            <a:off x="1185" y="-227875"/>
            <a:ext cx="12190815" cy="2927532"/>
          </a:xfrm>
          <a:prstGeom prst="rect">
            <a:avLst/>
          </a:prstGeom>
          <a:noFill/>
          <a:ln>
            <a:noFill/>
          </a:ln>
        </p:spPr>
      </p:pic>
      <p:sp>
        <p:nvSpPr>
          <p:cNvPr id="99" name="Google Shape;99;p1"/>
          <p:cNvSpPr txBox="1"/>
          <p:nvPr/>
        </p:nvSpPr>
        <p:spPr>
          <a:xfrm>
            <a:off x="968245" y="3428742"/>
            <a:ext cx="10168015" cy="707846"/>
          </a:xfrm>
          <a:prstGeom prst="rect">
            <a:avLst/>
          </a:prstGeom>
          <a:noFill/>
          <a:ln>
            <a:noFill/>
          </a:ln>
        </p:spPr>
        <p:txBody>
          <a:bodyPr spcFirstLastPara="1" wrap="square" lIns="91425" tIns="45700" rIns="91425" bIns="45700" anchor="t" anchorCtr="0">
            <a:spAutoFit/>
          </a:bodyPr>
          <a:lstStyle/>
          <a:p>
            <a:pPr algn="ctr"/>
            <a:r>
              <a:rPr lang="en-US" sz="4000" b="1" dirty="0">
                <a:solidFill>
                  <a:schemeClr val="accent1">
                    <a:lumMod val="50000"/>
                  </a:schemeClr>
                </a:solidFill>
                <a:effectLst>
                  <a:outerShdw blurRad="38100" dist="38100" dir="2700000" algn="tl">
                    <a:srgbClr val="000000">
                      <a:alpha val="43137"/>
                    </a:srgbClr>
                  </a:outerShdw>
                </a:effectLst>
                <a:latin typeface="Cambria" pitchFamily="34" charset="0"/>
                <a:ea typeface="Cambria" pitchFamily="34" charset="-122"/>
                <a:cs typeface="Cambria" pitchFamily="34" charset="-120"/>
              </a:rPr>
              <a:t>BookVerse Retail</a:t>
            </a:r>
          </a:p>
        </p:txBody>
      </p:sp>
      <p:sp>
        <p:nvSpPr>
          <p:cNvPr id="2" name="TextBox 1">
            <a:extLst>
              <a:ext uri="{FF2B5EF4-FFF2-40B4-BE49-F238E27FC236}">
                <a16:creationId xmlns:a16="http://schemas.microsoft.com/office/drawing/2014/main" id="{36AD4F51-2AE7-5CB2-FCBB-24AB80A40896}"/>
              </a:ext>
            </a:extLst>
          </p:cNvPr>
          <p:cNvSpPr txBox="1"/>
          <p:nvPr/>
        </p:nvSpPr>
        <p:spPr>
          <a:xfrm>
            <a:off x="2037805" y="4130593"/>
            <a:ext cx="8116389" cy="369332"/>
          </a:xfrm>
          <a:prstGeom prst="rect">
            <a:avLst/>
          </a:prstGeom>
          <a:noFill/>
        </p:spPr>
        <p:txBody>
          <a:bodyPr wrap="square" rtlCol="0">
            <a:spAutoFit/>
          </a:bodyPr>
          <a:lstStyle/>
          <a:p>
            <a:pPr algn="ctr"/>
            <a:r>
              <a:rPr lang="en-US" b="1" dirty="0">
                <a:solidFill>
                  <a:srgbClr val="C9A227"/>
                </a:solidFill>
                <a:latin typeface="Cambria" pitchFamily="34" charset="0"/>
                <a:ea typeface="Cambria" pitchFamily="34" charset="-122"/>
                <a:cs typeface="Cambria" pitchFamily="34" charset="-120"/>
              </a:rPr>
              <a:t>Business Intelligence &amp; Sales Analytics</a:t>
            </a:r>
            <a:endParaRPr lang="en-US" dirty="0"/>
          </a:p>
        </p:txBody>
      </p:sp>
      <p:sp>
        <p:nvSpPr>
          <p:cNvPr id="3" name="TextBox 2">
            <a:extLst>
              <a:ext uri="{FF2B5EF4-FFF2-40B4-BE49-F238E27FC236}">
                <a16:creationId xmlns:a16="http://schemas.microsoft.com/office/drawing/2014/main" id="{3782F6C5-9FE3-518F-6874-A19B4F743B07}"/>
              </a:ext>
            </a:extLst>
          </p:cNvPr>
          <p:cNvSpPr txBox="1"/>
          <p:nvPr/>
        </p:nvSpPr>
        <p:spPr>
          <a:xfrm>
            <a:off x="2489980" y="5720549"/>
            <a:ext cx="2560320" cy="400110"/>
          </a:xfrm>
          <a:prstGeom prst="rect">
            <a:avLst/>
          </a:prstGeom>
          <a:noFill/>
        </p:spPr>
        <p:txBody>
          <a:bodyPr wrap="square" rtlCol="0">
            <a:spAutoFit/>
          </a:bodyPr>
          <a:lstStyle/>
          <a:p>
            <a:r>
              <a:rPr lang="en-US" sz="2000" b="1" dirty="0">
                <a:solidFill>
                  <a:srgbClr val="1B2A4A"/>
                </a:solidFill>
                <a:latin typeface="Cambria" panose="02040503050406030204" pitchFamily="18" charset="0"/>
                <a:ea typeface="Cambria" panose="02040503050406030204" pitchFamily="18" charset="0"/>
              </a:rPr>
              <a:t>Shriram A. Giri</a:t>
            </a:r>
            <a:endParaRPr lang="en-IN" sz="2000" b="1" dirty="0">
              <a:solidFill>
                <a:srgbClr val="1B2A4A"/>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3E24FD32-FCE0-F876-253B-FD5DD56F6885}"/>
              </a:ext>
            </a:extLst>
          </p:cNvPr>
          <p:cNvSpPr txBox="1"/>
          <p:nvPr/>
        </p:nvSpPr>
        <p:spPr>
          <a:xfrm>
            <a:off x="2501799" y="6038485"/>
            <a:ext cx="1245325" cy="369332"/>
          </a:xfrm>
          <a:prstGeom prst="rect">
            <a:avLst/>
          </a:prstGeom>
          <a:noFill/>
        </p:spPr>
        <p:txBody>
          <a:bodyPr wrap="square" rtlCol="0">
            <a:spAutoFit/>
          </a:bodyPr>
          <a:lstStyle/>
          <a:p>
            <a:r>
              <a:rPr lang="en-US" dirty="0">
                <a:solidFill>
                  <a:schemeClr val="bg1">
                    <a:lumMod val="50000"/>
                  </a:schemeClr>
                </a:solidFill>
              </a:rPr>
              <a:t>Batch : 530</a:t>
            </a:r>
            <a:endParaRPr lang="en-IN" dirty="0">
              <a:solidFill>
                <a:schemeClr val="bg1">
                  <a:lumMod val="50000"/>
                </a:schemeClr>
              </a:solidFill>
            </a:endParaRPr>
          </a:p>
        </p:txBody>
      </p:sp>
      <p:sp>
        <p:nvSpPr>
          <p:cNvPr id="5" name="TextBox 4">
            <a:extLst>
              <a:ext uri="{FF2B5EF4-FFF2-40B4-BE49-F238E27FC236}">
                <a16:creationId xmlns:a16="http://schemas.microsoft.com/office/drawing/2014/main" id="{1BA8CC50-180D-C82D-6DA7-E18EAA4CF858}"/>
              </a:ext>
            </a:extLst>
          </p:cNvPr>
          <p:cNvSpPr txBox="1"/>
          <p:nvPr/>
        </p:nvSpPr>
        <p:spPr>
          <a:xfrm>
            <a:off x="3988526" y="2824009"/>
            <a:ext cx="4040777" cy="646331"/>
          </a:xfrm>
          <a:prstGeom prst="rect">
            <a:avLst/>
          </a:prstGeom>
          <a:noFill/>
        </p:spPr>
        <p:txBody>
          <a:bodyPr wrap="square" rtlCol="0">
            <a:spAutoFit/>
          </a:bodyPr>
          <a:lstStyle/>
          <a:p>
            <a:pPr algn="ctr"/>
            <a:r>
              <a:rPr lang="en-US" sz="3600" b="1" dirty="0">
                <a:solidFill>
                  <a:srgbClr val="FF0000"/>
                </a:solidFill>
                <a:latin typeface="Cambria" panose="02040503050406030204" pitchFamily="18" charset="0"/>
                <a:ea typeface="Cambria" panose="02040503050406030204" pitchFamily="18" charset="0"/>
              </a:rPr>
              <a:t>Project on</a:t>
            </a:r>
            <a:endParaRPr lang="en-IN" sz="3600" b="1" dirty="0">
              <a:solidFill>
                <a:srgbClr val="FF0000"/>
              </a:solidFill>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F01DB9DB-63B0-6C7D-2A90-A60C8D55351E}"/>
              </a:ext>
            </a:extLst>
          </p:cNvPr>
          <p:cNvPicPr>
            <a:picLocks noChangeAspect="1"/>
          </p:cNvPicPr>
          <p:nvPr/>
        </p:nvPicPr>
        <p:blipFill>
          <a:blip r:embed="rId4"/>
          <a:stretch>
            <a:fillRect/>
          </a:stretch>
        </p:blipFill>
        <p:spPr>
          <a:xfrm flipH="1">
            <a:off x="9647285" y="-227875"/>
            <a:ext cx="2543530" cy="3048425"/>
          </a:xfrm>
          <a:prstGeom prst="rect">
            <a:avLst/>
          </a:prstGeom>
        </p:spPr>
      </p:pic>
      <p:sp>
        <p:nvSpPr>
          <p:cNvPr id="13" name="Rectangle 12">
            <a:extLst>
              <a:ext uri="{FF2B5EF4-FFF2-40B4-BE49-F238E27FC236}">
                <a16:creationId xmlns:a16="http://schemas.microsoft.com/office/drawing/2014/main" id="{410EEC31-D37E-1C1C-F7C0-F87C16892C12}"/>
              </a:ext>
            </a:extLst>
          </p:cNvPr>
          <p:cNvSpPr/>
          <p:nvPr/>
        </p:nvSpPr>
        <p:spPr>
          <a:xfrm>
            <a:off x="8699863" y="5715982"/>
            <a:ext cx="1132114" cy="11420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64DA66D-EBB1-913C-91DE-8EA880F71006}"/>
              </a:ext>
            </a:extLst>
          </p:cNvPr>
          <p:cNvSpPr txBox="1"/>
          <p:nvPr/>
        </p:nvSpPr>
        <p:spPr>
          <a:xfrm>
            <a:off x="3335383" y="4540862"/>
            <a:ext cx="5521234" cy="646331"/>
          </a:xfrm>
          <a:prstGeom prst="rect">
            <a:avLst/>
          </a:prstGeom>
          <a:noFill/>
        </p:spPr>
        <p:txBody>
          <a:bodyPr wrap="square" rtlCol="0">
            <a:spAutoFit/>
          </a:bodyPr>
          <a:lstStyle/>
          <a:p>
            <a:r>
              <a:rPr lang="en-US" i="1" dirty="0">
                <a:solidFill>
                  <a:srgbClr val="00758F"/>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My</a:t>
            </a:r>
            <a:r>
              <a:rPr lang="en-US" i="1" dirty="0">
                <a:solidFill>
                  <a:srgbClr val="F29111"/>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SQL</a:t>
            </a:r>
            <a:r>
              <a:rPr lang="en-US" i="1" dirty="0">
                <a:solidFill>
                  <a:schemeClr val="tx2"/>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-Based Retail Sales, Customer &amp; Inventory Analysis</a:t>
            </a:r>
            <a:endParaRPr lang="en-US" dirty="0">
              <a:solidFill>
                <a:schemeClr val="tx2"/>
              </a:solidFill>
              <a:effectLst>
                <a:outerShdw blurRad="38100" dist="38100" dir="2700000" algn="tl">
                  <a:srgbClr val="000000">
                    <a:alpha val="43137"/>
                  </a:srgbClr>
                </a:outerShdw>
              </a:effectLst>
            </a:endParaRPr>
          </a:p>
          <a:p>
            <a:endParaRPr lang="en-IN" dirty="0">
              <a:solidFill>
                <a:schemeClr val="tx2"/>
              </a:solidFill>
            </a:endParaRPr>
          </a:p>
        </p:txBody>
      </p:sp>
      <p:sp>
        <p:nvSpPr>
          <p:cNvPr id="9" name="Shape 2">
            <a:extLst>
              <a:ext uri="{FF2B5EF4-FFF2-40B4-BE49-F238E27FC236}">
                <a16:creationId xmlns:a16="http://schemas.microsoft.com/office/drawing/2014/main" id="{CA381A47-1B4B-2D21-1954-C5F9DBC343AD}"/>
              </a:ext>
            </a:extLst>
          </p:cNvPr>
          <p:cNvSpPr/>
          <p:nvPr/>
        </p:nvSpPr>
        <p:spPr>
          <a:xfrm>
            <a:off x="5576034" y="5153621"/>
            <a:ext cx="566928" cy="566928"/>
          </a:xfrm>
          <a:prstGeom prst="ellipse">
            <a:avLst/>
          </a:prstGeom>
          <a:solidFill>
            <a:srgbClr val="C9A227"/>
          </a:solidFill>
          <a:ln/>
        </p:spPr>
        <p:txBody>
          <a:bodyPr/>
          <a:lstStyle/>
          <a:p>
            <a:endParaRPr lang="en-IN"/>
          </a:p>
        </p:txBody>
      </p:sp>
      <p:pic>
        <p:nvPicPr>
          <p:cNvPr id="10" name="Image 0" descr="/home/claude/bookverse/icons/book.png">
            <a:extLst>
              <a:ext uri="{FF2B5EF4-FFF2-40B4-BE49-F238E27FC236}">
                <a16:creationId xmlns:a16="http://schemas.microsoft.com/office/drawing/2014/main" id="{98A670B5-FFAE-D0E5-971A-2DA4928A204D}"/>
              </a:ext>
            </a:extLst>
          </p:cNvPr>
          <p:cNvPicPr>
            <a:picLocks noChangeAspect="1"/>
          </p:cNvPicPr>
          <p:nvPr/>
        </p:nvPicPr>
        <p:blipFill>
          <a:blip r:embed="rId6"/>
          <a:stretch>
            <a:fillRect/>
          </a:stretch>
        </p:blipFill>
        <p:spPr>
          <a:xfrm>
            <a:off x="5666742" y="5244329"/>
            <a:ext cx="385511" cy="385511"/>
          </a:xfrm>
          <a:prstGeom prst="rect">
            <a:avLst/>
          </a:prstGeom>
        </p:spPr>
      </p:pic>
      <p:sp>
        <p:nvSpPr>
          <p:cNvPr id="11" name="Shape 3">
            <a:extLst>
              <a:ext uri="{FF2B5EF4-FFF2-40B4-BE49-F238E27FC236}">
                <a16:creationId xmlns:a16="http://schemas.microsoft.com/office/drawing/2014/main" id="{6E0A3AD4-5E4A-307B-B2BC-9F2861FB3B82}"/>
              </a:ext>
            </a:extLst>
          </p:cNvPr>
          <p:cNvSpPr/>
          <p:nvPr/>
        </p:nvSpPr>
        <p:spPr>
          <a:xfrm>
            <a:off x="6877917" y="5149054"/>
            <a:ext cx="566928" cy="566928"/>
          </a:xfrm>
          <a:prstGeom prst="ellipse">
            <a:avLst/>
          </a:prstGeom>
          <a:solidFill>
            <a:srgbClr val="C9A227"/>
          </a:solidFill>
          <a:ln/>
        </p:spPr>
        <p:txBody>
          <a:bodyPr/>
          <a:lstStyle/>
          <a:p>
            <a:endParaRPr lang="en-IN"/>
          </a:p>
        </p:txBody>
      </p:sp>
      <p:pic>
        <p:nvPicPr>
          <p:cNvPr id="14" name="Image 1" descr="/home/claude/bookverse/icons/database.png">
            <a:extLst>
              <a:ext uri="{FF2B5EF4-FFF2-40B4-BE49-F238E27FC236}">
                <a16:creationId xmlns:a16="http://schemas.microsoft.com/office/drawing/2014/main" id="{121FA99F-0EFC-FD03-AAFA-0E3C4AA82C16}"/>
              </a:ext>
            </a:extLst>
          </p:cNvPr>
          <p:cNvPicPr>
            <a:picLocks noChangeAspect="1"/>
          </p:cNvPicPr>
          <p:nvPr/>
        </p:nvPicPr>
        <p:blipFill>
          <a:blip r:embed="rId7"/>
          <a:stretch>
            <a:fillRect/>
          </a:stretch>
        </p:blipFill>
        <p:spPr>
          <a:xfrm>
            <a:off x="6968625" y="5239762"/>
            <a:ext cx="385511" cy="385511"/>
          </a:xfrm>
          <a:prstGeom prst="rect">
            <a:avLst/>
          </a:prstGeom>
        </p:spPr>
      </p:pic>
      <p:sp>
        <p:nvSpPr>
          <p:cNvPr id="15" name="Shape 4">
            <a:extLst>
              <a:ext uri="{FF2B5EF4-FFF2-40B4-BE49-F238E27FC236}">
                <a16:creationId xmlns:a16="http://schemas.microsoft.com/office/drawing/2014/main" id="{3C75E697-596F-22CC-BC6D-0F04D43E2F71}"/>
              </a:ext>
            </a:extLst>
          </p:cNvPr>
          <p:cNvSpPr/>
          <p:nvPr/>
        </p:nvSpPr>
        <p:spPr>
          <a:xfrm>
            <a:off x="8212390" y="5153621"/>
            <a:ext cx="566928" cy="566928"/>
          </a:xfrm>
          <a:prstGeom prst="ellipse">
            <a:avLst/>
          </a:prstGeom>
          <a:solidFill>
            <a:srgbClr val="C9A227"/>
          </a:solidFill>
          <a:ln/>
        </p:spPr>
        <p:txBody>
          <a:bodyPr/>
          <a:lstStyle/>
          <a:p>
            <a:endParaRPr lang="en-IN"/>
          </a:p>
        </p:txBody>
      </p:sp>
      <p:pic>
        <p:nvPicPr>
          <p:cNvPr id="16" name="Image 2" descr="/home/claude/bookverse/icons/sales.png">
            <a:extLst>
              <a:ext uri="{FF2B5EF4-FFF2-40B4-BE49-F238E27FC236}">
                <a16:creationId xmlns:a16="http://schemas.microsoft.com/office/drawing/2014/main" id="{A67F9570-91BE-1400-5BCF-AB8FED1E7B83}"/>
              </a:ext>
            </a:extLst>
          </p:cNvPr>
          <p:cNvPicPr>
            <a:picLocks noChangeAspect="1"/>
          </p:cNvPicPr>
          <p:nvPr/>
        </p:nvPicPr>
        <p:blipFill>
          <a:blip r:embed="rId8"/>
          <a:stretch>
            <a:fillRect/>
          </a:stretch>
        </p:blipFill>
        <p:spPr>
          <a:xfrm>
            <a:off x="8303098" y="5244329"/>
            <a:ext cx="385511" cy="38551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9" name="Rectangle 8">
            <a:extLst>
              <a:ext uri="{FF2B5EF4-FFF2-40B4-BE49-F238E27FC236}">
                <a16:creationId xmlns:a16="http://schemas.microsoft.com/office/drawing/2014/main" id="{D34F70BA-1D47-40C0-352D-A66DCB937FDC}"/>
              </a:ext>
            </a:extLst>
          </p:cNvPr>
          <p:cNvSpPr/>
          <p:nvPr/>
        </p:nvSpPr>
        <p:spPr>
          <a:xfrm>
            <a:off x="8778240" y="5965371"/>
            <a:ext cx="3413760" cy="8926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A37C2CF2-E76C-5D11-E32E-AA2D63675EB0}"/>
              </a:ext>
            </a:extLst>
          </p:cNvPr>
          <p:cNvSpPr/>
          <p:nvPr/>
        </p:nvSpPr>
        <p:spPr>
          <a:xfrm>
            <a:off x="1060268" y="1175901"/>
            <a:ext cx="10071463" cy="4896159"/>
          </a:xfrm>
          <a:prstGeom prst="roundRect">
            <a:avLst>
              <a:gd name="adj" fmla="val 3150"/>
            </a:avLst>
          </a:prstGeom>
          <a:solidFill>
            <a:srgbClr val="E7EAF2"/>
          </a:solidFill>
          <a:ln w="19050">
            <a:solidFill>
              <a:srgbClr val="E8D48A"/>
            </a:solidFill>
            <a:prstDash val="dash"/>
          </a:ln>
          <a:effectLst>
            <a:outerShdw blurRad="76200" dir="13500000" sy="23000" kx="1200000" algn="br"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solidFill>
                <a:schemeClr val="tx2"/>
              </a:solidFill>
            </a:endParaRPr>
          </a:p>
        </p:txBody>
      </p:sp>
      <p:sp>
        <p:nvSpPr>
          <p:cNvPr id="105" name="Google Shape;105;p3"/>
          <p:cNvSpPr txBox="1"/>
          <p:nvPr/>
        </p:nvSpPr>
        <p:spPr>
          <a:xfrm>
            <a:off x="2866056" y="416554"/>
            <a:ext cx="6099463" cy="495905"/>
          </a:xfrm>
          <a:prstGeom prst="rect">
            <a:avLst/>
          </a:prstGeom>
          <a:noFill/>
          <a:ln>
            <a:noFill/>
          </a:ln>
        </p:spPr>
        <p:txBody>
          <a:bodyPr spcFirstLastPara="1" wrap="square" lIns="91425" tIns="45700" rIns="91425" bIns="45700" anchor="t" anchorCtr="0">
            <a:spAutoFit/>
          </a:bodyPr>
          <a:lstStyle/>
          <a:p>
            <a:pPr marL="0" marR="0" lvl="0" indent="0" algn="ctr" rtl="0">
              <a:lnSpc>
                <a:spcPct val="80000"/>
              </a:lnSpc>
              <a:spcBef>
                <a:spcPts val="0"/>
              </a:spcBef>
              <a:spcAft>
                <a:spcPts val="0"/>
              </a:spcAft>
              <a:buClr>
                <a:srgbClr val="FF0000"/>
              </a:buClr>
              <a:buSzPts val="3200"/>
              <a:buFont typeface="Lato Black"/>
              <a:buNone/>
            </a:pPr>
            <a:r>
              <a:rPr lang="en-IN" sz="3200" b="1" i="0" u="none" strike="noStrike" cap="none" dirty="0">
                <a:solidFill>
                  <a:srgbClr val="1B2A4A"/>
                </a:solidFill>
                <a:latin typeface="Cambria" panose="02040503050406030204" pitchFamily="18" charset="0"/>
                <a:ea typeface="Cambria" panose="02040503050406030204" pitchFamily="18" charset="0"/>
                <a:cs typeface="Lato Black"/>
                <a:sym typeface="Lato Black"/>
              </a:rPr>
              <a:t>About me</a:t>
            </a:r>
            <a:endParaRPr sz="1800" b="1" i="0" u="none" strike="noStrike" cap="none" dirty="0">
              <a:solidFill>
                <a:srgbClr val="1B2A4A"/>
              </a:solidFill>
              <a:latin typeface="Cambria" panose="02040503050406030204" pitchFamily="18" charset="0"/>
              <a:ea typeface="Cambria" panose="02040503050406030204" pitchFamily="18" charset="0"/>
              <a:cs typeface="Calibri"/>
              <a:sym typeface="Calibri"/>
            </a:endParaRPr>
          </a:p>
        </p:txBody>
      </p:sp>
      <p:sp>
        <p:nvSpPr>
          <p:cNvPr id="6" name="TextBox 5">
            <a:extLst>
              <a:ext uri="{FF2B5EF4-FFF2-40B4-BE49-F238E27FC236}">
                <a16:creationId xmlns:a16="http://schemas.microsoft.com/office/drawing/2014/main" id="{9FA72213-6EED-D06D-0792-3E6495305319}"/>
              </a:ext>
            </a:extLst>
          </p:cNvPr>
          <p:cNvSpPr txBox="1"/>
          <p:nvPr/>
        </p:nvSpPr>
        <p:spPr>
          <a:xfrm>
            <a:off x="1700020" y="1534232"/>
            <a:ext cx="8577943" cy="861774"/>
          </a:xfrm>
          <a:prstGeom prst="rect">
            <a:avLst/>
          </a:prstGeom>
          <a:noFill/>
        </p:spPr>
        <p:txBody>
          <a:bodyPr wrap="square" rtlCol="0">
            <a:spAutoFit/>
          </a:bodyPr>
          <a:lstStyle/>
          <a:p>
            <a:pPr algn="just"/>
            <a:r>
              <a:rPr lang="en-US" b="1" dirty="0">
                <a:solidFill>
                  <a:schemeClr val="accent1">
                    <a:lumMod val="75000"/>
                  </a:schemeClr>
                </a:solidFill>
                <a:latin typeface="Cambria" panose="02040503050406030204" pitchFamily="18" charset="0"/>
                <a:ea typeface="Cambria" panose="02040503050406030204" pitchFamily="18" charset="0"/>
              </a:rPr>
              <a:t>Education</a:t>
            </a:r>
            <a:r>
              <a:rPr lang="en-US" dirty="0">
                <a:solidFill>
                  <a:schemeClr val="accent1">
                    <a:lumMod val="75000"/>
                  </a:schemeClr>
                </a:solidFill>
              </a:rPr>
              <a:t> </a:t>
            </a:r>
          </a:p>
          <a:p>
            <a:pPr marL="285750" indent="-285750" algn="just">
              <a:buFont typeface="Wingdings" panose="05000000000000000000" pitchFamily="2" charset="2"/>
              <a:buChar char="Ø"/>
            </a:pPr>
            <a:r>
              <a:rPr lang="en-US" sz="1600" dirty="0"/>
              <a:t>B.A. (Economics) (Completed in 2024) from SRTMU, Nanded(MH)</a:t>
            </a:r>
          </a:p>
          <a:p>
            <a:pPr marL="285750" indent="-285750" algn="just">
              <a:buFont typeface="Wingdings" panose="05000000000000000000" pitchFamily="2" charset="2"/>
              <a:buChar char="Ø"/>
            </a:pPr>
            <a:r>
              <a:rPr lang="en-US" sz="1600" dirty="0"/>
              <a:t>P.G.D.M (Marketing) (Pursuing) from MIT-SDE, Pune(MH)</a:t>
            </a:r>
            <a:endParaRPr lang="en-IN" sz="1600" dirty="0"/>
          </a:p>
        </p:txBody>
      </p:sp>
      <p:sp>
        <p:nvSpPr>
          <p:cNvPr id="7" name="TextBox 6">
            <a:extLst>
              <a:ext uri="{FF2B5EF4-FFF2-40B4-BE49-F238E27FC236}">
                <a16:creationId xmlns:a16="http://schemas.microsoft.com/office/drawing/2014/main" id="{28D8A3E6-FBCC-F159-9DA5-D47F359EA2CE}"/>
              </a:ext>
            </a:extLst>
          </p:cNvPr>
          <p:cNvSpPr txBox="1"/>
          <p:nvPr/>
        </p:nvSpPr>
        <p:spPr>
          <a:xfrm>
            <a:off x="1700020" y="2971641"/>
            <a:ext cx="9177671" cy="1107996"/>
          </a:xfrm>
          <a:prstGeom prst="rect">
            <a:avLst/>
          </a:prstGeom>
          <a:noFill/>
        </p:spPr>
        <p:txBody>
          <a:bodyPr wrap="square" rtlCol="0">
            <a:spAutoFit/>
          </a:bodyPr>
          <a:lstStyle/>
          <a:p>
            <a:r>
              <a:rPr lang="en-US" b="1" dirty="0">
                <a:solidFill>
                  <a:schemeClr val="accent1">
                    <a:lumMod val="75000"/>
                  </a:schemeClr>
                </a:solidFill>
                <a:latin typeface="Cambria" panose="02040503050406030204" pitchFamily="18" charset="0"/>
                <a:ea typeface="Cambria" panose="02040503050406030204" pitchFamily="18" charset="0"/>
              </a:rPr>
              <a:t>Why Data Analysis?</a:t>
            </a:r>
          </a:p>
          <a:p>
            <a:pPr algn="just"/>
            <a:r>
              <a:rPr lang="en-US" sz="1600" dirty="0"/>
              <a:t>Coming from an Economics background, I developed a strong interest in working with data, identifying trends, and solving business problems through analysis. To build my technical skills and transition into the analytics field </a:t>
            </a:r>
            <a:endParaRPr lang="en-IN" sz="1600" b="1" dirty="0">
              <a:solidFill>
                <a:schemeClr val="accent6">
                  <a:lumMod val="75000"/>
                </a:schemeClr>
              </a:solidFill>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A17FB05D-ADFE-C1DA-9530-24AA0D38D6F4}"/>
              </a:ext>
            </a:extLst>
          </p:cNvPr>
          <p:cNvPicPr>
            <a:picLocks noChangeAspect="1"/>
          </p:cNvPicPr>
          <p:nvPr/>
        </p:nvPicPr>
        <p:blipFill>
          <a:blip r:embed="rId3"/>
          <a:stretch>
            <a:fillRect/>
          </a:stretch>
        </p:blipFill>
        <p:spPr>
          <a:xfrm>
            <a:off x="1801842" y="4920304"/>
            <a:ext cx="394578" cy="400110"/>
          </a:xfrm>
          <a:prstGeom prst="rect">
            <a:avLst/>
          </a:prstGeom>
        </p:spPr>
      </p:pic>
      <p:sp>
        <p:nvSpPr>
          <p:cNvPr id="2" name="TextBox 1">
            <a:extLst>
              <a:ext uri="{FF2B5EF4-FFF2-40B4-BE49-F238E27FC236}">
                <a16:creationId xmlns:a16="http://schemas.microsoft.com/office/drawing/2014/main" id="{6D9DA1BC-5C5F-5D79-B5ED-AA4319AEF9A6}"/>
              </a:ext>
            </a:extLst>
          </p:cNvPr>
          <p:cNvSpPr txBox="1"/>
          <p:nvPr/>
        </p:nvSpPr>
        <p:spPr>
          <a:xfrm rot="10800000" flipH="1" flipV="1">
            <a:off x="2196421" y="4871484"/>
            <a:ext cx="1339269" cy="400110"/>
          </a:xfrm>
          <a:prstGeom prst="rect">
            <a:avLst/>
          </a:prstGeom>
          <a:noFill/>
        </p:spPr>
        <p:txBody>
          <a:bodyPr wrap="square" rtlCol="0">
            <a:spAutoFit/>
          </a:bodyPr>
          <a:lstStyle/>
          <a:p>
            <a:r>
              <a:rPr lang="en-IN" sz="2000" dirty="0">
                <a:solidFill>
                  <a:srgbClr val="0563C1"/>
                </a:solidFill>
                <a:hlinkClick r:id="rId4">
                  <a:extLst>
                    <a:ext uri="{A12FA001-AC4F-418D-AE19-62706E023703}">
                      <ahyp:hlinkClr xmlns:ahyp="http://schemas.microsoft.com/office/drawing/2018/hyperlinkcolor" val="tx"/>
                    </a:ext>
                  </a:extLst>
                </a:hlinkClick>
              </a:rPr>
              <a:t>LinkedIn</a:t>
            </a:r>
            <a:endParaRPr lang="en-IN" sz="2000" dirty="0">
              <a:solidFill>
                <a:srgbClr val="0563C1"/>
              </a:solidFill>
            </a:endParaRPr>
          </a:p>
        </p:txBody>
      </p:sp>
      <p:sp>
        <p:nvSpPr>
          <p:cNvPr id="8" name="TextBox 7">
            <a:extLst>
              <a:ext uri="{FF2B5EF4-FFF2-40B4-BE49-F238E27FC236}">
                <a16:creationId xmlns:a16="http://schemas.microsoft.com/office/drawing/2014/main" id="{BB7560D7-F251-A0FE-07E3-0BBB6331CCC5}"/>
              </a:ext>
            </a:extLst>
          </p:cNvPr>
          <p:cNvSpPr txBox="1"/>
          <p:nvPr/>
        </p:nvSpPr>
        <p:spPr>
          <a:xfrm>
            <a:off x="1693445" y="4555097"/>
            <a:ext cx="2072640" cy="369332"/>
          </a:xfrm>
          <a:prstGeom prst="rect">
            <a:avLst/>
          </a:prstGeom>
          <a:noFill/>
        </p:spPr>
        <p:txBody>
          <a:bodyPr wrap="square" rtlCol="0">
            <a:spAutoFit/>
          </a:bodyPr>
          <a:lstStyle/>
          <a:p>
            <a:r>
              <a:rPr lang="en-US" b="1" dirty="0">
                <a:solidFill>
                  <a:schemeClr val="accent1">
                    <a:lumMod val="75000"/>
                  </a:schemeClr>
                </a:solidFill>
                <a:latin typeface="Cambria" panose="02040503050406030204" pitchFamily="18" charset="0"/>
                <a:ea typeface="Cambria" panose="02040503050406030204" pitchFamily="18" charset="0"/>
              </a:rPr>
              <a:t>Contact</a:t>
            </a:r>
            <a:r>
              <a:rPr lang="en-US" b="1" dirty="0">
                <a:solidFill>
                  <a:schemeClr val="accent6">
                    <a:lumMod val="75000"/>
                  </a:schemeClr>
                </a:solidFill>
                <a:latin typeface="Cambria" panose="02040503050406030204" pitchFamily="18" charset="0"/>
                <a:ea typeface="Cambria" panose="02040503050406030204" pitchFamily="18" charset="0"/>
              </a:rPr>
              <a:t> </a:t>
            </a:r>
            <a:endParaRPr lang="en-IN" b="1" dirty="0">
              <a:solidFill>
                <a:schemeClr val="accent6">
                  <a:lumMod val="75000"/>
                </a:schemeClr>
              </a:solidFill>
              <a:latin typeface="Cambria" panose="02040503050406030204" pitchFamily="18" charset="0"/>
              <a:ea typeface="Cambria" panose="02040503050406030204" pitchFamily="18" charset="0"/>
            </a:endParaRPr>
          </a:p>
        </p:txBody>
      </p:sp>
      <p:pic>
        <p:nvPicPr>
          <p:cNvPr id="10" name="Graphic 9" descr="Receiver">
            <a:extLst>
              <a:ext uri="{FF2B5EF4-FFF2-40B4-BE49-F238E27FC236}">
                <a16:creationId xmlns:a16="http://schemas.microsoft.com/office/drawing/2014/main" id="{BB161BC3-D419-5C43-7A88-D2AFBE58F9E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716134">
            <a:off x="4626750" y="4862528"/>
            <a:ext cx="418022" cy="418022"/>
          </a:xfrm>
          <a:prstGeom prst="rect">
            <a:avLst/>
          </a:prstGeom>
        </p:spPr>
      </p:pic>
      <p:sp>
        <p:nvSpPr>
          <p:cNvPr id="11" name="TextBox 10">
            <a:extLst>
              <a:ext uri="{FF2B5EF4-FFF2-40B4-BE49-F238E27FC236}">
                <a16:creationId xmlns:a16="http://schemas.microsoft.com/office/drawing/2014/main" id="{3322B272-4184-CC57-A8A2-10EFBA02A478}"/>
              </a:ext>
            </a:extLst>
          </p:cNvPr>
          <p:cNvSpPr txBox="1"/>
          <p:nvPr/>
        </p:nvSpPr>
        <p:spPr>
          <a:xfrm>
            <a:off x="5076399" y="4862737"/>
            <a:ext cx="2743200" cy="369332"/>
          </a:xfrm>
          <a:prstGeom prst="rect">
            <a:avLst/>
          </a:prstGeom>
          <a:noFill/>
        </p:spPr>
        <p:txBody>
          <a:bodyPr wrap="square" rtlCol="0">
            <a:spAutoFit/>
          </a:bodyPr>
          <a:lstStyle/>
          <a:p>
            <a:r>
              <a:rPr lang="en-US" u="sng" dirty="0">
                <a:solidFill>
                  <a:srgbClr val="0563C1"/>
                </a:solidFill>
              </a:rPr>
              <a:t>+91 90218 71581</a:t>
            </a:r>
            <a:endParaRPr lang="en-IN" u="sng" dirty="0">
              <a:solidFill>
                <a:srgbClr val="0563C1"/>
              </a:solidFill>
            </a:endParaRPr>
          </a:p>
        </p:txBody>
      </p:sp>
      <p:sp>
        <p:nvSpPr>
          <p:cNvPr id="3" name="TextBox 2">
            <a:extLst>
              <a:ext uri="{FF2B5EF4-FFF2-40B4-BE49-F238E27FC236}">
                <a16:creationId xmlns:a16="http://schemas.microsoft.com/office/drawing/2014/main" id="{2D240169-A81E-078F-9C4E-8A7EBF6FEAE2}"/>
              </a:ext>
            </a:extLst>
          </p:cNvPr>
          <p:cNvSpPr txBox="1"/>
          <p:nvPr/>
        </p:nvSpPr>
        <p:spPr>
          <a:xfrm>
            <a:off x="8302935" y="4954436"/>
            <a:ext cx="1924594" cy="369332"/>
          </a:xfrm>
          <a:prstGeom prst="rect">
            <a:avLst/>
          </a:prstGeom>
          <a:noFill/>
        </p:spPr>
        <p:txBody>
          <a:bodyPr wrap="square" rtlCol="0">
            <a:spAutoFit/>
          </a:bodyPr>
          <a:lstStyle/>
          <a:p>
            <a:r>
              <a:rPr lang="en-IN" dirty="0">
                <a:hlinkClick r:id="rId7"/>
              </a:rPr>
              <a:t>GitHub</a:t>
            </a:r>
            <a:endParaRPr lang="en-IN" dirty="0"/>
          </a:p>
        </p:txBody>
      </p:sp>
      <p:pic>
        <p:nvPicPr>
          <p:cNvPr id="12" name="Picture 11">
            <a:extLst>
              <a:ext uri="{FF2B5EF4-FFF2-40B4-BE49-F238E27FC236}">
                <a16:creationId xmlns:a16="http://schemas.microsoft.com/office/drawing/2014/main" id="{3A82ED54-1FCD-01F9-3320-FBCD291FE781}"/>
              </a:ext>
            </a:extLst>
          </p:cNvPr>
          <p:cNvPicPr>
            <a:picLocks noChangeAspect="1"/>
          </p:cNvPicPr>
          <p:nvPr/>
        </p:nvPicPr>
        <p:blipFill>
          <a:blip r:embed="rId8"/>
          <a:stretch>
            <a:fillRect/>
          </a:stretch>
        </p:blipFill>
        <p:spPr>
          <a:xfrm>
            <a:off x="7819599" y="4920304"/>
            <a:ext cx="423988" cy="434788"/>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0728F6-A695-8905-19C0-A11485671C2D}"/>
              </a:ext>
            </a:extLst>
          </p:cNvPr>
          <p:cNvSpPr txBox="1"/>
          <p:nvPr/>
        </p:nvSpPr>
        <p:spPr>
          <a:xfrm>
            <a:off x="557348" y="315378"/>
            <a:ext cx="7628709" cy="584775"/>
          </a:xfrm>
          <a:prstGeom prst="rect">
            <a:avLst/>
          </a:prstGeom>
          <a:noFill/>
        </p:spPr>
        <p:txBody>
          <a:bodyPr wrap="square" rtlCol="0">
            <a:spAutoFit/>
          </a:bodyPr>
          <a:lstStyle/>
          <a:p>
            <a:r>
              <a:rPr lang="en-US" sz="3200" b="1" dirty="0">
                <a:solidFill>
                  <a:srgbClr val="1B2A4A"/>
                </a:solidFill>
                <a:latin typeface="Cambria" panose="02040503050406030204" pitchFamily="18" charset="0"/>
                <a:ea typeface="Cambria" panose="02040503050406030204" pitchFamily="18" charset="0"/>
              </a:rPr>
              <a:t>Why did I choose this project???</a:t>
            </a:r>
            <a:endParaRPr lang="en-IN" sz="2900" b="1" dirty="0">
              <a:solidFill>
                <a:srgbClr val="1B2A4A"/>
              </a:solidFill>
              <a:latin typeface="Cambria" panose="02040503050406030204" pitchFamily="18" charset="0"/>
              <a:ea typeface="Cambria" panose="02040503050406030204" pitchFamily="18" charset="0"/>
            </a:endParaRPr>
          </a:p>
        </p:txBody>
      </p:sp>
      <p:sp>
        <p:nvSpPr>
          <p:cNvPr id="4" name="Rectangle: Rounded Corners 3">
            <a:extLst>
              <a:ext uri="{FF2B5EF4-FFF2-40B4-BE49-F238E27FC236}">
                <a16:creationId xmlns:a16="http://schemas.microsoft.com/office/drawing/2014/main" id="{4E8C6E7B-B252-9B45-468D-48058AE52B69}"/>
              </a:ext>
            </a:extLst>
          </p:cNvPr>
          <p:cNvSpPr/>
          <p:nvPr/>
        </p:nvSpPr>
        <p:spPr>
          <a:xfrm>
            <a:off x="714102" y="1419498"/>
            <a:ext cx="10633165" cy="3808386"/>
          </a:xfrm>
          <a:prstGeom prst="roundRect">
            <a:avLst>
              <a:gd name="adj" fmla="val 1748"/>
            </a:avLst>
          </a:prstGeom>
          <a:solidFill>
            <a:srgbClr val="E7EAF2"/>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39169D3B-D6CC-2CA0-0C78-A7565FE14E38}"/>
              </a:ext>
            </a:extLst>
          </p:cNvPr>
          <p:cNvSpPr txBox="1"/>
          <p:nvPr/>
        </p:nvSpPr>
        <p:spPr>
          <a:xfrm>
            <a:off x="801187" y="1811382"/>
            <a:ext cx="10345783" cy="2862322"/>
          </a:xfrm>
          <a:prstGeom prst="rect">
            <a:avLst/>
          </a:prstGeom>
          <a:noFill/>
        </p:spPr>
        <p:txBody>
          <a:bodyPr wrap="square" rtlCol="0">
            <a:spAutoFit/>
          </a:bodyPr>
          <a:lstStyle/>
          <a:p>
            <a:pPr marL="285750" indent="-285750" algn="just">
              <a:buFont typeface="Wingdings" panose="05000000000000000000" pitchFamily="2" charset="2"/>
              <a:buChar char="ü"/>
            </a:pPr>
            <a:r>
              <a:rPr lang="en-US" dirty="0"/>
              <a:t>I specifically chose this project because a bookstore gives me multiple dimensions to analyze at the same time - </a:t>
            </a:r>
            <a:r>
              <a:rPr lang="en-US" dirty="0">
                <a:solidFill>
                  <a:srgbClr val="1B2A4A"/>
                </a:solidFill>
                <a:latin typeface="Cambria" panose="02040503050406030204" pitchFamily="18" charset="0"/>
                <a:ea typeface="Cambria" panose="02040503050406030204" pitchFamily="18" charset="0"/>
              </a:rPr>
              <a:t>Sales</a:t>
            </a:r>
            <a:r>
              <a:rPr lang="en-US" dirty="0"/>
              <a:t>, </a:t>
            </a:r>
            <a:r>
              <a:rPr lang="en-US" dirty="0">
                <a:solidFill>
                  <a:srgbClr val="1B2A4A"/>
                </a:solidFill>
                <a:latin typeface="Cambria" panose="02040503050406030204" pitchFamily="18" charset="0"/>
                <a:ea typeface="Cambria" panose="02040503050406030204" pitchFamily="18" charset="0"/>
              </a:rPr>
              <a:t>Customers</a:t>
            </a:r>
            <a:r>
              <a:rPr lang="en-US" dirty="0"/>
              <a:t>, </a:t>
            </a:r>
            <a:r>
              <a:rPr lang="en-US" dirty="0">
                <a:solidFill>
                  <a:srgbClr val="1B2A4A"/>
                </a:solidFill>
                <a:latin typeface="Cambria" panose="02040503050406030204" pitchFamily="18" charset="0"/>
                <a:ea typeface="Cambria" panose="02040503050406030204" pitchFamily="18" charset="0"/>
              </a:rPr>
              <a:t>Products</a:t>
            </a:r>
            <a:r>
              <a:rPr lang="en-US" dirty="0"/>
              <a:t>, </a:t>
            </a:r>
            <a:r>
              <a:rPr lang="en-US" dirty="0">
                <a:solidFill>
                  <a:srgbClr val="1B2A4A"/>
                </a:solidFill>
                <a:latin typeface="Cambria" panose="02040503050406030204" pitchFamily="18" charset="0"/>
                <a:ea typeface="Cambria" panose="02040503050406030204" pitchFamily="18" charset="0"/>
              </a:rPr>
              <a:t>Orders</a:t>
            </a:r>
            <a:r>
              <a:rPr lang="en-US" dirty="0"/>
              <a:t> and </a:t>
            </a:r>
            <a:r>
              <a:rPr lang="en-US" dirty="0">
                <a:solidFill>
                  <a:srgbClr val="1B2A4A"/>
                </a:solidFill>
                <a:latin typeface="Cambria" panose="02040503050406030204" pitchFamily="18" charset="0"/>
                <a:ea typeface="Cambria" panose="02040503050406030204" pitchFamily="18" charset="0"/>
              </a:rPr>
              <a:t>Inventory</a:t>
            </a:r>
            <a:r>
              <a:rPr lang="en-US" dirty="0"/>
              <a:t>. So instead of looking at only sales numbers, I could use SQL to connect different business areas and understand how they relate to each other.</a:t>
            </a:r>
          </a:p>
          <a:p>
            <a:pPr marL="285750" indent="-285750" algn="just">
              <a:buFont typeface="Wingdings" panose="05000000000000000000" pitchFamily="2" charset="2"/>
              <a:buChar char="ü"/>
            </a:pPr>
            <a:endParaRPr lang="en-US" dirty="0"/>
          </a:p>
          <a:p>
            <a:pPr marL="285750" indent="-285750" algn="just">
              <a:buFont typeface="Wingdings" panose="05000000000000000000" pitchFamily="2" charset="2"/>
              <a:buChar char="ü"/>
            </a:pPr>
            <a:r>
              <a:rPr lang="en-US" dirty="0">
                <a:solidFill>
                  <a:srgbClr val="1B2A4A"/>
                </a:solidFill>
                <a:latin typeface="Cambria" panose="02040503050406030204" pitchFamily="18" charset="0"/>
                <a:ea typeface="Cambria" panose="02040503050406030204" pitchFamily="18" charset="0"/>
              </a:rPr>
              <a:t>For example</a:t>
            </a:r>
            <a:r>
              <a:rPr lang="en-US" dirty="0"/>
              <a:t>, I can identify which books and genres generate revenue, which customers are more engaged, which books have high stock but low sales, and where sales demand and inventory don't match.</a:t>
            </a:r>
          </a:p>
          <a:p>
            <a:pPr marL="285750" indent="-285750" algn="just">
              <a:buFont typeface="Wingdings" panose="05000000000000000000" pitchFamily="2" charset="2"/>
              <a:buChar char="ü"/>
            </a:pPr>
            <a:endParaRPr lang="en-US" dirty="0"/>
          </a:p>
          <a:p>
            <a:pPr marL="285750" indent="-285750" algn="just">
              <a:buFont typeface="Wingdings" panose="05000000000000000000" pitchFamily="2" charset="2"/>
              <a:buChar char="ü"/>
            </a:pPr>
            <a:r>
              <a:rPr lang="en-US" dirty="0"/>
              <a:t>So I chose BookVerse because it gave me an opportunity to demonstrate the complete data-analysis process - starting from a relational database, validating the data, writing SQL queries, performing analysis, and finally converting the results into business insights and recommendations.</a:t>
            </a:r>
          </a:p>
        </p:txBody>
      </p:sp>
      <p:sp>
        <p:nvSpPr>
          <p:cNvPr id="7" name="TextBox 6">
            <a:extLst>
              <a:ext uri="{FF2B5EF4-FFF2-40B4-BE49-F238E27FC236}">
                <a16:creationId xmlns:a16="http://schemas.microsoft.com/office/drawing/2014/main" id="{49BC325A-2AAA-2926-C600-5EFD1B645A62}"/>
              </a:ext>
            </a:extLst>
          </p:cNvPr>
          <p:cNvSpPr txBox="1"/>
          <p:nvPr/>
        </p:nvSpPr>
        <p:spPr>
          <a:xfrm>
            <a:off x="1393371" y="5588162"/>
            <a:ext cx="9222378" cy="553998"/>
          </a:xfrm>
          <a:prstGeom prst="rect">
            <a:avLst/>
          </a:prstGeom>
          <a:noFill/>
        </p:spPr>
        <p:txBody>
          <a:bodyPr wrap="square" rtlCol="0">
            <a:spAutoFit/>
          </a:bodyPr>
          <a:lstStyle/>
          <a:p>
            <a:pPr algn="ctr"/>
            <a:r>
              <a:rPr lang="en-US" sz="1500" dirty="0">
                <a:solidFill>
                  <a:schemeClr val="bg1">
                    <a:lumMod val="75000"/>
                  </a:schemeClr>
                </a:solidFill>
              </a:rPr>
              <a:t>* I chose BookVerse because it gave me multiple interconnected business areas → which required relational data → which allowed me to demonstrate SQL → which ultimately helped convert data into business insights.</a:t>
            </a:r>
            <a:endParaRPr lang="en-IN" sz="1500" dirty="0">
              <a:solidFill>
                <a:schemeClr val="bg1">
                  <a:lumMod val="75000"/>
                </a:schemeClr>
              </a:solidFill>
            </a:endParaRPr>
          </a:p>
        </p:txBody>
      </p:sp>
    </p:spTree>
    <p:extLst>
      <p:ext uri="{BB962C8B-B14F-4D97-AF65-F5344CB8AC3E}">
        <p14:creationId xmlns:p14="http://schemas.microsoft.com/office/powerpoint/2010/main" val="35834513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wipe(up)">
                                      <p:cBhvr>
                                        <p:cTn id="19" dur="500"/>
                                        <p:tgtEl>
                                          <p:spTgt spid="6">
                                            <p:txEl>
                                              <p:pRg st="0" end="0"/>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up)">
                                      <p:cBhvr>
                                        <p:cTn id="22" dur="500"/>
                                        <p:tgtEl>
                                          <p:spTgt spid="6">
                                            <p:txEl>
                                              <p:pRg st="2" end="2"/>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wipe(up)">
                                      <p:cBhvr>
                                        <p:cTn id="25" dur="500"/>
                                        <p:tgtEl>
                                          <p:spTgt spid="6">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build="allAtOnce"/>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BUSINESS UNDERSTANDING</a:t>
            </a:r>
            <a:endParaRPr lang="en-US" sz="1200" dirty="0"/>
          </a:p>
        </p:txBody>
      </p:sp>
      <p:sp>
        <p:nvSpPr>
          <p:cNvPr id="3" name="Text 1"/>
          <p:cNvSpPr txBox="1"/>
          <p:nvPr/>
        </p:nvSpPr>
        <p:spPr>
          <a:xfrm>
            <a:off x="457200" y="621792"/>
            <a:ext cx="11277295" cy="548640"/>
          </a:xfrm>
          <a:prstGeom prst="rect">
            <a:avLst/>
          </a:prstGeom>
          <a:noFill/>
          <a:ln/>
        </p:spPr>
        <p:txBody>
          <a:bodyPr wrap="square" rtlCol="0" anchor="ctr"/>
          <a:lstStyle/>
          <a:p>
            <a:pPr marL="0" indent="0">
              <a:buNone/>
            </a:pPr>
            <a:r>
              <a:rPr lang="en-US" sz="2900" b="1" dirty="0">
                <a:solidFill>
                  <a:srgbClr val="1B2A4A"/>
                </a:solidFill>
                <a:latin typeface="Cambria" pitchFamily="34" charset="0"/>
                <a:ea typeface="Cambria" pitchFamily="34" charset="-122"/>
                <a:cs typeface="Cambria" pitchFamily="34" charset="-120"/>
              </a:rPr>
              <a:t>Understanding the </a:t>
            </a:r>
            <a:r>
              <a:rPr lang="en-US" sz="2900" b="1" dirty="0">
                <a:solidFill>
                  <a:srgbClr val="D6A300"/>
                </a:solidFill>
                <a:latin typeface="Cambria" pitchFamily="34" charset="0"/>
                <a:ea typeface="Cambria" pitchFamily="34" charset="-122"/>
                <a:cs typeface="Cambria" pitchFamily="34" charset="-120"/>
              </a:rPr>
              <a:t>BookVerse</a:t>
            </a:r>
            <a:r>
              <a:rPr lang="en-US" sz="2900" b="1" dirty="0">
                <a:solidFill>
                  <a:srgbClr val="1B2A4A"/>
                </a:solidFill>
                <a:latin typeface="Cambria" pitchFamily="34" charset="0"/>
                <a:ea typeface="Cambria" pitchFamily="34" charset="-122"/>
                <a:cs typeface="Cambria" pitchFamily="34" charset="-120"/>
              </a:rPr>
              <a:t> Business</a:t>
            </a:r>
            <a:endParaRPr lang="en-US" sz="2900" dirty="0"/>
          </a:p>
        </p:txBody>
      </p:sp>
      <p:sp>
        <p:nvSpPr>
          <p:cNvPr id="4" name="Text 2"/>
          <p:cNvSpPr txBox="1"/>
          <p:nvPr/>
        </p:nvSpPr>
        <p:spPr>
          <a:xfrm>
            <a:off x="457200" y="1371600"/>
            <a:ext cx="11277295" cy="1371600"/>
          </a:xfrm>
          <a:prstGeom prst="rect">
            <a:avLst/>
          </a:prstGeom>
          <a:noFill/>
          <a:ln/>
        </p:spPr>
        <p:txBody>
          <a:bodyPr wrap="square" rtlCol="0" anchor="t"/>
          <a:lstStyle/>
          <a:p>
            <a:pPr marL="177800" indent="-177800" algn="just">
              <a:lnSpc>
                <a:spcPct val="115000"/>
              </a:lnSpc>
              <a:spcAft>
                <a:spcPts val="1000"/>
              </a:spcAft>
              <a:buSzPct val="100000"/>
              <a:buChar char="•"/>
            </a:pPr>
            <a:r>
              <a:rPr lang="en-US" sz="1400" dirty="0">
                <a:solidFill>
                  <a:srgbClr val="1B2A4A"/>
                </a:solidFill>
                <a:latin typeface="Cambria" panose="02040503050406030204" pitchFamily="18" charset="0"/>
                <a:ea typeface="Cambria" panose="02040503050406030204" pitchFamily="18" charset="0"/>
                <a:cs typeface="Calibri" pitchFamily="34" charset="-120"/>
              </a:rPr>
              <a:t>BookVerse Retail </a:t>
            </a:r>
            <a:r>
              <a:rPr lang="en-US" sz="1400" dirty="0">
                <a:solidFill>
                  <a:srgbClr val="23262F"/>
                </a:solidFill>
                <a:latin typeface="Calibri" pitchFamily="34" charset="0"/>
                <a:ea typeface="Calibri" pitchFamily="34" charset="-122"/>
                <a:cs typeface="Calibri" pitchFamily="34" charset="-120"/>
              </a:rPr>
              <a:t>is a growing online and offline bookstore selling across genres such as </a:t>
            </a:r>
            <a:r>
              <a:rPr lang="en-US" sz="1400" dirty="0">
                <a:solidFill>
                  <a:srgbClr val="1B2A4A"/>
                </a:solidFill>
                <a:latin typeface="Cambria" panose="02040503050406030204" pitchFamily="18" charset="0"/>
                <a:ea typeface="Cambria" panose="02040503050406030204" pitchFamily="18" charset="0"/>
                <a:cs typeface="Calibri" pitchFamily="34" charset="-120"/>
              </a:rPr>
              <a:t>Fiction</a:t>
            </a:r>
            <a:r>
              <a:rPr lang="en-US" sz="1400" dirty="0">
                <a:solidFill>
                  <a:srgbClr val="23262F"/>
                </a:solidFill>
                <a:latin typeface="Calibri" pitchFamily="34" charset="0"/>
                <a:ea typeface="Calibri" pitchFamily="34" charset="-122"/>
                <a:cs typeface="Calibri" pitchFamily="34" charset="-120"/>
              </a:rPr>
              <a:t>, </a:t>
            </a:r>
            <a:r>
              <a:rPr lang="en-US" sz="1400" dirty="0">
                <a:solidFill>
                  <a:srgbClr val="1B2A4A"/>
                </a:solidFill>
                <a:latin typeface="Cambria" panose="02040503050406030204" pitchFamily="18" charset="0"/>
                <a:ea typeface="Cambria" panose="02040503050406030204" pitchFamily="18" charset="0"/>
                <a:cs typeface="Calibri" pitchFamily="34" charset="-120"/>
              </a:rPr>
              <a:t>Fantasy</a:t>
            </a:r>
            <a:r>
              <a:rPr lang="en-US" sz="1400" dirty="0">
                <a:solidFill>
                  <a:srgbClr val="23262F"/>
                </a:solidFill>
                <a:latin typeface="Calibri" pitchFamily="34" charset="0"/>
                <a:ea typeface="Calibri" pitchFamily="34" charset="-122"/>
                <a:cs typeface="Calibri" pitchFamily="34" charset="-120"/>
              </a:rPr>
              <a:t>, </a:t>
            </a:r>
            <a:r>
              <a:rPr lang="en-US" sz="1400" dirty="0">
                <a:solidFill>
                  <a:srgbClr val="1B2A4A"/>
                </a:solidFill>
                <a:latin typeface="Cambria" panose="02040503050406030204" pitchFamily="18" charset="0"/>
                <a:ea typeface="Cambria" panose="02040503050406030204" pitchFamily="18" charset="0"/>
                <a:cs typeface="Calibri" pitchFamily="34" charset="-120"/>
              </a:rPr>
              <a:t>Biography</a:t>
            </a:r>
            <a:r>
              <a:rPr lang="en-US" sz="1400" dirty="0">
                <a:solidFill>
                  <a:srgbClr val="23262F"/>
                </a:solidFill>
                <a:latin typeface="Calibri" pitchFamily="34" charset="0"/>
                <a:ea typeface="Calibri" pitchFamily="34" charset="-122"/>
                <a:cs typeface="Calibri" pitchFamily="34" charset="-120"/>
              </a:rPr>
              <a:t>, </a:t>
            </a:r>
            <a:r>
              <a:rPr lang="en-US" sz="1400" dirty="0">
                <a:solidFill>
                  <a:srgbClr val="1B2A4A"/>
                </a:solidFill>
                <a:latin typeface="Cambria" panose="02040503050406030204" pitchFamily="18" charset="0"/>
                <a:ea typeface="Cambria" panose="02040503050406030204" pitchFamily="18" charset="0"/>
                <a:cs typeface="Calibri" pitchFamily="34" charset="-120"/>
              </a:rPr>
              <a:t>Mystery</a:t>
            </a:r>
            <a:r>
              <a:rPr lang="en-US" sz="1400" dirty="0">
                <a:solidFill>
                  <a:srgbClr val="23262F"/>
                </a:solidFill>
                <a:latin typeface="Calibri" pitchFamily="34" charset="0"/>
                <a:ea typeface="Calibri" pitchFamily="34" charset="-122"/>
                <a:cs typeface="Calibri" pitchFamily="34" charset="-120"/>
              </a:rPr>
              <a:t>, </a:t>
            </a:r>
            <a:r>
              <a:rPr lang="en-US" sz="1400" dirty="0">
                <a:solidFill>
                  <a:srgbClr val="1B2A4A"/>
                </a:solidFill>
                <a:latin typeface="Cambria" panose="02040503050406030204" pitchFamily="18" charset="0"/>
                <a:ea typeface="Cambria" panose="02040503050406030204" pitchFamily="18" charset="0"/>
                <a:cs typeface="Calibri" pitchFamily="34" charset="-120"/>
              </a:rPr>
              <a:t>Romance</a:t>
            </a:r>
            <a:r>
              <a:rPr lang="en-US" sz="1400" dirty="0">
                <a:solidFill>
                  <a:srgbClr val="23262F"/>
                </a:solidFill>
                <a:latin typeface="Calibri" pitchFamily="34" charset="0"/>
                <a:ea typeface="Calibri" pitchFamily="34" charset="-122"/>
                <a:cs typeface="Calibri" pitchFamily="34" charset="-120"/>
              </a:rPr>
              <a:t>, </a:t>
            </a:r>
            <a:r>
              <a:rPr lang="en-US" sz="1400" dirty="0">
                <a:solidFill>
                  <a:srgbClr val="1B2A4A"/>
                </a:solidFill>
                <a:latin typeface="Cambria" panose="02040503050406030204" pitchFamily="18" charset="0"/>
                <a:ea typeface="Cambria" panose="02040503050406030204" pitchFamily="18" charset="0"/>
                <a:cs typeface="Calibri" pitchFamily="34" charset="-120"/>
              </a:rPr>
              <a:t>Science Fiction</a:t>
            </a:r>
            <a:r>
              <a:rPr lang="en-US" sz="1400" b="1" dirty="0">
                <a:solidFill>
                  <a:srgbClr val="23262F"/>
                </a:solidFill>
                <a:latin typeface="Calibri" pitchFamily="34" charset="0"/>
                <a:ea typeface="Calibri" pitchFamily="34" charset="-122"/>
                <a:cs typeface="Calibri" pitchFamily="34" charset="-120"/>
              </a:rPr>
              <a:t> </a:t>
            </a:r>
            <a:r>
              <a:rPr lang="en-US" sz="1400" dirty="0">
                <a:solidFill>
                  <a:srgbClr val="23262F"/>
                </a:solidFill>
                <a:latin typeface="Calibri" pitchFamily="34" charset="0"/>
                <a:ea typeface="Calibri" pitchFamily="34" charset="-122"/>
                <a:cs typeface="Calibri" pitchFamily="34" charset="-120"/>
              </a:rPr>
              <a:t>and </a:t>
            </a:r>
            <a:r>
              <a:rPr lang="en-US" sz="1400" dirty="0">
                <a:solidFill>
                  <a:srgbClr val="1B2A4A"/>
                </a:solidFill>
                <a:latin typeface="Cambria" panose="02040503050406030204" pitchFamily="18" charset="0"/>
                <a:ea typeface="Cambria" panose="02040503050406030204" pitchFamily="18" charset="0"/>
                <a:cs typeface="Calibri" pitchFamily="34" charset="-120"/>
              </a:rPr>
              <a:t>Non-Fiction</a:t>
            </a:r>
            <a:r>
              <a:rPr lang="en-US" sz="1400" dirty="0">
                <a:solidFill>
                  <a:srgbClr val="23262F"/>
                </a:solidFill>
                <a:latin typeface="Calibri" pitchFamily="34" charset="0"/>
                <a:ea typeface="Calibri" pitchFamily="34" charset="-122"/>
                <a:cs typeface="Calibri" pitchFamily="34" charset="-120"/>
              </a:rPr>
              <a:t>.</a:t>
            </a:r>
            <a:endParaRPr lang="en-US" sz="1400" dirty="0"/>
          </a:p>
          <a:p>
            <a:pPr marL="177800" indent="-177800" algn="just">
              <a:lnSpc>
                <a:spcPct val="115000"/>
              </a:lnSpc>
              <a:spcAft>
                <a:spcPts val="1000"/>
              </a:spcAft>
              <a:buSzPct val="100000"/>
              <a:buChar char="•"/>
            </a:pPr>
            <a:r>
              <a:rPr lang="en-US" sz="1400" dirty="0">
                <a:solidFill>
                  <a:srgbClr val="23262F"/>
                </a:solidFill>
                <a:latin typeface="Calibri" pitchFamily="34" charset="0"/>
                <a:ea typeface="Calibri" pitchFamily="34" charset="-122"/>
                <a:cs typeface="Calibri" pitchFamily="34" charset="-120"/>
              </a:rPr>
              <a:t>The business runs on three core operations: book catalog management, customer management, and order &amp; sales management.</a:t>
            </a:r>
            <a:endParaRPr lang="en-US" sz="1400" dirty="0"/>
          </a:p>
          <a:p>
            <a:pPr marL="177800" indent="-177800" algn="just">
              <a:lnSpc>
                <a:spcPct val="115000"/>
              </a:lnSpc>
              <a:spcAft>
                <a:spcPts val="1000"/>
              </a:spcAft>
              <a:buSzPct val="100000"/>
              <a:buChar char="•"/>
            </a:pPr>
            <a:r>
              <a:rPr lang="en-US" sz="1400" dirty="0">
                <a:solidFill>
                  <a:srgbClr val="23262F"/>
                </a:solidFill>
                <a:latin typeface="Calibri" pitchFamily="34" charset="0"/>
                <a:ea typeface="Calibri" pitchFamily="34" charset="-122"/>
                <a:cs typeface="Calibri" pitchFamily="34" charset="-120"/>
              </a:rPr>
              <a:t>To grow profitably, BookVerse needs a data-driven understanding of its sales, customers, product demand and inventory position.</a:t>
            </a:r>
            <a:endParaRPr lang="en-US" sz="1400" dirty="0"/>
          </a:p>
        </p:txBody>
      </p:sp>
      <p:sp>
        <p:nvSpPr>
          <p:cNvPr id="5" name="Text 3"/>
          <p:cNvSpPr txBox="1"/>
          <p:nvPr/>
        </p:nvSpPr>
        <p:spPr>
          <a:xfrm>
            <a:off x="457200" y="2788920"/>
            <a:ext cx="5486400" cy="274320"/>
          </a:xfrm>
          <a:prstGeom prst="rect">
            <a:avLst/>
          </a:prstGeom>
          <a:noFill/>
          <a:ln/>
        </p:spPr>
        <p:txBody>
          <a:bodyPr wrap="square" rtlCol="0" anchor="ctr"/>
          <a:lstStyle/>
          <a:p>
            <a:pPr marL="0" indent="0">
              <a:buNone/>
            </a:pPr>
            <a:r>
              <a:rPr lang="en-US" sz="1150" b="1" kern="0" spc="100" dirty="0">
                <a:solidFill>
                  <a:srgbClr val="1B2A4A"/>
                </a:solidFill>
                <a:latin typeface="Calibri" pitchFamily="34" charset="0"/>
                <a:ea typeface="Calibri" pitchFamily="34" charset="-122"/>
                <a:cs typeface="Calibri" pitchFamily="34" charset="-120"/>
              </a:rPr>
              <a:t>CORE BUSINESS OPERATIONS</a:t>
            </a:r>
            <a:endParaRPr lang="en-US" sz="1150" dirty="0"/>
          </a:p>
        </p:txBody>
      </p:sp>
      <p:sp>
        <p:nvSpPr>
          <p:cNvPr id="6" name="Shape 4"/>
          <p:cNvSpPr/>
          <p:nvPr/>
        </p:nvSpPr>
        <p:spPr>
          <a:xfrm>
            <a:off x="457200" y="3154680"/>
            <a:ext cx="3200400" cy="960120"/>
          </a:xfrm>
          <a:prstGeom prst="roundRect">
            <a:avLst>
              <a:gd name="adj" fmla="val 7619"/>
            </a:avLst>
          </a:prstGeom>
          <a:solidFill>
            <a:srgbClr val="F1F1F5"/>
          </a:solidFill>
          <a:ln/>
          <a:effectLst>
            <a:outerShdw blurRad="76200" dist="25400" dir="5400000" algn="bl" rotWithShape="0">
              <a:srgbClr val="1B2A4A">
                <a:alpha val="12000"/>
              </a:srgbClr>
            </a:outerShdw>
          </a:effectLst>
        </p:spPr>
        <p:txBody>
          <a:bodyPr/>
          <a:lstStyle/>
          <a:p>
            <a:endParaRPr lang="en-IN"/>
          </a:p>
        </p:txBody>
      </p:sp>
      <p:sp>
        <p:nvSpPr>
          <p:cNvPr id="7" name="Shape 5"/>
          <p:cNvSpPr/>
          <p:nvPr/>
        </p:nvSpPr>
        <p:spPr>
          <a:xfrm>
            <a:off x="658368" y="3383280"/>
            <a:ext cx="502920" cy="502920"/>
          </a:xfrm>
          <a:prstGeom prst="ellipse">
            <a:avLst/>
          </a:prstGeom>
          <a:solidFill>
            <a:srgbClr val="1B2A4A"/>
          </a:solidFill>
          <a:ln/>
        </p:spPr>
        <p:txBody>
          <a:bodyPr/>
          <a:lstStyle/>
          <a:p>
            <a:endParaRPr lang="en-IN"/>
          </a:p>
        </p:txBody>
      </p:sp>
      <p:pic>
        <p:nvPicPr>
          <p:cNvPr id="8" name="Image 0" descr="/home/claude/bookverse/icons/book.png"/>
          <p:cNvPicPr>
            <a:picLocks noChangeAspect="1"/>
          </p:cNvPicPr>
          <p:nvPr/>
        </p:nvPicPr>
        <p:blipFill>
          <a:blip r:embed="rId3"/>
          <a:stretch>
            <a:fillRect/>
          </a:stretch>
        </p:blipFill>
        <p:spPr>
          <a:xfrm>
            <a:off x="728777" y="3453689"/>
            <a:ext cx="362102" cy="362102"/>
          </a:xfrm>
          <a:prstGeom prst="rect">
            <a:avLst/>
          </a:prstGeom>
        </p:spPr>
      </p:pic>
      <p:sp>
        <p:nvSpPr>
          <p:cNvPr id="9" name="Text 6"/>
          <p:cNvSpPr txBox="1"/>
          <p:nvPr/>
        </p:nvSpPr>
        <p:spPr>
          <a:xfrm>
            <a:off x="1280160" y="3154680"/>
            <a:ext cx="2286000" cy="960120"/>
          </a:xfrm>
          <a:prstGeom prst="rect">
            <a:avLst/>
          </a:prstGeom>
          <a:noFill/>
          <a:ln/>
        </p:spPr>
        <p:txBody>
          <a:bodyPr wrap="square" rtlCol="0" anchor="ctr"/>
          <a:lstStyle/>
          <a:p>
            <a:pPr marL="0" indent="0">
              <a:buNone/>
            </a:pPr>
            <a:r>
              <a:rPr lang="en-US" sz="1300" b="1" dirty="0">
                <a:solidFill>
                  <a:srgbClr val="23262F"/>
                </a:solidFill>
                <a:latin typeface="Calibri" pitchFamily="34" charset="0"/>
                <a:ea typeface="Calibri" pitchFamily="34" charset="-122"/>
                <a:cs typeface="Calibri" pitchFamily="34" charset="-120"/>
              </a:rPr>
              <a:t>Book Catalog</a:t>
            </a:r>
            <a:endParaRPr lang="en-US" sz="1300" dirty="0"/>
          </a:p>
          <a:p>
            <a:pPr marL="0" indent="0">
              <a:buNone/>
            </a:pPr>
            <a:r>
              <a:rPr lang="en-US" sz="1300" b="1" dirty="0">
                <a:solidFill>
                  <a:srgbClr val="23262F"/>
                </a:solidFill>
                <a:latin typeface="Calibri" pitchFamily="34" charset="0"/>
                <a:ea typeface="Calibri" pitchFamily="34" charset="-122"/>
                <a:cs typeface="Calibri" pitchFamily="34" charset="-120"/>
              </a:rPr>
              <a:t>Management</a:t>
            </a:r>
            <a:endParaRPr lang="en-US" sz="1300" dirty="0"/>
          </a:p>
        </p:txBody>
      </p:sp>
      <p:sp>
        <p:nvSpPr>
          <p:cNvPr id="10" name="Text 7"/>
          <p:cNvSpPr txBox="1"/>
          <p:nvPr/>
        </p:nvSpPr>
        <p:spPr>
          <a:xfrm>
            <a:off x="3893744" y="3154680"/>
            <a:ext cx="365760" cy="960120"/>
          </a:xfrm>
          <a:prstGeom prst="rect">
            <a:avLst/>
          </a:prstGeom>
          <a:noFill/>
          <a:ln/>
        </p:spPr>
        <p:txBody>
          <a:bodyPr wrap="square" rtlCol="0" anchor="ctr"/>
          <a:lstStyle/>
          <a:p>
            <a:pPr marL="0" indent="0" algn="ctr">
              <a:buNone/>
            </a:pPr>
            <a:r>
              <a:rPr lang="en-US" sz="1800" b="1" dirty="0">
                <a:solidFill>
                  <a:srgbClr val="C9A227"/>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4495648" y="3154680"/>
            <a:ext cx="3200400" cy="960120"/>
          </a:xfrm>
          <a:prstGeom prst="roundRect">
            <a:avLst>
              <a:gd name="adj" fmla="val 7619"/>
            </a:avLst>
          </a:prstGeom>
          <a:solidFill>
            <a:srgbClr val="F1F1F5"/>
          </a:solidFill>
          <a:ln/>
          <a:effectLst>
            <a:outerShdw blurRad="76200" dist="25400" dir="5400000" algn="bl" rotWithShape="0">
              <a:srgbClr val="1B2A4A">
                <a:alpha val="12000"/>
              </a:srgbClr>
            </a:outerShdw>
          </a:effectLst>
        </p:spPr>
        <p:txBody>
          <a:bodyPr/>
          <a:lstStyle/>
          <a:p>
            <a:endParaRPr lang="en-IN"/>
          </a:p>
        </p:txBody>
      </p:sp>
      <p:sp>
        <p:nvSpPr>
          <p:cNvPr id="12" name="Shape 9"/>
          <p:cNvSpPr/>
          <p:nvPr/>
        </p:nvSpPr>
        <p:spPr>
          <a:xfrm>
            <a:off x="4696816" y="3383280"/>
            <a:ext cx="502920" cy="502920"/>
          </a:xfrm>
          <a:prstGeom prst="ellipse">
            <a:avLst/>
          </a:prstGeom>
          <a:solidFill>
            <a:srgbClr val="1B2A4A"/>
          </a:solidFill>
          <a:ln/>
        </p:spPr>
        <p:txBody>
          <a:bodyPr/>
          <a:lstStyle/>
          <a:p>
            <a:endParaRPr lang="en-IN"/>
          </a:p>
        </p:txBody>
      </p:sp>
      <p:pic>
        <p:nvPicPr>
          <p:cNvPr id="13" name="Image 1" descr="/home/claude/bookverse/icons/customers.png"/>
          <p:cNvPicPr>
            <a:picLocks noChangeAspect="1"/>
          </p:cNvPicPr>
          <p:nvPr/>
        </p:nvPicPr>
        <p:blipFill>
          <a:blip r:embed="rId4"/>
          <a:stretch>
            <a:fillRect/>
          </a:stretch>
        </p:blipFill>
        <p:spPr>
          <a:xfrm>
            <a:off x="4767224" y="3453689"/>
            <a:ext cx="362102" cy="362102"/>
          </a:xfrm>
          <a:prstGeom prst="rect">
            <a:avLst/>
          </a:prstGeom>
        </p:spPr>
      </p:pic>
      <p:sp>
        <p:nvSpPr>
          <p:cNvPr id="14" name="Text 10"/>
          <p:cNvSpPr txBox="1"/>
          <p:nvPr/>
        </p:nvSpPr>
        <p:spPr>
          <a:xfrm>
            <a:off x="5318608" y="3154680"/>
            <a:ext cx="2286000" cy="960120"/>
          </a:xfrm>
          <a:prstGeom prst="rect">
            <a:avLst/>
          </a:prstGeom>
          <a:noFill/>
          <a:ln/>
        </p:spPr>
        <p:txBody>
          <a:bodyPr wrap="square" rtlCol="0" anchor="ctr"/>
          <a:lstStyle/>
          <a:p>
            <a:pPr marL="0" indent="0">
              <a:buNone/>
            </a:pPr>
            <a:r>
              <a:rPr lang="en-US" sz="1300" b="1" dirty="0">
                <a:solidFill>
                  <a:srgbClr val="23262F"/>
                </a:solidFill>
                <a:latin typeface="Calibri" pitchFamily="34" charset="0"/>
                <a:ea typeface="Calibri" pitchFamily="34" charset="-122"/>
                <a:cs typeface="Calibri" pitchFamily="34" charset="-120"/>
              </a:rPr>
              <a:t>Customer</a:t>
            </a:r>
            <a:endParaRPr lang="en-US" sz="1300" dirty="0"/>
          </a:p>
          <a:p>
            <a:pPr marL="0" indent="0">
              <a:buNone/>
            </a:pPr>
            <a:r>
              <a:rPr lang="en-US" sz="1300" b="1" dirty="0">
                <a:solidFill>
                  <a:srgbClr val="23262F"/>
                </a:solidFill>
                <a:latin typeface="Calibri" pitchFamily="34" charset="0"/>
                <a:ea typeface="Calibri" pitchFamily="34" charset="-122"/>
                <a:cs typeface="Calibri" pitchFamily="34" charset="-120"/>
              </a:rPr>
              <a:t>Management</a:t>
            </a:r>
            <a:endParaRPr lang="en-US" sz="1300" dirty="0"/>
          </a:p>
        </p:txBody>
      </p:sp>
      <p:sp>
        <p:nvSpPr>
          <p:cNvPr id="15" name="Text 11"/>
          <p:cNvSpPr txBox="1"/>
          <p:nvPr/>
        </p:nvSpPr>
        <p:spPr>
          <a:xfrm>
            <a:off x="7932191" y="3154680"/>
            <a:ext cx="365760" cy="960120"/>
          </a:xfrm>
          <a:prstGeom prst="rect">
            <a:avLst/>
          </a:prstGeom>
          <a:noFill/>
          <a:ln/>
        </p:spPr>
        <p:txBody>
          <a:bodyPr wrap="square" rtlCol="0" anchor="ctr"/>
          <a:lstStyle/>
          <a:p>
            <a:pPr marL="0" indent="0" algn="ctr">
              <a:buNone/>
            </a:pPr>
            <a:r>
              <a:rPr lang="en-US" sz="1800" b="1" dirty="0">
                <a:solidFill>
                  <a:srgbClr val="C9A227"/>
                </a:solidFill>
                <a:latin typeface="Calibri" pitchFamily="34" charset="0"/>
                <a:ea typeface="Calibri" pitchFamily="34" charset="-122"/>
                <a:cs typeface="Calibri" pitchFamily="34" charset="-120"/>
              </a:rPr>
              <a:t>→</a:t>
            </a:r>
            <a:endParaRPr lang="en-US" sz="1800" dirty="0"/>
          </a:p>
        </p:txBody>
      </p:sp>
      <p:sp>
        <p:nvSpPr>
          <p:cNvPr id="16" name="Shape 12"/>
          <p:cNvSpPr/>
          <p:nvPr/>
        </p:nvSpPr>
        <p:spPr>
          <a:xfrm>
            <a:off x="8534095" y="3154680"/>
            <a:ext cx="3200400" cy="960120"/>
          </a:xfrm>
          <a:prstGeom prst="roundRect">
            <a:avLst>
              <a:gd name="adj" fmla="val 7619"/>
            </a:avLst>
          </a:prstGeom>
          <a:solidFill>
            <a:srgbClr val="F1F1F5"/>
          </a:solidFill>
          <a:ln/>
          <a:effectLst>
            <a:outerShdw blurRad="76200" dist="25400" dir="5400000" algn="bl" rotWithShape="0">
              <a:srgbClr val="1B2A4A">
                <a:alpha val="12000"/>
              </a:srgbClr>
            </a:outerShdw>
          </a:effectLst>
        </p:spPr>
        <p:txBody>
          <a:bodyPr/>
          <a:lstStyle/>
          <a:p>
            <a:endParaRPr lang="en-IN"/>
          </a:p>
        </p:txBody>
      </p:sp>
      <p:sp>
        <p:nvSpPr>
          <p:cNvPr id="17" name="Shape 13"/>
          <p:cNvSpPr/>
          <p:nvPr/>
        </p:nvSpPr>
        <p:spPr>
          <a:xfrm>
            <a:off x="8735263" y="3383280"/>
            <a:ext cx="502920" cy="502920"/>
          </a:xfrm>
          <a:prstGeom prst="ellipse">
            <a:avLst/>
          </a:prstGeom>
          <a:solidFill>
            <a:srgbClr val="1B2A4A"/>
          </a:solidFill>
          <a:ln/>
        </p:spPr>
        <p:txBody>
          <a:bodyPr/>
          <a:lstStyle/>
          <a:p>
            <a:endParaRPr lang="en-IN"/>
          </a:p>
        </p:txBody>
      </p:sp>
      <p:pic>
        <p:nvPicPr>
          <p:cNvPr id="18" name="Image 2" descr="/home/claude/bookverse/icons/orders.png"/>
          <p:cNvPicPr>
            <a:picLocks noChangeAspect="1"/>
          </p:cNvPicPr>
          <p:nvPr/>
        </p:nvPicPr>
        <p:blipFill>
          <a:blip r:embed="rId5"/>
          <a:stretch>
            <a:fillRect/>
          </a:stretch>
        </p:blipFill>
        <p:spPr>
          <a:xfrm>
            <a:off x="8805672" y="3453689"/>
            <a:ext cx="362102" cy="362102"/>
          </a:xfrm>
          <a:prstGeom prst="rect">
            <a:avLst/>
          </a:prstGeom>
        </p:spPr>
      </p:pic>
      <p:sp>
        <p:nvSpPr>
          <p:cNvPr id="19" name="Text 14"/>
          <p:cNvSpPr txBox="1"/>
          <p:nvPr/>
        </p:nvSpPr>
        <p:spPr>
          <a:xfrm>
            <a:off x="9357055" y="3154680"/>
            <a:ext cx="2286000" cy="960120"/>
          </a:xfrm>
          <a:prstGeom prst="rect">
            <a:avLst/>
          </a:prstGeom>
          <a:noFill/>
          <a:ln/>
        </p:spPr>
        <p:txBody>
          <a:bodyPr wrap="square" rtlCol="0" anchor="ctr"/>
          <a:lstStyle/>
          <a:p>
            <a:pPr marL="0" indent="0">
              <a:buNone/>
            </a:pPr>
            <a:r>
              <a:rPr lang="en-US" sz="1300" b="1" dirty="0">
                <a:solidFill>
                  <a:srgbClr val="23262F"/>
                </a:solidFill>
                <a:latin typeface="Calibri" pitchFamily="34" charset="0"/>
                <a:ea typeface="Calibri" pitchFamily="34" charset="-122"/>
                <a:cs typeface="Calibri" pitchFamily="34" charset="-120"/>
              </a:rPr>
              <a:t>Order &amp; Sales</a:t>
            </a:r>
            <a:endParaRPr lang="en-US" sz="1300" dirty="0"/>
          </a:p>
          <a:p>
            <a:pPr marL="0" indent="0">
              <a:buNone/>
            </a:pPr>
            <a:r>
              <a:rPr lang="en-US" sz="1300" b="1" dirty="0">
                <a:solidFill>
                  <a:srgbClr val="23262F"/>
                </a:solidFill>
                <a:latin typeface="Calibri" pitchFamily="34" charset="0"/>
                <a:ea typeface="Calibri" pitchFamily="34" charset="-122"/>
                <a:cs typeface="Calibri" pitchFamily="34" charset="-120"/>
              </a:rPr>
              <a:t>Management</a:t>
            </a:r>
            <a:endParaRPr lang="en-US" sz="1300" dirty="0"/>
          </a:p>
        </p:txBody>
      </p:sp>
      <p:sp>
        <p:nvSpPr>
          <p:cNvPr id="20" name="Text 15"/>
          <p:cNvSpPr txBox="1"/>
          <p:nvPr/>
        </p:nvSpPr>
        <p:spPr>
          <a:xfrm>
            <a:off x="457200" y="4434840"/>
            <a:ext cx="7315200" cy="274320"/>
          </a:xfrm>
          <a:prstGeom prst="rect">
            <a:avLst/>
          </a:prstGeom>
          <a:noFill/>
          <a:ln/>
        </p:spPr>
        <p:txBody>
          <a:bodyPr wrap="square" rtlCol="0" anchor="ctr"/>
          <a:lstStyle/>
          <a:p>
            <a:pPr marL="0" indent="0">
              <a:buNone/>
            </a:pPr>
            <a:r>
              <a:rPr lang="en-US" sz="1150" b="1" kern="0" spc="100" dirty="0">
                <a:solidFill>
                  <a:srgbClr val="1B2A4A"/>
                </a:solidFill>
                <a:latin typeface="Calibri" pitchFamily="34" charset="0"/>
                <a:ea typeface="Calibri" pitchFamily="34" charset="-122"/>
                <a:cs typeface="Calibri" pitchFamily="34" charset="-120"/>
              </a:rPr>
              <a:t>KEY BUSINESS DECISION AREAS</a:t>
            </a:r>
            <a:endParaRPr lang="en-US" sz="1150" dirty="0"/>
          </a:p>
        </p:txBody>
      </p:sp>
      <p:sp>
        <p:nvSpPr>
          <p:cNvPr id="21" name="Shape 16"/>
          <p:cNvSpPr/>
          <p:nvPr/>
        </p:nvSpPr>
        <p:spPr>
          <a:xfrm>
            <a:off x="457200" y="4800600"/>
            <a:ext cx="2109155" cy="1234440"/>
          </a:xfrm>
          <a:prstGeom prst="roundRect">
            <a:avLst>
              <a:gd name="adj" fmla="val 5926"/>
            </a:avLst>
          </a:prstGeom>
          <a:solidFill>
            <a:srgbClr val="F7EFD9"/>
          </a:solidFill>
          <a:ln/>
          <a:effectLst>
            <a:outerShdw blurRad="76200" dist="25400" dir="5400000" algn="bl" rotWithShape="0">
              <a:srgbClr val="1B2A4A">
                <a:alpha val="12000"/>
              </a:srgbClr>
            </a:outerShdw>
          </a:effectLst>
        </p:spPr>
        <p:txBody>
          <a:bodyPr/>
          <a:lstStyle/>
          <a:p>
            <a:endParaRPr lang="en-IN"/>
          </a:p>
        </p:txBody>
      </p:sp>
      <p:sp>
        <p:nvSpPr>
          <p:cNvPr id="22" name="Shape 17"/>
          <p:cNvSpPr/>
          <p:nvPr/>
        </p:nvSpPr>
        <p:spPr>
          <a:xfrm>
            <a:off x="1283178" y="4946904"/>
            <a:ext cx="457200" cy="457200"/>
          </a:xfrm>
          <a:prstGeom prst="ellipse">
            <a:avLst/>
          </a:prstGeom>
          <a:solidFill>
            <a:srgbClr val="1B2A4A"/>
          </a:solidFill>
          <a:ln/>
        </p:spPr>
        <p:txBody>
          <a:bodyPr/>
          <a:lstStyle/>
          <a:p>
            <a:endParaRPr lang="en-IN"/>
          </a:p>
        </p:txBody>
      </p:sp>
      <p:pic>
        <p:nvPicPr>
          <p:cNvPr id="23" name="Image 3" descr="/home/claude/bookverse/icons/sales.png"/>
          <p:cNvPicPr>
            <a:picLocks noChangeAspect="1"/>
          </p:cNvPicPr>
          <p:nvPr/>
        </p:nvPicPr>
        <p:blipFill>
          <a:blip r:embed="rId6"/>
          <a:stretch>
            <a:fillRect/>
          </a:stretch>
        </p:blipFill>
        <p:spPr>
          <a:xfrm>
            <a:off x="1347186" y="5010912"/>
            <a:ext cx="329184" cy="329184"/>
          </a:xfrm>
          <a:prstGeom prst="rect">
            <a:avLst/>
          </a:prstGeom>
        </p:spPr>
      </p:pic>
      <p:sp>
        <p:nvSpPr>
          <p:cNvPr id="24" name="Text 18"/>
          <p:cNvSpPr txBox="1"/>
          <p:nvPr/>
        </p:nvSpPr>
        <p:spPr>
          <a:xfrm>
            <a:off x="502920" y="5458968"/>
            <a:ext cx="2017715" cy="502920"/>
          </a:xfrm>
          <a:prstGeom prst="rect">
            <a:avLst/>
          </a:prstGeom>
          <a:noFill/>
          <a:ln/>
        </p:spPr>
        <p:txBody>
          <a:bodyPr wrap="square" rtlCol="0" anchor="t"/>
          <a:lstStyle/>
          <a:p>
            <a:pPr marL="0" indent="0" algn="ctr">
              <a:buNone/>
            </a:pPr>
            <a:r>
              <a:rPr lang="en-US" sz="1250" b="1" dirty="0">
                <a:solidFill>
                  <a:srgbClr val="1B2A4A"/>
                </a:solidFill>
                <a:latin typeface="Calibri" pitchFamily="34" charset="0"/>
                <a:ea typeface="Calibri" pitchFamily="34" charset="-122"/>
                <a:cs typeface="Calibri" pitchFamily="34" charset="-120"/>
              </a:rPr>
              <a:t>Sales</a:t>
            </a:r>
            <a:endParaRPr lang="en-US" sz="1250" dirty="0"/>
          </a:p>
          <a:p>
            <a:pPr marL="0" indent="0" algn="ctr">
              <a:buNone/>
            </a:pPr>
            <a:r>
              <a:rPr lang="en-US" sz="1250" b="1" dirty="0">
                <a:solidFill>
                  <a:srgbClr val="1B2A4A"/>
                </a:solidFill>
                <a:latin typeface="Calibri" pitchFamily="34" charset="0"/>
                <a:ea typeface="Calibri" pitchFamily="34" charset="-122"/>
                <a:cs typeface="Calibri" pitchFamily="34" charset="-120"/>
              </a:rPr>
              <a:t>Performance</a:t>
            </a:r>
            <a:endParaRPr lang="en-US" sz="1250" dirty="0"/>
          </a:p>
        </p:txBody>
      </p:sp>
      <p:sp>
        <p:nvSpPr>
          <p:cNvPr id="25" name="Shape 19"/>
          <p:cNvSpPr/>
          <p:nvPr/>
        </p:nvSpPr>
        <p:spPr>
          <a:xfrm>
            <a:off x="2749235" y="4800600"/>
            <a:ext cx="2109155" cy="1234440"/>
          </a:xfrm>
          <a:prstGeom prst="roundRect">
            <a:avLst>
              <a:gd name="adj" fmla="val 5926"/>
            </a:avLst>
          </a:prstGeom>
          <a:solidFill>
            <a:srgbClr val="E7EAF2"/>
          </a:solidFill>
          <a:ln/>
          <a:effectLst>
            <a:outerShdw blurRad="76200" dist="25400" dir="5400000" algn="bl" rotWithShape="0">
              <a:srgbClr val="1B2A4A">
                <a:alpha val="12000"/>
              </a:srgbClr>
            </a:outerShdw>
          </a:effectLst>
        </p:spPr>
        <p:txBody>
          <a:bodyPr/>
          <a:lstStyle/>
          <a:p>
            <a:endParaRPr lang="en-IN"/>
          </a:p>
        </p:txBody>
      </p:sp>
      <p:sp>
        <p:nvSpPr>
          <p:cNvPr id="26" name="Shape 20"/>
          <p:cNvSpPr/>
          <p:nvPr/>
        </p:nvSpPr>
        <p:spPr>
          <a:xfrm>
            <a:off x="3575213" y="4946904"/>
            <a:ext cx="457200" cy="457200"/>
          </a:xfrm>
          <a:prstGeom prst="ellipse">
            <a:avLst/>
          </a:prstGeom>
          <a:solidFill>
            <a:srgbClr val="1B2A4A"/>
          </a:solidFill>
          <a:ln/>
        </p:spPr>
        <p:txBody>
          <a:bodyPr/>
          <a:lstStyle/>
          <a:p>
            <a:endParaRPr lang="en-IN"/>
          </a:p>
        </p:txBody>
      </p:sp>
      <p:pic>
        <p:nvPicPr>
          <p:cNvPr id="27" name="Image 4" descr="/home/claude/bookverse/icons/customers.png"/>
          <p:cNvPicPr>
            <a:picLocks noChangeAspect="1"/>
          </p:cNvPicPr>
          <p:nvPr/>
        </p:nvPicPr>
        <p:blipFill>
          <a:blip r:embed="rId4"/>
          <a:stretch>
            <a:fillRect/>
          </a:stretch>
        </p:blipFill>
        <p:spPr>
          <a:xfrm>
            <a:off x="3639221" y="5010912"/>
            <a:ext cx="329184" cy="329184"/>
          </a:xfrm>
          <a:prstGeom prst="rect">
            <a:avLst/>
          </a:prstGeom>
        </p:spPr>
      </p:pic>
      <p:sp>
        <p:nvSpPr>
          <p:cNvPr id="28" name="Text 21"/>
          <p:cNvSpPr txBox="1"/>
          <p:nvPr/>
        </p:nvSpPr>
        <p:spPr>
          <a:xfrm>
            <a:off x="2794955" y="5458968"/>
            <a:ext cx="2017715" cy="502920"/>
          </a:xfrm>
          <a:prstGeom prst="rect">
            <a:avLst/>
          </a:prstGeom>
          <a:noFill/>
          <a:ln/>
        </p:spPr>
        <p:txBody>
          <a:bodyPr wrap="square" rtlCol="0" anchor="t"/>
          <a:lstStyle/>
          <a:p>
            <a:pPr marL="0" indent="0" algn="ctr">
              <a:buNone/>
            </a:pPr>
            <a:r>
              <a:rPr lang="en-US" sz="1250" b="1" dirty="0">
                <a:solidFill>
                  <a:srgbClr val="1B2A4A"/>
                </a:solidFill>
                <a:latin typeface="Calibri" pitchFamily="34" charset="0"/>
                <a:ea typeface="Calibri" pitchFamily="34" charset="-122"/>
                <a:cs typeface="Calibri" pitchFamily="34" charset="-120"/>
              </a:rPr>
              <a:t>Customer</a:t>
            </a:r>
            <a:endParaRPr lang="en-US" sz="1250" dirty="0"/>
          </a:p>
          <a:p>
            <a:pPr marL="0" indent="0" algn="ctr">
              <a:buNone/>
            </a:pPr>
            <a:r>
              <a:rPr lang="en-US" sz="1250" b="1" dirty="0">
                <a:solidFill>
                  <a:srgbClr val="1B2A4A"/>
                </a:solidFill>
                <a:latin typeface="Calibri" pitchFamily="34" charset="0"/>
                <a:ea typeface="Calibri" pitchFamily="34" charset="-122"/>
                <a:cs typeface="Calibri" pitchFamily="34" charset="-120"/>
              </a:rPr>
              <a:t>Behaviour</a:t>
            </a:r>
            <a:endParaRPr lang="en-US" sz="1250" dirty="0"/>
          </a:p>
        </p:txBody>
      </p:sp>
      <p:sp>
        <p:nvSpPr>
          <p:cNvPr id="29" name="Shape 22"/>
          <p:cNvSpPr/>
          <p:nvPr/>
        </p:nvSpPr>
        <p:spPr>
          <a:xfrm>
            <a:off x="5041270" y="4800600"/>
            <a:ext cx="2109155" cy="1234440"/>
          </a:xfrm>
          <a:prstGeom prst="roundRect">
            <a:avLst>
              <a:gd name="adj" fmla="val 5926"/>
            </a:avLst>
          </a:prstGeom>
          <a:solidFill>
            <a:srgbClr val="F7EFD9"/>
          </a:solidFill>
          <a:ln/>
          <a:effectLst>
            <a:outerShdw blurRad="76200" dist="25400" dir="5400000" algn="bl" rotWithShape="0">
              <a:srgbClr val="1B2A4A">
                <a:alpha val="12000"/>
              </a:srgbClr>
            </a:outerShdw>
          </a:effectLst>
        </p:spPr>
        <p:txBody>
          <a:bodyPr/>
          <a:lstStyle/>
          <a:p>
            <a:endParaRPr lang="en-IN"/>
          </a:p>
        </p:txBody>
      </p:sp>
      <p:sp>
        <p:nvSpPr>
          <p:cNvPr id="30" name="Shape 23"/>
          <p:cNvSpPr/>
          <p:nvPr/>
        </p:nvSpPr>
        <p:spPr>
          <a:xfrm>
            <a:off x="5867248" y="4946904"/>
            <a:ext cx="457200" cy="457200"/>
          </a:xfrm>
          <a:prstGeom prst="ellipse">
            <a:avLst/>
          </a:prstGeom>
          <a:solidFill>
            <a:srgbClr val="1B2A4A"/>
          </a:solidFill>
          <a:ln/>
        </p:spPr>
        <p:txBody>
          <a:bodyPr/>
          <a:lstStyle/>
          <a:p>
            <a:endParaRPr lang="en-IN"/>
          </a:p>
        </p:txBody>
      </p:sp>
      <p:pic>
        <p:nvPicPr>
          <p:cNvPr id="31" name="Image 5" descr="/home/claude/bookverse/icons/genre.png"/>
          <p:cNvPicPr>
            <a:picLocks noChangeAspect="1"/>
          </p:cNvPicPr>
          <p:nvPr/>
        </p:nvPicPr>
        <p:blipFill>
          <a:blip r:embed="rId7"/>
          <a:stretch>
            <a:fillRect/>
          </a:stretch>
        </p:blipFill>
        <p:spPr>
          <a:xfrm>
            <a:off x="5931256" y="5010912"/>
            <a:ext cx="329184" cy="329184"/>
          </a:xfrm>
          <a:prstGeom prst="rect">
            <a:avLst/>
          </a:prstGeom>
        </p:spPr>
      </p:pic>
      <p:sp>
        <p:nvSpPr>
          <p:cNvPr id="32" name="Text 24"/>
          <p:cNvSpPr txBox="1"/>
          <p:nvPr/>
        </p:nvSpPr>
        <p:spPr>
          <a:xfrm>
            <a:off x="5086990" y="5458968"/>
            <a:ext cx="2017715" cy="502920"/>
          </a:xfrm>
          <a:prstGeom prst="rect">
            <a:avLst/>
          </a:prstGeom>
          <a:noFill/>
          <a:ln/>
        </p:spPr>
        <p:txBody>
          <a:bodyPr wrap="square" rtlCol="0" anchor="t"/>
          <a:lstStyle/>
          <a:p>
            <a:pPr marL="0" indent="0" algn="ctr">
              <a:buNone/>
            </a:pPr>
            <a:r>
              <a:rPr lang="en-US" sz="1250" b="1" dirty="0">
                <a:solidFill>
                  <a:srgbClr val="1B2A4A"/>
                </a:solidFill>
                <a:latin typeface="Calibri" pitchFamily="34" charset="0"/>
                <a:ea typeface="Calibri" pitchFamily="34" charset="-122"/>
                <a:cs typeface="Calibri" pitchFamily="34" charset="-120"/>
              </a:rPr>
              <a:t>Product &amp; Genre</a:t>
            </a:r>
            <a:endParaRPr lang="en-US" sz="1250" dirty="0"/>
          </a:p>
          <a:p>
            <a:pPr marL="0" indent="0" algn="ctr">
              <a:buNone/>
            </a:pPr>
            <a:r>
              <a:rPr lang="en-US" sz="1250" b="1" dirty="0">
                <a:solidFill>
                  <a:srgbClr val="1B2A4A"/>
                </a:solidFill>
                <a:latin typeface="Calibri" pitchFamily="34" charset="0"/>
                <a:ea typeface="Calibri" pitchFamily="34" charset="-122"/>
                <a:cs typeface="Calibri" pitchFamily="34" charset="-120"/>
              </a:rPr>
              <a:t>Performance</a:t>
            </a:r>
            <a:endParaRPr lang="en-US" sz="1250" dirty="0"/>
          </a:p>
        </p:txBody>
      </p:sp>
      <p:sp>
        <p:nvSpPr>
          <p:cNvPr id="33" name="Shape 25"/>
          <p:cNvSpPr/>
          <p:nvPr/>
        </p:nvSpPr>
        <p:spPr>
          <a:xfrm>
            <a:off x="7333305" y="4800600"/>
            <a:ext cx="2109155" cy="1234440"/>
          </a:xfrm>
          <a:prstGeom prst="roundRect">
            <a:avLst>
              <a:gd name="adj" fmla="val 5926"/>
            </a:avLst>
          </a:prstGeom>
          <a:solidFill>
            <a:srgbClr val="E7EAF2"/>
          </a:solidFill>
          <a:ln/>
          <a:effectLst>
            <a:outerShdw blurRad="76200" dist="25400" dir="5400000" algn="bl" rotWithShape="0">
              <a:srgbClr val="1B2A4A">
                <a:alpha val="12000"/>
              </a:srgbClr>
            </a:outerShdw>
          </a:effectLst>
        </p:spPr>
        <p:txBody>
          <a:bodyPr/>
          <a:lstStyle/>
          <a:p>
            <a:endParaRPr lang="en-IN"/>
          </a:p>
        </p:txBody>
      </p:sp>
      <p:sp>
        <p:nvSpPr>
          <p:cNvPr id="34" name="Shape 26"/>
          <p:cNvSpPr/>
          <p:nvPr/>
        </p:nvSpPr>
        <p:spPr>
          <a:xfrm>
            <a:off x="8159283" y="4946904"/>
            <a:ext cx="457200" cy="457200"/>
          </a:xfrm>
          <a:prstGeom prst="ellipse">
            <a:avLst/>
          </a:prstGeom>
          <a:solidFill>
            <a:srgbClr val="1B2A4A"/>
          </a:solidFill>
          <a:ln/>
        </p:spPr>
        <p:txBody>
          <a:bodyPr/>
          <a:lstStyle/>
          <a:p>
            <a:endParaRPr lang="en-IN"/>
          </a:p>
        </p:txBody>
      </p:sp>
      <p:pic>
        <p:nvPicPr>
          <p:cNvPr id="35" name="Image 6" descr="/home/claude/bookverse/icons/inventory.png"/>
          <p:cNvPicPr>
            <a:picLocks noChangeAspect="1"/>
          </p:cNvPicPr>
          <p:nvPr/>
        </p:nvPicPr>
        <p:blipFill>
          <a:blip r:embed="rId8"/>
          <a:stretch>
            <a:fillRect/>
          </a:stretch>
        </p:blipFill>
        <p:spPr>
          <a:xfrm>
            <a:off x="8223291" y="5010912"/>
            <a:ext cx="329184" cy="329184"/>
          </a:xfrm>
          <a:prstGeom prst="rect">
            <a:avLst/>
          </a:prstGeom>
        </p:spPr>
      </p:pic>
      <p:sp>
        <p:nvSpPr>
          <p:cNvPr id="36" name="Text 27"/>
          <p:cNvSpPr txBox="1"/>
          <p:nvPr/>
        </p:nvSpPr>
        <p:spPr>
          <a:xfrm>
            <a:off x="7379025" y="5458968"/>
            <a:ext cx="2017715" cy="502920"/>
          </a:xfrm>
          <a:prstGeom prst="rect">
            <a:avLst/>
          </a:prstGeom>
          <a:noFill/>
          <a:ln/>
        </p:spPr>
        <p:txBody>
          <a:bodyPr wrap="square" rtlCol="0" anchor="t"/>
          <a:lstStyle/>
          <a:p>
            <a:pPr marL="0" indent="0" algn="ctr">
              <a:buNone/>
            </a:pPr>
            <a:r>
              <a:rPr lang="en-US" sz="1250" b="1" dirty="0">
                <a:solidFill>
                  <a:srgbClr val="1B2A4A"/>
                </a:solidFill>
                <a:latin typeface="Calibri" pitchFamily="34" charset="0"/>
                <a:ea typeface="Calibri" pitchFamily="34" charset="-122"/>
                <a:cs typeface="Calibri" pitchFamily="34" charset="-120"/>
              </a:rPr>
              <a:t>Inventory</a:t>
            </a:r>
            <a:endParaRPr lang="en-US" sz="1250" dirty="0"/>
          </a:p>
          <a:p>
            <a:pPr marL="0" indent="0" algn="ctr">
              <a:buNone/>
            </a:pPr>
            <a:r>
              <a:rPr lang="en-US" sz="1250" b="1" dirty="0">
                <a:solidFill>
                  <a:srgbClr val="1B2A4A"/>
                </a:solidFill>
                <a:latin typeface="Calibri" pitchFamily="34" charset="0"/>
                <a:ea typeface="Calibri" pitchFamily="34" charset="-122"/>
                <a:cs typeface="Calibri" pitchFamily="34" charset="-120"/>
              </a:rPr>
              <a:t>Position</a:t>
            </a:r>
            <a:endParaRPr lang="en-US" sz="1250" dirty="0"/>
          </a:p>
        </p:txBody>
      </p:sp>
      <p:sp>
        <p:nvSpPr>
          <p:cNvPr id="37" name="Shape 28"/>
          <p:cNvSpPr/>
          <p:nvPr/>
        </p:nvSpPr>
        <p:spPr>
          <a:xfrm>
            <a:off x="9625340" y="4800600"/>
            <a:ext cx="2109155" cy="1234440"/>
          </a:xfrm>
          <a:prstGeom prst="roundRect">
            <a:avLst>
              <a:gd name="adj" fmla="val 5926"/>
            </a:avLst>
          </a:prstGeom>
          <a:solidFill>
            <a:srgbClr val="F7EFD9"/>
          </a:solidFill>
          <a:ln/>
          <a:effectLst>
            <a:outerShdw blurRad="76200" dist="25400" dir="5400000" algn="bl" rotWithShape="0">
              <a:srgbClr val="1B2A4A">
                <a:alpha val="12000"/>
              </a:srgbClr>
            </a:outerShdw>
          </a:effectLst>
        </p:spPr>
        <p:txBody>
          <a:bodyPr/>
          <a:lstStyle/>
          <a:p>
            <a:endParaRPr lang="en-IN"/>
          </a:p>
        </p:txBody>
      </p:sp>
      <p:sp>
        <p:nvSpPr>
          <p:cNvPr id="38" name="Shape 29"/>
          <p:cNvSpPr/>
          <p:nvPr/>
        </p:nvSpPr>
        <p:spPr>
          <a:xfrm>
            <a:off x="10451318" y="4946904"/>
            <a:ext cx="457200" cy="457200"/>
          </a:xfrm>
          <a:prstGeom prst="ellipse">
            <a:avLst/>
          </a:prstGeom>
          <a:solidFill>
            <a:srgbClr val="1B2A4A"/>
          </a:solidFill>
          <a:ln/>
        </p:spPr>
        <p:txBody>
          <a:bodyPr/>
          <a:lstStyle/>
          <a:p>
            <a:endParaRPr lang="en-IN"/>
          </a:p>
        </p:txBody>
      </p:sp>
      <p:pic>
        <p:nvPicPr>
          <p:cNvPr id="39" name="Image 7" descr="/home/claude/bookverse/icons/target.png"/>
          <p:cNvPicPr>
            <a:picLocks noChangeAspect="1"/>
          </p:cNvPicPr>
          <p:nvPr/>
        </p:nvPicPr>
        <p:blipFill>
          <a:blip r:embed="rId9"/>
          <a:stretch>
            <a:fillRect/>
          </a:stretch>
        </p:blipFill>
        <p:spPr>
          <a:xfrm>
            <a:off x="10515326" y="5010912"/>
            <a:ext cx="329184" cy="329184"/>
          </a:xfrm>
          <a:prstGeom prst="rect">
            <a:avLst/>
          </a:prstGeom>
        </p:spPr>
      </p:pic>
      <p:sp>
        <p:nvSpPr>
          <p:cNvPr id="40" name="Text 30"/>
          <p:cNvSpPr txBox="1"/>
          <p:nvPr/>
        </p:nvSpPr>
        <p:spPr>
          <a:xfrm>
            <a:off x="9671060" y="5458968"/>
            <a:ext cx="2017715" cy="502920"/>
          </a:xfrm>
          <a:prstGeom prst="rect">
            <a:avLst/>
          </a:prstGeom>
          <a:noFill/>
          <a:ln/>
        </p:spPr>
        <p:txBody>
          <a:bodyPr wrap="square" rtlCol="0" anchor="t"/>
          <a:lstStyle/>
          <a:p>
            <a:pPr marL="0" indent="0" algn="ctr">
              <a:buNone/>
            </a:pPr>
            <a:r>
              <a:rPr lang="en-US" sz="1250" b="1" dirty="0">
                <a:solidFill>
                  <a:srgbClr val="1B2A4A"/>
                </a:solidFill>
                <a:latin typeface="Calibri" pitchFamily="34" charset="0"/>
                <a:ea typeface="Calibri" pitchFamily="34" charset="-122"/>
                <a:cs typeface="Calibri" pitchFamily="34" charset="-120"/>
              </a:rPr>
              <a:t>Sales + Inventory</a:t>
            </a:r>
            <a:endParaRPr lang="en-US" sz="1250" dirty="0"/>
          </a:p>
          <a:p>
            <a:pPr marL="0" indent="0" algn="ctr">
              <a:buNone/>
            </a:pPr>
            <a:r>
              <a:rPr lang="en-US" sz="1250" b="1" dirty="0">
                <a:solidFill>
                  <a:srgbClr val="1B2A4A"/>
                </a:solidFill>
                <a:latin typeface="Calibri" pitchFamily="34" charset="0"/>
                <a:ea typeface="Calibri" pitchFamily="34" charset="-122"/>
                <a:cs typeface="Calibri" pitchFamily="34" charset="-120"/>
              </a:rPr>
              <a:t>Opportunities</a:t>
            </a:r>
            <a:endParaRPr lang="en-US" sz="1250" dirty="0"/>
          </a:p>
        </p:txBody>
      </p:sp>
      <p:sp>
        <p:nvSpPr>
          <p:cNvPr id="41" name="Text 31"/>
          <p:cNvSpPr txBox="1"/>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42" name="Text 32"/>
          <p:cNvSpPr txBox="1"/>
          <p:nvPr/>
        </p:nvSpPr>
        <p:spPr>
          <a:xfrm>
            <a:off x="10637215" y="6547104"/>
            <a:ext cx="1097280"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 / 16</a:t>
            </a:r>
            <a:endParaRPr lang="en-US" sz="9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00"/>
                                        <p:tgtEl>
                                          <p:spTgt spid="17"/>
                                        </p:tgtEl>
                                      </p:cBhvr>
                                    </p:animEffect>
                                  </p:childTnLst>
                                </p:cTn>
                              </p:par>
                              <p:par>
                                <p:cTn id="59" presetID="10" presetClass="entr" presetSubtype="0"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500"/>
                                        <p:tgtEl>
                                          <p:spTgt spid="1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00"/>
                                        <p:tgtEl>
                                          <p:spTgt spid="1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500"/>
                                        <p:tgtEl>
                                          <p:spTgt spid="20"/>
                                        </p:tgtEl>
                                      </p:cBhvr>
                                    </p:animEffect>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1000"/>
                                        <p:tgtEl>
                                          <p:spTgt spid="21"/>
                                        </p:tgtEl>
                                      </p:cBhvr>
                                    </p:animEffect>
                                    <p:anim calcmode="lin" valueType="num">
                                      <p:cBhvr>
                                        <p:cTn id="75" dur="1000" fill="hold"/>
                                        <p:tgtEl>
                                          <p:spTgt spid="21"/>
                                        </p:tgtEl>
                                        <p:attrNameLst>
                                          <p:attrName>ppt_x</p:attrName>
                                        </p:attrNameLst>
                                      </p:cBhvr>
                                      <p:tavLst>
                                        <p:tav tm="0">
                                          <p:val>
                                            <p:strVal val="#ppt_x"/>
                                          </p:val>
                                        </p:tav>
                                        <p:tav tm="100000">
                                          <p:val>
                                            <p:strVal val="#ppt_x"/>
                                          </p:val>
                                        </p:tav>
                                      </p:tavLst>
                                    </p:anim>
                                    <p:anim calcmode="lin" valueType="num">
                                      <p:cBhvr>
                                        <p:cTn id="76" dur="1000" fill="hold"/>
                                        <p:tgtEl>
                                          <p:spTgt spid="21"/>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1000"/>
                                        <p:tgtEl>
                                          <p:spTgt spid="22"/>
                                        </p:tgtEl>
                                      </p:cBhvr>
                                    </p:animEffect>
                                    <p:anim calcmode="lin" valueType="num">
                                      <p:cBhvr>
                                        <p:cTn id="80" dur="1000" fill="hold"/>
                                        <p:tgtEl>
                                          <p:spTgt spid="22"/>
                                        </p:tgtEl>
                                        <p:attrNameLst>
                                          <p:attrName>ppt_x</p:attrName>
                                        </p:attrNameLst>
                                      </p:cBhvr>
                                      <p:tavLst>
                                        <p:tav tm="0">
                                          <p:val>
                                            <p:strVal val="#ppt_x"/>
                                          </p:val>
                                        </p:tav>
                                        <p:tav tm="100000">
                                          <p:val>
                                            <p:strVal val="#ppt_x"/>
                                          </p:val>
                                        </p:tav>
                                      </p:tavLst>
                                    </p:anim>
                                    <p:anim calcmode="lin" valueType="num">
                                      <p:cBhvr>
                                        <p:cTn id="81" dur="1000" fill="hold"/>
                                        <p:tgtEl>
                                          <p:spTgt spid="22"/>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1000"/>
                                        <p:tgtEl>
                                          <p:spTgt spid="23"/>
                                        </p:tgtEl>
                                      </p:cBhvr>
                                    </p:animEffect>
                                    <p:anim calcmode="lin" valueType="num">
                                      <p:cBhvr>
                                        <p:cTn id="85" dur="1000" fill="hold"/>
                                        <p:tgtEl>
                                          <p:spTgt spid="23"/>
                                        </p:tgtEl>
                                        <p:attrNameLst>
                                          <p:attrName>ppt_x</p:attrName>
                                        </p:attrNameLst>
                                      </p:cBhvr>
                                      <p:tavLst>
                                        <p:tav tm="0">
                                          <p:val>
                                            <p:strVal val="#ppt_x"/>
                                          </p:val>
                                        </p:tav>
                                        <p:tav tm="100000">
                                          <p:val>
                                            <p:strVal val="#ppt_x"/>
                                          </p:val>
                                        </p:tav>
                                      </p:tavLst>
                                    </p:anim>
                                    <p:anim calcmode="lin" valueType="num">
                                      <p:cBhvr>
                                        <p:cTn id="86" dur="1000" fill="hold"/>
                                        <p:tgtEl>
                                          <p:spTgt spid="23"/>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1000"/>
                                        <p:tgtEl>
                                          <p:spTgt spid="24"/>
                                        </p:tgtEl>
                                      </p:cBhvr>
                                    </p:animEffect>
                                    <p:anim calcmode="lin" valueType="num">
                                      <p:cBhvr>
                                        <p:cTn id="90" dur="1000" fill="hold"/>
                                        <p:tgtEl>
                                          <p:spTgt spid="24"/>
                                        </p:tgtEl>
                                        <p:attrNameLst>
                                          <p:attrName>ppt_x</p:attrName>
                                        </p:attrNameLst>
                                      </p:cBhvr>
                                      <p:tavLst>
                                        <p:tav tm="0">
                                          <p:val>
                                            <p:strVal val="#ppt_x"/>
                                          </p:val>
                                        </p:tav>
                                        <p:tav tm="100000">
                                          <p:val>
                                            <p:strVal val="#ppt_x"/>
                                          </p:val>
                                        </p:tav>
                                      </p:tavLst>
                                    </p:anim>
                                    <p:anim calcmode="lin" valueType="num">
                                      <p:cBhvr>
                                        <p:cTn id="91" dur="1000" fill="hold"/>
                                        <p:tgtEl>
                                          <p:spTgt spid="24"/>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1000"/>
                                        <p:tgtEl>
                                          <p:spTgt spid="25"/>
                                        </p:tgtEl>
                                      </p:cBhvr>
                                    </p:animEffect>
                                    <p:anim calcmode="lin" valueType="num">
                                      <p:cBhvr>
                                        <p:cTn id="95" dur="1000" fill="hold"/>
                                        <p:tgtEl>
                                          <p:spTgt spid="25"/>
                                        </p:tgtEl>
                                        <p:attrNameLst>
                                          <p:attrName>ppt_x</p:attrName>
                                        </p:attrNameLst>
                                      </p:cBhvr>
                                      <p:tavLst>
                                        <p:tav tm="0">
                                          <p:val>
                                            <p:strVal val="#ppt_x"/>
                                          </p:val>
                                        </p:tav>
                                        <p:tav tm="100000">
                                          <p:val>
                                            <p:strVal val="#ppt_x"/>
                                          </p:val>
                                        </p:tav>
                                      </p:tavLst>
                                    </p:anim>
                                    <p:anim calcmode="lin" valueType="num">
                                      <p:cBhvr>
                                        <p:cTn id="96" dur="1000" fill="hold"/>
                                        <p:tgtEl>
                                          <p:spTgt spid="25"/>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1000"/>
                                        <p:tgtEl>
                                          <p:spTgt spid="26"/>
                                        </p:tgtEl>
                                      </p:cBhvr>
                                    </p:animEffect>
                                    <p:anim calcmode="lin" valueType="num">
                                      <p:cBhvr>
                                        <p:cTn id="100" dur="1000" fill="hold"/>
                                        <p:tgtEl>
                                          <p:spTgt spid="26"/>
                                        </p:tgtEl>
                                        <p:attrNameLst>
                                          <p:attrName>ppt_x</p:attrName>
                                        </p:attrNameLst>
                                      </p:cBhvr>
                                      <p:tavLst>
                                        <p:tav tm="0">
                                          <p:val>
                                            <p:strVal val="#ppt_x"/>
                                          </p:val>
                                        </p:tav>
                                        <p:tav tm="100000">
                                          <p:val>
                                            <p:strVal val="#ppt_x"/>
                                          </p:val>
                                        </p:tav>
                                      </p:tavLst>
                                    </p:anim>
                                    <p:anim calcmode="lin" valueType="num">
                                      <p:cBhvr>
                                        <p:cTn id="101" dur="1000" fill="hold"/>
                                        <p:tgtEl>
                                          <p:spTgt spid="26"/>
                                        </p:tgtEl>
                                        <p:attrNameLst>
                                          <p:attrName>ppt_y</p:attrName>
                                        </p:attrNameLst>
                                      </p:cBhvr>
                                      <p:tavLst>
                                        <p:tav tm="0">
                                          <p:val>
                                            <p:strVal val="#ppt_y+.1"/>
                                          </p:val>
                                        </p:tav>
                                        <p:tav tm="100000">
                                          <p:val>
                                            <p:strVal val="#ppt_y"/>
                                          </p:val>
                                        </p:tav>
                                      </p:tavLst>
                                    </p:anim>
                                  </p:childTnLst>
                                </p:cTn>
                              </p:par>
                              <p:par>
                                <p:cTn id="102" presetID="42" presetClass="entr" presetSubtype="0" fill="hold" nodeType="withEffect">
                                  <p:stCondLst>
                                    <p:cond delay="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4" dur="1000"/>
                                        <p:tgtEl>
                                          <p:spTgt spid="27"/>
                                        </p:tgtEl>
                                      </p:cBhvr>
                                    </p:animEffect>
                                    <p:anim calcmode="lin" valueType="num">
                                      <p:cBhvr>
                                        <p:cTn id="105" dur="1000" fill="hold"/>
                                        <p:tgtEl>
                                          <p:spTgt spid="27"/>
                                        </p:tgtEl>
                                        <p:attrNameLst>
                                          <p:attrName>ppt_x</p:attrName>
                                        </p:attrNameLst>
                                      </p:cBhvr>
                                      <p:tavLst>
                                        <p:tav tm="0">
                                          <p:val>
                                            <p:strVal val="#ppt_x"/>
                                          </p:val>
                                        </p:tav>
                                        <p:tav tm="100000">
                                          <p:val>
                                            <p:strVal val="#ppt_x"/>
                                          </p:val>
                                        </p:tav>
                                      </p:tavLst>
                                    </p:anim>
                                    <p:anim calcmode="lin" valueType="num">
                                      <p:cBhvr>
                                        <p:cTn id="106" dur="1000" fill="hold"/>
                                        <p:tgtEl>
                                          <p:spTgt spid="27"/>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09" dur="1000"/>
                                        <p:tgtEl>
                                          <p:spTgt spid="28"/>
                                        </p:tgtEl>
                                      </p:cBhvr>
                                    </p:animEffect>
                                    <p:anim calcmode="lin" valueType="num">
                                      <p:cBhvr>
                                        <p:cTn id="110" dur="1000" fill="hold"/>
                                        <p:tgtEl>
                                          <p:spTgt spid="28"/>
                                        </p:tgtEl>
                                        <p:attrNameLst>
                                          <p:attrName>ppt_x</p:attrName>
                                        </p:attrNameLst>
                                      </p:cBhvr>
                                      <p:tavLst>
                                        <p:tav tm="0">
                                          <p:val>
                                            <p:strVal val="#ppt_x"/>
                                          </p:val>
                                        </p:tav>
                                        <p:tav tm="100000">
                                          <p:val>
                                            <p:strVal val="#ppt_x"/>
                                          </p:val>
                                        </p:tav>
                                      </p:tavLst>
                                    </p:anim>
                                    <p:anim calcmode="lin" valueType="num">
                                      <p:cBhvr>
                                        <p:cTn id="111" dur="1000" fill="hold"/>
                                        <p:tgtEl>
                                          <p:spTgt spid="28"/>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1000"/>
                                        <p:tgtEl>
                                          <p:spTgt spid="29"/>
                                        </p:tgtEl>
                                      </p:cBhvr>
                                    </p:animEffect>
                                    <p:anim calcmode="lin" valueType="num">
                                      <p:cBhvr>
                                        <p:cTn id="115" dur="1000" fill="hold"/>
                                        <p:tgtEl>
                                          <p:spTgt spid="29"/>
                                        </p:tgtEl>
                                        <p:attrNameLst>
                                          <p:attrName>ppt_x</p:attrName>
                                        </p:attrNameLst>
                                      </p:cBhvr>
                                      <p:tavLst>
                                        <p:tav tm="0">
                                          <p:val>
                                            <p:strVal val="#ppt_x"/>
                                          </p:val>
                                        </p:tav>
                                        <p:tav tm="100000">
                                          <p:val>
                                            <p:strVal val="#ppt_x"/>
                                          </p:val>
                                        </p:tav>
                                      </p:tavLst>
                                    </p:anim>
                                    <p:anim calcmode="lin" valueType="num">
                                      <p:cBhvr>
                                        <p:cTn id="116" dur="1000" fill="hold"/>
                                        <p:tgtEl>
                                          <p:spTgt spid="29"/>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1000"/>
                                        <p:tgtEl>
                                          <p:spTgt spid="30"/>
                                        </p:tgtEl>
                                      </p:cBhvr>
                                    </p:animEffect>
                                    <p:anim calcmode="lin" valueType="num">
                                      <p:cBhvr>
                                        <p:cTn id="120" dur="1000" fill="hold"/>
                                        <p:tgtEl>
                                          <p:spTgt spid="30"/>
                                        </p:tgtEl>
                                        <p:attrNameLst>
                                          <p:attrName>ppt_x</p:attrName>
                                        </p:attrNameLst>
                                      </p:cBhvr>
                                      <p:tavLst>
                                        <p:tav tm="0">
                                          <p:val>
                                            <p:strVal val="#ppt_x"/>
                                          </p:val>
                                        </p:tav>
                                        <p:tav tm="100000">
                                          <p:val>
                                            <p:strVal val="#ppt_x"/>
                                          </p:val>
                                        </p:tav>
                                      </p:tavLst>
                                    </p:anim>
                                    <p:anim calcmode="lin" valueType="num">
                                      <p:cBhvr>
                                        <p:cTn id="121" dur="1000" fill="hold"/>
                                        <p:tgtEl>
                                          <p:spTgt spid="30"/>
                                        </p:tgtEl>
                                        <p:attrNameLst>
                                          <p:attrName>ppt_y</p:attrName>
                                        </p:attrNameLst>
                                      </p:cBhvr>
                                      <p:tavLst>
                                        <p:tav tm="0">
                                          <p:val>
                                            <p:strVal val="#ppt_y+.1"/>
                                          </p:val>
                                        </p:tav>
                                        <p:tav tm="100000">
                                          <p:val>
                                            <p:strVal val="#ppt_y"/>
                                          </p:val>
                                        </p:tav>
                                      </p:tavLst>
                                    </p:anim>
                                  </p:childTnLst>
                                </p:cTn>
                              </p:par>
                              <p:par>
                                <p:cTn id="122" presetID="42" presetClass="entr" presetSubtype="0" fill="hold" nodeType="withEffect">
                                  <p:stCondLst>
                                    <p:cond delay="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4" dur="1000"/>
                                        <p:tgtEl>
                                          <p:spTgt spid="31"/>
                                        </p:tgtEl>
                                      </p:cBhvr>
                                    </p:animEffect>
                                    <p:anim calcmode="lin" valueType="num">
                                      <p:cBhvr>
                                        <p:cTn id="125" dur="1000" fill="hold"/>
                                        <p:tgtEl>
                                          <p:spTgt spid="31"/>
                                        </p:tgtEl>
                                        <p:attrNameLst>
                                          <p:attrName>ppt_x</p:attrName>
                                        </p:attrNameLst>
                                      </p:cBhvr>
                                      <p:tavLst>
                                        <p:tav tm="0">
                                          <p:val>
                                            <p:strVal val="#ppt_x"/>
                                          </p:val>
                                        </p:tav>
                                        <p:tav tm="100000">
                                          <p:val>
                                            <p:strVal val="#ppt_x"/>
                                          </p:val>
                                        </p:tav>
                                      </p:tavLst>
                                    </p:anim>
                                    <p:anim calcmode="lin" valueType="num">
                                      <p:cBhvr>
                                        <p:cTn id="126" dur="1000" fill="hold"/>
                                        <p:tgtEl>
                                          <p:spTgt spid="31"/>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29" dur="1000"/>
                                        <p:tgtEl>
                                          <p:spTgt spid="32"/>
                                        </p:tgtEl>
                                      </p:cBhvr>
                                    </p:animEffect>
                                    <p:anim calcmode="lin" valueType="num">
                                      <p:cBhvr>
                                        <p:cTn id="130" dur="1000" fill="hold"/>
                                        <p:tgtEl>
                                          <p:spTgt spid="32"/>
                                        </p:tgtEl>
                                        <p:attrNameLst>
                                          <p:attrName>ppt_x</p:attrName>
                                        </p:attrNameLst>
                                      </p:cBhvr>
                                      <p:tavLst>
                                        <p:tav tm="0">
                                          <p:val>
                                            <p:strVal val="#ppt_x"/>
                                          </p:val>
                                        </p:tav>
                                        <p:tav tm="100000">
                                          <p:val>
                                            <p:strVal val="#ppt_x"/>
                                          </p:val>
                                        </p:tav>
                                      </p:tavLst>
                                    </p:anim>
                                    <p:anim calcmode="lin" valueType="num">
                                      <p:cBhvr>
                                        <p:cTn id="131" dur="1000" fill="hold"/>
                                        <p:tgtEl>
                                          <p:spTgt spid="32"/>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4" dur="1000"/>
                                        <p:tgtEl>
                                          <p:spTgt spid="33"/>
                                        </p:tgtEl>
                                      </p:cBhvr>
                                    </p:animEffect>
                                    <p:anim calcmode="lin" valueType="num">
                                      <p:cBhvr>
                                        <p:cTn id="135" dur="1000" fill="hold"/>
                                        <p:tgtEl>
                                          <p:spTgt spid="33"/>
                                        </p:tgtEl>
                                        <p:attrNameLst>
                                          <p:attrName>ppt_x</p:attrName>
                                        </p:attrNameLst>
                                      </p:cBhvr>
                                      <p:tavLst>
                                        <p:tav tm="0">
                                          <p:val>
                                            <p:strVal val="#ppt_x"/>
                                          </p:val>
                                        </p:tav>
                                        <p:tav tm="100000">
                                          <p:val>
                                            <p:strVal val="#ppt_x"/>
                                          </p:val>
                                        </p:tav>
                                      </p:tavLst>
                                    </p:anim>
                                    <p:anim calcmode="lin" valueType="num">
                                      <p:cBhvr>
                                        <p:cTn id="136" dur="1000" fill="hold"/>
                                        <p:tgtEl>
                                          <p:spTgt spid="33"/>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34"/>
                                        </p:tgtEl>
                                        <p:attrNameLst>
                                          <p:attrName>style.visibility</p:attrName>
                                        </p:attrNameLst>
                                      </p:cBhvr>
                                      <p:to>
                                        <p:strVal val="visible"/>
                                      </p:to>
                                    </p:set>
                                    <p:animEffect transition="in" filter="fade">
                                      <p:cBhvr>
                                        <p:cTn id="139" dur="1000"/>
                                        <p:tgtEl>
                                          <p:spTgt spid="34"/>
                                        </p:tgtEl>
                                      </p:cBhvr>
                                    </p:animEffect>
                                    <p:anim calcmode="lin" valueType="num">
                                      <p:cBhvr>
                                        <p:cTn id="140" dur="1000" fill="hold"/>
                                        <p:tgtEl>
                                          <p:spTgt spid="34"/>
                                        </p:tgtEl>
                                        <p:attrNameLst>
                                          <p:attrName>ppt_x</p:attrName>
                                        </p:attrNameLst>
                                      </p:cBhvr>
                                      <p:tavLst>
                                        <p:tav tm="0">
                                          <p:val>
                                            <p:strVal val="#ppt_x"/>
                                          </p:val>
                                        </p:tav>
                                        <p:tav tm="100000">
                                          <p:val>
                                            <p:strVal val="#ppt_x"/>
                                          </p:val>
                                        </p:tav>
                                      </p:tavLst>
                                    </p:anim>
                                    <p:anim calcmode="lin" valueType="num">
                                      <p:cBhvr>
                                        <p:cTn id="141" dur="1000" fill="hold"/>
                                        <p:tgtEl>
                                          <p:spTgt spid="34"/>
                                        </p:tgtEl>
                                        <p:attrNameLst>
                                          <p:attrName>ppt_y</p:attrName>
                                        </p:attrNameLst>
                                      </p:cBhvr>
                                      <p:tavLst>
                                        <p:tav tm="0">
                                          <p:val>
                                            <p:strVal val="#ppt_y+.1"/>
                                          </p:val>
                                        </p:tav>
                                        <p:tav tm="100000">
                                          <p:val>
                                            <p:strVal val="#ppt_y"/>
                                          </p:val>
                                        </p:tav>
                                      </p:tavLst>
                                    </p:anim>
                                  </p:childTnLst>
                                </p:cTn>
                              </p:par>
                              <p:par>
                                <p:cTn id="142" presetID="42" presetClass="entr" presetSubtype="0" fill="hold" nodeType="withEffect">
                                  <p:stCondLst>
                                    <p:cond delay="0"/>
                                  </p:stCondLst>
                                  <p:childTnLst>
                                    <p:set>
                                      <p:cBhvr>
                                        <p:cTn id="143" dur="1" fill="hold">
                                          <p:stCondLst>
                                            <p:cond delay="0"/>
                                          </p:stCondLst>
                                        </p:cTn>
                                        <p:tgtEl>
                                          <p:spTgt spid="35"/>
                                        </p:tgtEl>
                                        <p:attrNameLst>
                                          <p:attrName>style.visibility</p:attrName>
                                        </p:attrNameLst>
                                      </p:cBhvr>
                                      <p:to>
                                        <p:strVal val="visible"/>
                                      </p:to>
                                    </p:set>
                                    <p:animEffect transition="in" filter="fade">
                                      <p:cBhvr>
                                        <p:cTn id="144" dur="1000"/>
                                        <p:tgtEl>
                                          <p:spTgt spid="35"/>
                                        </p:tgtEl>
                                      </p:cBhvr>
                                    </p:animEffect>
                                    <p:anim calcmode="lin" valueType="num">
                                      <p:cBhvr>
                                        <p:cTn id="145" dur="1000" fill="hold"/>
                                        <p:tgtEl>
                                          <p:spTgt spid="35"/>
                                        </p:tgtEl>
                                        <p:attrNameLst>
                                          <p:attrName>ppt_x</p:attrName>
                                        </p:attrNameLst>
                                      </p:cBhvr>
                                      <p:tavLst>
                                        <p:tav tm="0">
                                          <p:val>
                                            <p:strVal val="#ppt_x"/>
                                          </p:val>
                                        </p:tav>
                                        <p:tav tm="100000">
                                          <p:val>
                                            <p:strVal val="#ppt_x"/>
                                          </p:val>
                                        </p:tav>
                                      </p:tavLst>
                                    </p:anim>
                                    <p:anim calcmode="lin" valueType="num">
                                      <p:cBhvr>
                                        <p:cTn id="146" dur="1000" fill="hold"/>
                                        <p:tgtEl>
                                          <p:spTgt spid="35"/>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36"/>
                                        </p:tgtEl>
                                        <p:attrNameLst>
                                          <p:attrName>style.visibility</p:attrName>
                                        </p:attrNameLst>
                                      </p:cBhvr>
                                      <p:to>
                                        <p:strVal val="visible"/>
                                      </p:to>
                                    </p:set>
                                    <p:animEffect transition="in" filter="fade">
                                      <p:cBhvr>
                                        <p:cTn id="149" dur="1000"/>
                                        <p:tgtEl>
                                          <p:spTgt spid="36"/>
                                        </p:tgtEl>
                                      </p:cBhvr>
                                    </p:animEffect>
                                    <p:anim calcmode="lin" valueType="num">
                                      <p:cBhvr>
                                        <p:cTn id="150" dur="1000" fill="hold"/>
                                        <p:tgtEl>
                                          <p:spTgt spid="36"/>
                                        </p:tgtEl>
                                        <p:attrNameLst>
                                          <p:attrName>ppt_x</p:attrName>
                                        </p:attrNameLst>
                                      </p:cBhvr>
                                      <p:tavLst>
                                        <p:tav tm="0">
                                          <p:val>
                                            <p:strVal val="#ppt_x"/>
                                          </p:val>
                                        </p:tav>
                                        <p:tav tm="100000">
                                          <p:val>
                                            <p:strVal val="#ppt_x"/>
                                          </p:val>
                                        </p:tav>
                                      </p:tavLst>
                                    </p:anim>
                                    <p:anim calcmode="lin" valueType="num">
                                      <p:cBhvr>
                                        <p:cTn id="151" dur="1000" fill="hold"/>
                                        <p:tgtEl>
                                          <p:spTgt spid="36"/>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4" dur="1000"/>
                                        <p:tgtEl>
                                          <p:spTgt spid="37"/>
                                        </p:tgtEl>
                                      </p:cBhvr>
                                    </p:animEffect>
                                    <p:anim calcmode="lin" valueType="num">
                                      <p:cBhvr>
                                        <p:cTn id="155" dur="1000" fill="hold"/>
                                        <p:tgtEl>
                                          <p:spTgt spid="37"/>
                                        </p:tgtEl>
                                        <p:attrNameLst>
                                          <p:attrName>ppt_x</p:attrName>
                                        </p:attrNameLst>
                                      </p:cBhvr>
                                      <p:tavLst>
                                        <p:tav tm="0">
                                          <p:val>
                                            <p:strVal val="#ppt_x"/>
                                          </p:val>
                                        </p:tav>
                                        <p:tav tm="100000">
                                          <p:val>
                                            <p:strVal val="#ppt_x"/>
                                          </p:val>
                                        </p:tav>
                                      </p:tavLst>
                                    </p:anim>
                                    <p:anim calcmode="lin" valueType="num">
                                      <p:cBhvr>
                                        <p:cTn id="156" dur="1000" fill="hold"/>
                                        <p:tgtEl>
                                          <p:spTgt spid="37"/>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38"/>
                                        </p:tgtEl>
                                        <p:attrNameLst>
                                          <p:attrName>style.visibility</p:attrName>
                                        </p:attrNameLst>
                                      </p:cBhvr>
                                      <p:to>
                                        <p:strVal val="visible"/>
                                      </p:to>
                                    </p:set>
                                    <p:animEffect transition="in" filter="fade">
                                      <p:cBhvr>
                                        <p:cTn id="159" dur="1000"/>
                                        <p:tgtEl>
                                          <p:spTgt spid="38"/>
                                        </p:tgtEl>
                                      </p:cBhvr>
                                    </p:animEffect>
                                    <p:anim calcmode="lin" valueType="num">
                                      <p:cBhvr>
                                        <p:cTn id="160" dur="1000" fill="hold"/>
                                        <p:tgtEl>
                                          <p:spTgt spid="38"/>
                                        </p:tgtEl>
                                        <p:attrNameLst>
                                          <p:attrName>ppt_x</p:attrName>
                                        </p:attrNameLst>
                                      </p:cBhvr>
                                      <p:tavLst>
                                        <p:tav tm="0">
                                          <p:val>
                                            <p:strVal val="#ppt_x"/>
                                          </p:val>
                                        </p:tav>
                                        <p:tav tm="100000">
                                          <p:val>
                                            <p:strVal val="#ppt_x"/>
                                          </p:val>
                                        </p:tav>
                                      </p:tavLst>
                                    </p:anim>
                                    <p:anim calcmode="lin" valueType="num">
                                      <p:cBhvr>
                                        <p:cTn id="161" dur="1000" fill="hold"/>
                                        <p:tgtEl>
                                          <p:spTgt spid="38"/>
                                        </p:tgtEl>
                                        <p:attrNameLst>
                                          <p:attrName>ppt_y</p:attrName>
                                        </p:attrNameLst>
                                      </p:cBhvr>
                                      <p:tavLst>
                                        <p:tav tm="0">
                                          <p:val>
                                            <p:strVal val="#ppt_y+.1"/>
                                          </p:val>
                                        </p:tav>
                                        <p:tav tm="100000">
                                          <p:val>
                                            <p:strVal val="#ppt_y"/>
                                          </p:val>
                                        </p:tav>
                                      </p:tavLst>
                                    </p:anim>
                                  </p:childTnLst>
                                </p:cTn>
                              </p:par>
                              <p:par>
                                <p:cTn id="162" presetID="42" presetClass="entr" presetSubtype="0" fill="hold" nodeType="withEffect">
                                  <p:stCondLst>
                                    <p:cond delay="0"/>
                                  </p:stCondLst>
                                  <p:childTnLst>
                                    <p:set>
                                      <p:cBhvr>
                                        <p:cTn id="163" dur="1" fill="hold">
                                          <p:stCondLst>
                                            <p:cond delay="0"/>
                                          </p:stCondLst>
                                        </p:cTn>
                                        <p:tgtEl>
                                          <p:spTgt spid="39"/>
                                        </p:tgtEl>
                                        <p:attrNameLst>
                                          <p:attrName>style.visibility</p:attrName>
                                        </p:attrNameLst>
                                      </p:cBhvr>
                                      <p:to>
                                        <p:strVal val="visible"/>
                                      </p:to>
                                    </p:set>
                                    <p:animEffect transition="in" filter="fade">
                                      <p:cBhvr>
                                        <p:cTn id="164" dur="1000"/>
                                        <p:tgtEl>
                                          <p:spTgt spid="39"/>
                                        </p:tgtEl>
                                      </p:cBhvr>
                                    </p:animEffect>
                                    <p:anim calcmode="lin" valueType="num">
                                      <p:cBhvr>
                                        <p:cTn id="165" dur="1000" fill="hold"/>
                                        <p:tgtEl>
                                          <p:spTgt spid="39"/>
                                        </p:tgtEl>
                                        <p:attrNameLst>
                                          <p:attrName>ppt_x</p:attrName>
                                        </p:attrNameLst>
                                      </p:cBhvr>
                                      <p:tavLst>
                                        <p:tav tm="0">
                                          <p:val>
                                            <p:strVal val="#ppt_x"/>
                                          </p:val>
                                        </p:tav>
                                        <p:tav tm="100000">
                                          <p:val>
                                            <p:strVal val="#ppt_x"/>
                                          </p:val>
                                        </p:tav>
                                      </p:tavLst>
                                    </p:anim>
                                    <p:anim calcmode="lin" valueType="num">
                                      <p:cBhvr>
                                        <p:cTn id="166" dur="1000" fill="hold"/>
                                        <p:tgtEl>
                                          <p:spTgt spid="39"/>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40"/>
                                        </p:tgtEl>
                                        <p:attrNameLst>
                                          <p:attrName>style.visibility</p:attrName>
                                        </p:attrNameLst>
                                      </p:cBhvr>
                                      <p:to>
                                        <p:strVal val="visible"/>
                                      </p:to>
                                    </p:set>
                                    <p:animEffect transition="in" filter="fade">
                                      <p:cBhvr>
                                        <p:cTn id="169" dur="1000"/>
                                        <p:tgtEl>
                                          <p:spTgt spid="40"/>
                                        </p:tgtEl>
                                      </p:cBhvr>
                                    </p:animEffect>
                                    <p:anim calcmode="lin" valueType="num">
                                      <p:cBhvr>
                                        <p:cTn id="170" dur="1000" fill="hold"/>
                                        <p:tgtEl>
                                          <p:spTgt spid="40"/>
                                        </p:tgtEl>
                                        <p:attrNameLst>
                                          <p:attrName>ppt_x</p:attrName>
                                        </p:attrNameLst>
                                      </p:cBhvr>
                                      <p:tavLst>
                                        <p:tav tm="0">
                                          <p:val>
                                            <p:strVal val="#ppt_x"/>
                                          </p:val>
                                        </p:tav>
                                        <p:tav tm="100000">
                                          <p:val>
                                            <p:strVal val="#ppt_x"/>
                                          </p:val>
                                        </p:tav>
                                      </p:tavLst>
                                    </p:anim>
                                    <p:anim calcmode="lin" valueType="num">
                                      <p:cBhvr>
                                        <p:cTn id="171"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8" grpId="0" animBg="1"/>
      <p:bldP spid="29" grpId="0" animBg="1"/>
      <p:bldP spid="30" grpId="0" animBg="1"/>
      <p:bldP spid="32" grpId="0" animBg="1"/>
      <p:bldP spid="33" grpId="0" animBg="1"/>
      <p:bldP spid="34" grpId="0" animBg="1"/>
      <p:bldP spid="36" grpId="0" animBg="1"/>
      <p:bldP spid="37" grpId="0" animBg="1"/>
      <p:bldP spid="38" grpId="0" animBg="1"/>
      <p:bldP spid="4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3" name="Rectangle: Rounded Corners 42">
            <a:extLst>
              <a:ext uri="{FF2B5EF4-FFF2-40B4-BE49-F238E27FC236}">
                <a16:creationId xmlns:a16="http://schemas.microsoft.com/office/drawing/2014/main" id="{6E34B2B6-EEF6-62F0-8D67-46B929EEDA39}"/>
              </a:ext>
            </a:extLst>
          </p:cNvPr>
          <p:cNvSpPr/>
          <p:nvPr/>
        </p:nvSpPr>
        <p:spPr>
          <a:xfrm>
            <a:off x="386519" y="1741099"/>
            <a:ext cx="5572168" cy="3019575"/>
          </a:xfrm>
          <a:prstGeom prst="roundRect">
            <a:avLst>
              <a:gd name="adj" fmla="val 2463"/>
            </a:avLst>
          </a:prstGeom>
          <a:solidFill>
            <a:srgbClr val="E7EAF2"/>
          </a:solidFill>
          <a:ln w="952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txBox="1"/>
          <p:nvPr/>
        </p:nvSpPr>
        <p:spPr>
          <a:xfrm>
            <a:off x="457200" y="365760"/>
            <a:ext cx="11277295" cy="27432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DATABASE DESIGN</a:t>
            </a:r>
            <a:endParaRPr lang="en-US" sz="1200" dirty="0"/>
          </a:p>
        </p:txBody>
      </p:sp>
      <p:sp>
        <p:nvSpPr>
          <p:cNvPr id="3" name="Text 1"/>
          <p:cNvSpPr txBox="1"/>
          <p:nvPr/>
        </p:nvSpPr>
        <p:spPr>
          <a:xfrm>
            <a:off x="457200" y="621792"/>
            <a:ext cx="11277295" cy="548640"/>
          </a:xfrm>
          <a:prstGeom prst="rect">
            <a:avLst/>
          </a:prstGeom>
          <a:noFill/>
          <a:ln/>
        </p:spPr>
        <p:txBody>
          <a:bodyPr wrap="square" rtlCol="0" anchor="ctr"/>
          <a:lstStyle/>
          <a:p>
            <a:pPr marL="0" indent="0">
              <a:buNone/>
            </a:pPr>
            <a:r>
              <a:rPr lang="en-US" sz="2900" b="1" dirty="0">
                <a:solidFill>
                  <a:srgbClr val="D6A300"/>
                </a:solidFill>
                <a:latin typeface="Cambria" pitchFamily="34" charset="0"/>
                <a:ea typeface="Cambria" pitchFamily="34" charset="-122"/>
                <a:cs typeface="Cambria" pitchFamily="34" charset="-120"/>
              </a:rPr>
              <a:t>BookVerse </a:t>
            </a:r>
            <a:r>
              <a:rPr lang="en-US" sz="2900" b="1" dirty="0">
                <a:solidFill>
                  <a:srgbClr val="1B2A4A"/>
                </a:solidFill>
                <a:latin typeface="Cambria" pitchFamily="34" charset="0"/>
                <a:ea typeface="Cambria" pitchFamily="34" charset="-122"/>
                <a:cs typeface="Cambria" pitchFamily="34" charset="-120"/>
              </a:rPr>
              <a:t>: the Relational Database (ER Diagram)</a:t>
            </a:r>
            <a:endParaRPr lang="en-US" sz="2900" dirty="0"/>
          </a:p>
        </p:txBody>
      </p:sp>
      <p:sp>
        <p:nvSpPr>
          <p:cNvPr id="50" name="Text 48"/>
          <p:cNvSpPr txBox="1"/>
          <p:nvPr/>
        </p:nvSpPr>
        <p:spPr>
          <a:xfrm>
            <a:off x="457200" y="1372991"/>
            <a:ext cx="7315200" cy="274320"/>
          </a:xfrm>
          <a:prstGeom prst="rect">
            <a:avLst/>
          </a:prstGeom>
          <a:noFill/>
          <a:ln/>
        </p:spPr>
        <p:txBody>
          <a:bodyPr wrap="square" rtlCol="0" anchor="ctr"/>
          <a:lstStyle/>
          <a:p>
            <a:pPr marL="0" indent="0">
              <a:buNone/>
            </a:pPr>
            <a:r>
              <a:rPr lang="en-US" sz="1150" b="1" kern="0" spc="100" dirty="0">
                <a:solidFill>
                  <a:srgbClr val="1B2A4A"/>
                </a:solidFill>
                <a:latin typeface="Calibri" pitchFamily="34" charset="0"/>
                <a:ea typeface="Calibri" pitchFamily="34" charset="-122"/>
                <a:cs typeface="Calibri" pitchFamily="34" charset="-120"/>
              </a:rPr>
              <a:t>HOW THE TABLES CONNECT ???</a:t>
            </a:r>
            <a:endParaRPr lang="en-US" sz="1150" dirty="0"/>
          </a:p>
        </p:txBody>
      </p:sp>
      <p:sp>
        <p:nvSpPr>
          <p:cNvPr id="51" name="Text 49"/>
          <p:cNvSpPr txBox="1"/>
          <p:nvPr/>
        </p:nvSpPr>
        <p:spPr>
          <a:xfrm>
            <a:off x="386520" y="5237553"/>
            <a:ext cx="5361137" cy="1254687"/>
          </a:xfrm>
          <a:prstGeom prst="rect">
            <a:avLst/>
          </a:prstGeom>
          <a:noFill/>
          <a:ln/>
        </p:spPr>
        <p:txBody>
          <a:bodyPr wrap="square" rtlCol="0" anchor="t"/>
          <a:lstStyle/>
          <a:p>
            <a:pPr marL="177800" indent="-177800" algn="just">
              <a:lnSpc>
                <a:spcPct val="115000"/>
              </a:lnSpc>
              <a:spcAft>
                <a:spcPts val="1000"/>
              </a:spcAft>
              <a:buSzPct val="100000"/>
              <a:buChar char="•"/>
            </a:pPr>
            <a:r>
              <a:rPr lang="en-US" sz="1350" dirty="0">
                <a:solidFill>
                  <a:srgbClr val="23262F"/>
                </a:solidFill>
                <a:latin typeface="Calibri" pitchFamily="34" charset="0"/>
                <a:ea typeface="Calibri" pitchFamily="34" charset="-122"/>
                <a:cs typeface="Calibri" pitchFamily="34" charset="-120"/>
              </a:rPr>
              <a:t>Customers can place multiple orders (one customer → many orders).</a:t>
            </a:r>
            <a:endParaRPr lang="en-US" sz="1350" dirty="0"/>
          </a:p>
          <a:p>
            <a:pPr marL="177800" indent="-177800" algn="just">
              <a:lnSpc>
                <a:spcPct val="115000"/>
              </a:lnSpc>
              <a:spcAft>
                <a:spcPts val="1000"/>
              </a:spcAft>
              <a:buSzPct val="100000"/>
              <a:buChar char="•"/>
            </a:pPr>
            <a:r>
              <a:rPr lang="en-US" sz="1350" dirty="0">
                <a:solidFill>
                  <a:srgbClr val="23262F"/>
                </a:solidFill>
                <a:latin typeface="Calibri" pitchFamily="34" charset="0"/>
                <a:ea typeface="Calibri" pitchFamily="34" charset="-122"/>
                <a:cs typeface="Calibri" pitchFamily="34" charset="-120"/>
              </a:rPr>
              <a:t>Books can appear in multiple orders (one book → many orders).</a:t>
            </a:r>
            <a:endParaRPr lang="en-US" sz="1350" dirty="0"/>
          </a:p>
          <a:p>
            <a:pPr marL="177800" indent="-177800" algn="just">
              <a:lnSpc>
                <a:spcPct val="115000"/>
              </a:lnSpc>
              <a:spcAft>
                <a:spcPts val="1000"/>
              </a:spcAft>
              <a:buSzPct val="100000"/>
              <a:buChar char="•"/>
            </a:pPr>
            <a:r>
              <a:rPr lang="en-US" sz="1350" dirty="0">
                <a:solidFill>
                  <a:srgbClr val="23262F"/>
                </a:solidFill>
                <a:latin typeface="Calibri" pitchFamily="34" charset="0"/>
                <a:ea typeface="Calibri" pitchFamily="34" charset="-122"/>
                <a:cs typeface="Calibri" pitchFamily="34" charset="-120"/>
              </a:rPr>
              <a:t>Orders is the connecting table linking customers and books together.</a:t>
            </a:r>
            <a:endParaRPr lang="en-US" sz="1350" dirty="0"/>
          </a:p>
        </p:txBody>
      </p:sp>
      <p:sp>
        <p:nvSpPr>
          <p:cNvPr id="53" name="Text 51"/>
          <p:cNvSpPr txBox="1"/>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54" name="Text 52"/>
          <p:cNvSpPr txBox="1"/>
          <p:nvPr/>
        </p:nvSpPr>
        <p:spPr>
          <a:xfrm>
            <a:off x="10637215" y="6547104"/>
            <a:ext cx="1097280"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 / 16</a:t>
            </a:r>
            <a:endParaRPr lang="en-US" sz="900" dirty="0"/>
          </a:p>
        </p:txBody>
      </p:sp>
      <p:pic>
        <p:nvPicPr>
          <p:cNvPr id="56" name="Picture 55">
            <a:extLst>
              <a:ext uri="{FF2B5EF4-FFF2-40B4-BE49-F238E27FC236}">
                <a16:creationId xmlns:a16="http://schemas.microsoft.com/office/drawing/2014/main" id="{7F7BFB43-4EF9-1FF7-D5DC-22882F669460}"/>
              </a:ext>
            </a:extLst>
          </p:cNvPr>
          <p:cNvPicPr>
            <a:picLocks noChangeAspect="1"/>
          </p:cNvPicPr>
          <p:nvPr/>
        </p:nvPicPr>
        <p:blipFill>
          <a:blip r:embed="rId3"/>
          <a:stretch>
            <a:fillRect/>
          </a:stretch>
        </p:blipFill>
        <p:spPr>
          <a:xfrm>
            <a:off x="6233314" y="1616258"/>
            <a:ext cx="5625870" cy="389980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1" name="TextBox 40">
            <a:extLst>
              <a:ext uri="{FF2B5EF4-FFF2-40B4-BE49-F238E27FC236}">
                <a16:creationId xmlns:a16="http://schemas.microsoft.com/office/drawing/2014/main" id="{CBF19DAD-DD66-319F-0D57-09A386BBE960}"/>
              </a:ext>
            </a:extLst>
          </p:cNvPr>
          <p:cNvSpPr txBox="1"/>
          <p:nvPr/>
        </p:nvSpPr>
        <p:spPr>
          <a:xfrm>
            <a:off x="457201" y="1841975"/>
            <a:ext cx="5360126" cy="2793072"/>
          </a:xfrm>
          <a:prstGeom prst="rect">
            <a:avLst/>
          </a:prstGeom>
          <a:noFill/>
        </p:spPr>
        <p:txBody>
          <a:bodyPr wrap="square" rtlCol="0">
            <a:spAutoFit/>
          </a:bodyPr>
          <a:lstStyle/>
          <a:p>
            <a:pPr algn="just"/>
            <a:r>
              <a:rPr lang="en-US" sz="1350" dirty="0"/>
              <a:t>The architecture maps real-world retail activity through specific database rules:</a:t>
            </a:r>
          </a:p>
          <a:p>
            <a:pPr algn="just"/>
            <a:endParaRPr lang="en-US" sz="1350" dirty="0"/>
          </a:p>
          <a:p>
            <a:pPr marL="285750" indent="-285750" algn="just">
              <a:buFont typeface="Arial" panose="020B0604020202020204" pitchFamily="34" charset="0"/>
              <a:buChar char="•"/>
            </a:pPr>
            <a:r>
              <a:rPr lang="en-US" sz="1350" b="1" dirty="0">
                <a:solidFill>
                  <a:srgbClr val="1B2A4A"/>
                </a:solidFill>
              </a:rPr>
              <a:t>One-to-Many Connections</a:t>
            </a:r>
            <a:r>
              <a:rPr lang="en-US" sz="1350" dirty="0"/>
              <a:t>: One customer can make multiple distinct purchases over time, and one single book catalog option can be sold across many separate customer bills.</a:t>
            </a:r>
          </a:p>
          <a:p>
            <a:pPr marL="285750" indent="-285750" algn="just">
              <a:buFont typeface="Arial" panose="020B0604020202020204" pitchFamily="34" charset="0"/>
              <a:buChar char="•"/>
            </a:pPr>
            <a:endParaRPr lang="en-US" sz="1350" dirty="0"/>
          </a:p>
          <a:p>
            <a:pPr marL="285750" indent="-285750" algn="just">
              <a:buFont typeface="Arial" panose="020B0604020202020204" pitchFamily="34" charset="0"/>
              <a:buChar char="•"/>
            </a:pPr>
            <a:r>
              <a:rPr lang="en-US" sz="1350" b="1" dirty="0">
                <a:solidFill>
                  <a:srgbClr val="1B2A4A"/>
                </a:solidFill>
              </a:rPr>
              <a:t>The Connecting Table</a:t>
            </a:r>
            <a:r>
              <a:rPr lang="en-US" sz="1350" dirty="0"/>
              <a:t>: The orders table serves as a bridge/junction table between the other two. It pulls the unique primary keys (Customer_ID and Book_ID) from their origin tables and houses them as Foreign Keys. This link effectively maps an infinite string of dynamic purchases between any single customer and any single book title without causing data redundancy.</a:t>
            </a:r>
          </a:p>
        </p:txBody>
      </p:sp>
      <p:sp>
        <p:nvSpPr>
          <p:cNvPr id="42" name="TextBox 41">
            <a:extLst>
              <a:ext uri="{FF2B5EF4-FFF2-40B4-BE49-F238E27FC236}">
                <a16:creationId xmlns:a16="http://schemas.microsoft.com/office/drawing/2014/main" id="{A30BB83C-ABDB-8110-F812-632472E1A2E6}"/>
              </a:ext>
            </a:extLst>
          </p:cNvPr>
          <p:cNvSpPr txBox="1"/>
          <p:nvPr/>
        </p:nvSpPr>
        <p:spPr>
          <a:xfrm>
            <a:off x="457201" y="4876285"/>
            <a:ext cx="2146662" cy="300082"/>
          </a:xfrm>
          <a:prstGeom prst="rect">
            <a:avLst/>
          </a:prstGeom>
          <a:noFill/>
        </p:spPr>
        <p:txBody>
          <a:bodyPr wrap="square" rtlCol="0">
            <a:spAutoFit/>
          </a:bodyPr>
          <a:lstStyle/>
          <a:p>
            <a:r>
              <a:rPr lang="en-US" sz="1350" b="1" dirty="0">
                <a:solidFill>
                  <a:srgbClr val="1B2A4A"/>
                </a:solidFill>
              </a:rPr>
              <a:t>In Short -</a:t>
            </a:r>
            <a:endParaRPr lang="en-IN" sz="1350" b="1" dirty="0">
              <a:solidFill>
                <a:srgbClr val="1B2A4A"/>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randombar(horizontal)">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fade">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p:cTn id="17" dur="500" fill="hold"/>
                                        <p:tgtEl>
                                          <p:spTgt spid="43"/>
                                        </p:tgtEl>
                                        <p:attrNameLst>
                                          <p:attrName>ppt_w</p:attrName>
                                        </p:attrNameLst>
                                      </p:cBhvr>
                                      <p:tavLst>
                                        <p:tav tm="0">
                                          <p:val>
                                            <p:fltVal val="0"/>
                                          </p:val>
                                        </p:tav>
                                        <p:tav tm="100000">
                                          <p:val>
                                            <p:strVal val="#ppt_w"/>
                                          </p:val>
                                        </p:tav>
                                      </p:tavLst>
                                    </p:anim>
                                    <p:anim calcmode="lin" valueType="num">
                                      <p:cBhvr>
                                        <p:cTn id="18" dur="500" fill="hold"/>
                                        <p:tgtEl>
                                          <p:spTgt spid="43"/>
                                        </p:tgtEl>
                                        <p:attrNameLst>
                                          <p:attrName>ppt_h</p:attrName>
                                        </p:attrNameLst>
                                      </p:cBhvr>
                                      <p:tavLst>
                                        <p:tav tm="0">
                                          <p:val>
                                            <p:fltVal val="0"/>
                                          </p:val>
                                        </p:tav>
                                        <p:tav tm="100000">
                                          <p:val>
                                            <p:strVal val="#ppt_h"/>
                                          </p:val>
                                        </p:tav>
                                      </p:tavLst>
                                    </p:anim>
                                    <p:animEffect transition="in" filter="fade">
                                      <p:cBhvr>
                                        <p:cTn id="19" dur="500"/>
                                        <p:tgtEl>
                                          <p:spTgt spid="43"/>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1">
                                            <p:txEl>
                                              <p:pRg st="0" end="0"/>
                                            </p:txEl>
                                          </p:spTgt>
                                        </p:tgtEl>
                                        <p:attrNameLst>
                                          <p:attrName>style.visibility</p:attrName>
                                        </p:attrNameLst>
                                      </p:cBhvr>
                                      <p:to>
                                        <p:strVal val="visible"/>
                                      </p:to>
                                    </p:set>
                                    <p:anim calcmode="lin" valueType="num">
                                      <p:cBhvr>
                                        <p:cTn id="22" dur="500" fill="hold"/>
                                        <p:tgtEl>
                                          <p:spTgt spid="41">
                                            <p:txEl>
                                              <p:pRg st="0" end="0"/>
                                            </p:txEl>
                                          </p:spTgt>
                                        </p:tgtEl>
                                        <p:attrNameLst>
                                          <p:attrName>ppt_w</p:attrName>
                                        </p:attrNameLst>
                                      </p:cBhvr>
                                      <p:tavLst>
                                        <p:tav tm="0">
                                          <p:val>
                                            <p:fltVal val="0"/>
                                          </p:val>
                                        </p:tav>
                                        <p:tav tm="100000">
                                          <p:val>
                                            <p:strVal val="#ppt_w"/>
                                          </p:val>
                                        </p:tav>
                                      </p:tavLst>
                                    </p:anim>
                                    <p:anim calcmode="lin" valueType="num">
                                      <p:cBhvr>
                                        <p:cTn id="23" dur="500" fill="hold"/>
                                        <p:tgtEl>
                                          <p:spTgt spid="41">
                                            <p:txEl>
                                              <p:pRg st="0" end="0"/>
                                            </p:txEl>
                                          </p:spTgt>
                                        </p:tgtEl>
                                        <p:attrNameLst>
                                          <p:attrName>ppt_h</p:attrName>
                                        </p:attrNameLst>
                                      </p:cBhvr>
                                      <p:tavLst>
                                        <p:tav tm="0">
                                          <p:val>
                                            <p:fltVal val="0"/>
                                          </p:val>
                                        </p:tav>
                                        <p:tav tm="100000">
                                          <p:val>
                                            <p:strVal val="#ppt_h"/>
                                          </p:val>
                                        </p:tav>
                                      </p:tavLst>
                                    </p:anim>
                                    <p:animEffect transition="in" filter="fade">
                                      <p:cBhvr>
                                        <p:cTn id="24" dur="500"/>
                                        <p:tgtEl>
                                          <p:spTgt spid="41">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41">
                                            <p:txEl>
                                              <p:pRg st="2" end="2"/>
                                            </p:txEl>
                                          </p:spTgt>
                                        </p:tgtEl>
                                        <p:attrNameLst>
                                          <p:attrName>style.visibility</p:attrName>
                                        </p:attrNameLst>
                                      </p:cBhvr>
                                      <p:to>
                                        <p:strVal val="visible"/>
                                      </p:to>
                                    </p:set>
                                    <p:anim calcmode="lin" valueType="num">
                                      <p:cBhvr>
                                        <p:cTn id="29" dur="500" fill="hold"/>
                                        <p:tgtEl>
                                          <p:spTgt spid="41">
                                            <p:txEl>
                                              <p:pRg st="2" end="2"/>
                                            </p:txEl>
                                          </p:spTgt>
                                        </p:tgtEl>
                                        <p:attrNameLst>
                                          <p:attrName>ppt_w</p:attrName>
                                        </p:attrNameLst>
                                      </p:cBhvr>
                                      <p:tavLst>
                                        <p:tav tm="0">
                                          <p:val>
                                            <p:fltVal val="0"/>
                                          </p:val>
                                        </p:tav>
                                        <p:tav tm="100000">
                                          <p:val>
                                            <p:strVal val="#ppt_w"/>
                                          </p:val>
                                        </p:tav>
                                      </p:tavLst>
                                    </p:anim>
                                    <p:anim calcmode="lin" valueType="num">
                                      <p:cBhvr>
                                        <p:cTn id="30" dur="500" fill="hold"/>
                                        <p:tgtEl>
                                          <p:spTgt spid="41">
                                            <p:txEl>
                                              <p:pRg st="2" end="2"/>
                                            </p:txEl>
                                          </p:spTgt>
                                        </p:tgtEl>
                                        <p:attrNameLst>
                                          <p:attrName>ppt_h</p:attrName>
                                        </p:attrNameLst>
                                      </p:cBhvr>
                                      <p:tavLst>
                                        <p:tav tm="0">
                                          <p:val>
                                            <p:fltVal val="0"/>
                                          </p:val>
                                        </p:tav>
                                        <p:tav tm="100000">
                                          <p:val>
                                            <p:strVal val="#ppt_h"/>
                                          </p:val>
                                        </p:tav>
                                      </p:tavLst>
                                    </p:anim>
                                    <p:animEffect transition="in" filter="fade">
                                      <p:cBhvr>
                                        <p:cTn id="31" dur="500"/>
                                        <p:tgtEl>
                                          <p:spTgt spid="41">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41">
                                            <p:txEl>
                                              <p:pRg st="4" end="4"/>
                                            </p:txEl>
                                          </p:spTgt>
                                        </p:tgtEl>
                                        <p:attrNameLst>
                                          <p:attrName>style.visibility</p:attrName>
                                        </p:attrNameLst>
                                      </p:cBhvr>
                                      <p:to>
                                        <p:strVal val="visible"/>
                                      </p:to>
                                    </p:set>
                                    <p:anim calcmode="lin" valueType="num">
                                      <p:cBhvr>
                                        <p:cTn id="36" dur="500" fill="hold"/>
                                        <p:tgtEl>
                                          <p:spTgt spid="41">
                                            <p:txEl>
                                              <p:pRg st="4" end="4"/>
                                            </p:txEl>
                                          </p:spTgt>
                                        </p:tgtEl>
                                        <p:attrNameLst>
                                          <p:attrName>ppt_w</p:attrName>
                                        </p:attrNameLst>
                                      </p:cBhvr>
                                      <p:tavLst>
                                        <p:tav tm="0">
                                          <p:val>
                                            <p:fltVal val="0"/>
                                          </p:val>
                                        </p:tav>
                                        <p:tav tm="100000">
                                          <p:val>
                                            <p:strVal val="#ppt_w"/>
                                          </p:val>
                                        </p:tav>
                                      </p:tavLst>
                                    </p:anim>
                                    <p:anim calcmode="lin" valueType="num">
                                      <p:cBhvr>
                                        <p:cTn id="37" dur="500" fill="hold"/>
                                        <p:tgtEl>
                                          <p:spTgt spid="41">
                                            <p:txEl>
                                              <p:pRg st="4" end="4"/>
                                            </p:txEl>
                                          </p:spTgt>
                                        </p:tgtEl>
                                        <p:attrNameLst>
                                          <p:attrName>ppt_h</p:attrName>
                                        </p:attrNameLst>
                                      </p:cBhvr>
                                      <p:tavLst>
                                        <p:tav tm="0">
                                          <p:val>
                                            <p:fltVal val="0"/>
                                          </p:val>
                                        </p:tav>
                                        <p:tav tm="100000">
                                          <p:val>
                                            <p:strVal val="#ppt_h"/>
                                          </p:val>
                                        </p:tav>
                                      </p:tavLst>
                                    </p:anim>
                                    <p:animEffect transition="in" filter="fade">
                                      <p:cBhvr>
                                        <p:cTn id="38" dur="500"/>
                                        <p:tgtEl>
                                          <p:spTgt spid="41">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51">
                                            <p:bg/>
                                          </p:spTgt>
                                        </p:tgtEl>
                                        <p:attrNameLst>
                                          <p:attrName>style.visibility</p:attrName>
                                        </p:attrNameLst>
                                      </p:cBhvr>
                                      <p:to>
                                        <p:strVal val="visible"/>
                                      </p:to>
                                    </p:set>
                                    <p:animEffect transition="in" filter="wipe(up)">
                                      <p:cBhvr>
                                        <p:cTn id="48" dur="500"/>
                                        <p:tgtEl>
                                          <p:spTgt spid="51">
                                            <p:bg/>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51">
                                            <p:txEl>
                                              <p:pRg st="0" end="0"/>
                                            </p:txEl>
                                          </p:spTgt>
                                        </p:tgtEl>
                                        <p:attrNameLst>
                                          <p:attrName>style.visibility</p:attrName>
                                        </p:attrNameLst>
                                      </p:cBhvr>
                                      <p:to>
                                        <p:strVal val="visible"/>
                                      </p:to>
                                    </p:set>
                                    <p:animEffect transition="in" filter="wipe(up)">
                                      <p:cBhvr>
                                        <p:cTn id="53" dur="500"/>
                                        <p:tgtEl>
                                          <p:spTgt spid="51">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51">
                                            <p:txEl>
                                              <p:pRg st="1" end="1"/>
                                            </p:txEl>
                                          </p:spTgt>
                                        </p:tgtEl>
                                        <p:attrNameLst>
                                          <p:attrName>style.visibility</p:attrName>
                                        </p:attrNameLst>
                                      </p:cBhvr>
                                      <p:to>
                                        <p:strVal val="visible"/>
                                      </p:to>
                                    </p:set>
                                    <p:animEffect transition="in" filter="wipe(up)">
                                      <p:cBhvr>
                                        <p:cTn id="58" dur="500"/>
                                        <p:tgtEl>
                                          <p:spTgt spid="51">
                                            <p:txEl>
                                              <p:pRg st="1" end="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51">
                                            <p:txEl>
                                              <p:pRg st="2" end="2"/>
                                            </p:txEl>
                                          </p:spTgt>
                                        </p:tgtEl>
                                        <p:attrNameLst>
                                          <p:attrName>style.visibility</p:attrName>
                                        </p:attrNameLst>
                                      </p:cBhvr>
                                      <p:to>
                                        <p:strVal val="visible"/>
                                      </p:to>
                                    </p:set>
                                    <p:animEffect transition="in" filter="wipe(up)">
                                      <p:cBhvr>
                                        <p:cTn id="63" dur="500"/>
                                        <p:tgtEl>
                                          <p:spTgt spid="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50" grpId="0" animBg="1"/>
      <p:bldP spid="51" grpId="0" build="p" animBg="1"/>
      <p:bldP spid="41" grpId="0" uiExpand="1" build="p"/>
      <p:bldP spid="42"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02336"/>
            <a:ext cx="11277295" cy="27432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DATABASE IMPLEMENTATION</a:t>
            </a:r>
            <a:endParaRPr lang="en-US" sz="1200" dirty="0"/>
          </a:p>
        </p:txBody>
      </p:sp>
      <p:sp>
        <p:nvSpPr>
          <p:cNvPr id="3" name="Text 1"/>
          <p:cNvSpPr txBox="1"/>
          <p:nvPr/>
        </p:nvSpPr>
        <p:spPr>
          <a:xfrm>
            <a:off x="457200" y="658368"/>
            <a:ext cx="11277295" cy="548640"/>
          </a:xfrm>
          <a:prstGeom prst="rect">
            <a:avLst/>
          </a:prstGeom>
          <a:noFill/>
          <a:ln/>
        </p:spPr>
        <p:txBody>
          <a:bodyPr wrap="square" rtlCol="0" anchor="ctr"/>
          <a:lstStyle/>
          <a:p>
            <a:pPr marL="0" indent="0">
              <a:buNone/>
            </a:pPr>
            <a:r>
              <a:rPr lang="en-US" sz="2900" b="1" dirty="0">
                <a:solidFill>
                  <a:srgbClr val="00758F"/>
                </a:solidFill>
                <a:latin typeface="sans-serif typeface"/>
                <a:ea typeface="Cambria" panose="02040503050406030204" pitchFamily="18" charset="0"/>
                <a:cs typeface="Cambria" pitchFamily="34" charset="-120"/>
              </a:rPr>
              <a:t>M</a:t>
            </a:r>
            <a:r>
              <a:rPr lang="en-US" sz="2900" b="1" i="1" dirty="0">
                <a:solidFill>
                  <a:srgbClr val="00758F"/>
                </a:solidFill>
                <a:latin typeface="sans-serif typeface"/>
                <a:ea typeface="Cambria" panose="02040503050406030204" pitchFamily="18" charset="0"/>
                <a:cs typeface="Cambria" pitchFamily="34" charset="-120"/>
              </a:rPr>
              <a:t>y</a:t>
            </a:r>
            <a:r>
              <a:rPr lang="en-US" sz="2900" b="1" dirty="0">
                <a:solidFill>
                  <a:srgbClr val="F29111"/>
                </a:solidFill>
                <a:latin typeface="sans-serif typeface"/>
                <a:ea typeface="Cambria" panose="02040503050406030204" pitchFamily="18" charset="0"/>
                <a:cs typeface="Cambria" pitchFamily="34" charset="-120"/>
              </a:rPr>
              <a:t>SQL</a:t>
            </a:r>
            <a:r>
              <a:rPr lang="en-US" sz="2900" b="1" i="1" dirty="0">
                <a:solidFill>
                  <a:srgbClr val="1B2A4A"/>
                </a:solidFill>
                <a:latin typeface="Cambria" pitchFamily="34" charset="0"/>
                <a:ea typeface="Cambria" pitchFamily="34" charset="-122"/>
                <a:cs typeface="Cambria" pitchFamily="34" charset="-120"/>
              </a:rPr>
              <a:t> </a:t>
            </a:r>
            <a:r>
              <a:rPr lang="en-US" sz="2900" b="1" dirty="0">
                <a:solidFill>
                  <a:srgbClr val="1B2A4A"/>
                </a:solidFill>
                <a:latin typeface="Cambria" pitchFamily="34" charset="0"/>
                <a:ea typeface="Cambria" pitchFamily="34" charset="-122"/>
                <a:cs typeface="Cambria" pitchFamily="34" charset="-120"/>
              </a:rPr>
              <a:t>Database Setup &amp; Data Validation</a:t>
            </a:r>
            <a:endParaRPr lang="en-US" sz="2900" dirty="0"/>
          </a:p>
        </p:txBody>
      </p:sp>
      <p:sp>
        <p:nvSpPr>
          <p:cNvPr id="4" name="Text 2"/>
          <p:cNvSpPr txBox="1"/>
          <p:nvPr/>
        </p:nvSpPr>
        <p:spPr>
          <a:xfrm>
            <a:off x="457200" y="1426464"/>
            <a:ext cx="5410048" cy="274320"/>
          </a:xfrm>
          <a:prstGeom prst="rect">
            <a:avLst/>
          </a:prstGeom>
          <a:noFill/>
          <a:ln/>
        </p:spPr>
        <p:txBody>
          <a:bodyPr wrap="square" rtlCol="0" anchor="ctr"/>
          <a:lstStyle/>
          <a:p>
            <a:pPr marL="0" indent="0">
              <a:buNone/>
            </a:pPr>
            <a:r>
              <a:rPr lang="en-US" sz="1350" b="1" kern="0" spc="100" dirty="0">
                <a:solidFill>
                  <a:srgbClr val="1B2A4A"/>
                </a:solidFill>
                <a:latin typeface="Calibri" pitchFamily="34" charset="0"/>
                <a:ea typeface="Calibri" pitchFamily="34" charset="-122"/>
                <a:cs typeface="Calibri" pitchFamily="34" charset="-120"/>
              </a:rPr>
              <a:t>IMPLEMENTATION STEPS (WORKBENCH)</a:t>
            </a:r>
            <a:endParaRPr lang="en-US" sz="1350" dirty="0"/>
          </a:p>
        </p:txBody>
      </p:sp>
      <p:sp>
        <p:nvSpPr>
          <p:cNvPr id="5" name="Text 3"/>
          <p:cNvSpPr txBox="1"/>
          <p:nvPr/>
        </p:nvSpPr>
        <p:spPr>
          <a:xfrm>
            <a:off x="457200" y="1814901"/>
            <a:ext cx="5410048" cy="2514600"/>
          </a:xfrm>
          <a:prstGeom prst="rect">
            <a:avLst/>
          </a:prstGeom>
          <a:noFill/>
          <a:ln/>
        </p:spPr>
        <p:txBody>
          <a:bodyPr wrap="square" rtlCol="0" anchor="t"/>
          <a:lstStyle/>
          <a:p>
            <a:pPr marL="0" indent="0" algn="just">
              <a:lnSpc>
                <a:spcPct val="115000"/>
              </a:lnSpc>
              <a:buNone/>
            </a:pPr>
            <a:r>
              <a:rPr lang="en-US" sz="1400" b="1" dirty="0">
                <a:solidFill>
                  <a:srgbClr val="C9A227"/>
                </a:solidFill>
                <a:latin typeface="Calibri" pitchFamily="34" charset="0"/>
                <a:ea typeface="Calibri" pitchFamily="34" charset="-122"/>
                <a:cs typeface="Calibri" pitchFamily="34" charset="-120"/>
              </a:rPr>
              <a:t>1.  </a:t>
            </a:r>
            <a:r>
              <a:rPr lang="en-US" sz="1400" dirty="0">
                <a:solidFill>
                  <a:srgbClr val="23262F"/>
                </a:solidFill>
                <a:latin typeface="Calibri" pitchFamily="34" charset="0"/>
                <a:ea typeface="Calibri" pitchFamily="34" charset="-122"/>
                <a:cs typeface="Calibri" pitchFamily="34" charset="-120"/>
              </a:rPr>
              <a:t>CREATE DATABASE BookVerse_DB</a:t>
            </a:r>
            <a:endParaRPr lang="en-US" sz="1400" dirty="0"/>
          </a:p>
          <a:p>
            <a:pPr marL="0" indent="0" algn="just">
              <a:lnSpc>
                <a:spcPct val="115000"/>
              </a:lnSpc>
              <a:buNone/>
            </a:pPr>
            <a:r>
              <a:rPr lang="en-US" sz="1400" b="1" dirty="0">
                <a:solidFill>
                  <a:srgbClr val="C9A227"/>
                </a:solidFill>
                <a:latin typeface="Calibri" pitchFamily="34" charset="0"/>
                <a:ea typeface="Calibri" pitchFamily="34" charset="-122"/>
                <a:cs typeface="Calibri" pitchFamily="34" charset="-120"/>
              </a:rPr>
              <a:t>2.  </a:t>
            </a:r>
            <a:r>
              <a:rPr lang="en-US" sz="1400" dirty="0">
                <a:solidFill>
                  <a:srgbClr val="23262F"/>
                </a:solidFill>
                <a:latin typeface="Calibri" pitchFamily="34" charset="0"/>
                <a:ea typeface="Calibri" pitchFamily="34" charset="-122"/>
                <a:cs typeface="Calibri" pitchFamily="34" charset="-120"/>
              </a:rPr>
              <a:t>CREATE TABLE Books, Customers and Orders</a:t>
            </a:r>
            <a:endParaRPr lang="en-US" sz="1400" dirty="0"/>
          </a:p>
          <a:p>
            <a:pPr marL="0" indent="0" algn="just">
              <a:lnSpc>
                <a:spcPct val="115000"/>
              </a:lnSpc>
              <a:buNone/>
            </a:pPr>
            <a:r>
              <a:rPr lang="en-US" sz="1400" b="1" dirty="0">
                <a:solidFill>
                  <a:srgbClr val="C9A227"/>
                </a:solidFill>
                <a:latin typeface="Calibri" pitchFamily="34" charset="0"/>
                <a:ea typeface="Calibri" pitchFamily="34" charset="-122"/>
                <a:cs typeface="Calibri" pitchFamily="34" charset="-120"/>
              </a:rPr>
              <a:t>3.  </a:t>
            </a:r>
            <a:r>
              <a:rPr lang="en-US" sz="1400" dirty="0">
                <a:solidFill>
                  <a:srgbClr val="23262F"/>
                </a:solidFill>
                <a:latin typeface="Calibri" pitchFamily="34" charset="0"/>
                <a:ea typeface="Calibri" pitchFamily="34" charset="-122"/>
                <a:cs typeface="Calibri" pitchFamily="34" charset="-120"/>
              </a:rPr>
              <a:t>Primary keys defined on Book_ID, Customer_ID and Order_ID</a:t>
            </a:r>
            <a:endParaRPr lang="en-US" sz="1400" dirty="0"/>
          </a:p>
          <a:p>
            <a:pPr marL="0" indent="0" algn="just">
              <a:lnSpc>
                <a:spcPct val="115000"/>
              </a:lnSpc>
              <a:buNone/>
            </a:pPr>
            <a:r>
              <a:rPr lang="en-US" sz="1400" b="1" dirty="0">
                <a:solidFill>
                  <a:srgbClr val="C9A227"/>
                </a:solidFill>
                <a:latin typeface="Calibri" pitchFamily="34" charset="0"/>
                <a:ea typeface="Calibri" pitchFamily="34" charset="-122"/>
                <a:cs typeface="Calibri" pitchFamily="34" charset="-120"/>
              </a:rPr>
              <a:t>4.  </a:t>
            </a:r>
            <a:r>
              <a:rPr lang="en-US" sz="1400" dirty="0">
                <a:solidFill>
                  <a:srgbClr val="23262F"/>
                </a:solidFill>
                <a:latin typeface="Calibri" pitchFamily="34" charset="0"/>
                <a:ea typeface="Calibri" pitchFamily="34" charset="-122"/>
                <a:cs typeface="Calibri" pitchFamily="34" charset="-120"/>
              </a:rPr>
              <a:t>UNIQUE constraint applied to Customers.Email</a:t>
            </a:r>
            <a:endParaRPr lang="en-US" sz="1400" dirty="0"/>
          </a:p>
          <a:p>
            <a:pPr marL="0" indent="0" algn="just">
              <a:lnSpc>
                <a:spcPct val="115000"/>
              </a:lnSpc>
              <a:buNone/>
            </a:pPr>
            <a:r>
              <a:rPr lang="en-US" sz="1400" b="1" dirty="0">
                <a:solidFill>
                  <a:srgbClr val="C9A227"/>
                </a:solidFill>
                <a:latin typeface="Calibri" pitchFamily="34" charset="0"/>
                <a:ea typeface="Calibri" pitchFamily="34" charset="-122"/>
                <a:cs typeface="Calibri" pitchFamily="34" charset="-120"/>
              </a:rPr>
              <a:t>5.  </a:t>
            </a:r>
            <a:r>
              <a:rPr lang="en-US" sz="1400" dirty="0">
                <a:solidFill>
                  <a:srgbClr val="23262F"/>
                </a:solidFill>
                <a:latin typeface="Calibri" pitchFamily="34" charset="0"/>
                <a:ea typeface="Calibri" pitchFamily="34" charset="-122"/>
                <a:cs typeface="Calibri" pitchFamily="34" charset="-120"/>
              </a:rPr>
              <a:t>Foreign keys: Orders.Customer_ID → Customers, Orders.Book_ID → Books</a:t>
            </a:r>
            <a:endParaRPr lang="en-US" sz="1400" dirty="0"/>
          </a:p>
          <a:p>
            <a:pPr marL="0" indent="0" algn="just">
              <a:lnSpc>
                <a:spcPct val="115000"/>
              </a:lnSpc>
              <a:buNone/>
            </a:pPr>
            <a:r>
              <a:rPr lang="en-US" sz="1400" b="1" dirty="0">
                <a:solidFill>
                  <a:srgbClr val="C9A227"/>
                </a:solidFill>
                <a:latin typeface="Calibri" pitchFamily="34" charset="0"/>
                <a:ea typeface="Calibri" pitchFamily="34" charset="-122"/>
                <a:cs typeface="Calibri" pitchFamily="34" charset="-120"/>
              </a:rPr>
              <a:t>6.  </a:t>
            </a:r>
            <a:r>
              <a:rPr lang="en-US" sz="1400" dirty="0">
                <a:solidFill>
                  <a:srgbClr val="23262F"/>
                </a:solidFill>
                <a:latin typeface="Calibri" pitchFamily="34" charset="0"/>
                <a:ea typeface="Calibri" pitchFamily="34" charset="-122"/>
                <a:cs typeface="Calibri" pitchFamily="34" charset="-120"/>
              </a:rPr>
              <a:t>DESCRIBE run on each table to confirm structure</a:t>
            </a:r>
            <a:endParaRPr lang="en-US" sz="1400" dirty="0"/>
          </a:p>
        </p:txBody>
      </p:sp>
      <p:sp>
        <p:nvSpPr>
          <p:cNvPr id="6" name="Text 4"/>
          <p:cNvSpPr txBox="1"/>
          <p:nvPr/>
        </p:nvSpPr>
        <p:spPr>
          <a:xfrm>
            <a:off x="6324448" y="1426464"/>
            <a:ext cx="5410048" cy="274320"/>
          </a:xfrm>
          <a:prstGeom prst="rect">
            <a:avLst/>
          </a:prstGeom>
          <a:noFill/>
          <a:ln/>
        </p:spPr>
        <p:txBody>
          <a:bodyPr wrap="square" rtlCol="0" anchor="ctr"/>
          <a:lstStyle/>
          <a:p>
            <a:pPr marL="0" indent="0">
              <a:buNone/>
            </a:pPr>
            <a:r>
              <a:rPr lang="en-US" sz="1350" b="1" kern="0" spc="100" dirty="0">
                <a:solidFill>
                  <a:srgbClr val="1B2A4A"/>
                </a:solidFill>
                <a:latin typeface="Calibri" pitchFamily="34" charset="0"/>
                <a:ea typeface="Calibri" pitchFamily="34" charset="-122"/>
                <a:cs typeface="Calibri" pitchFamily="34" charset="-120"/>
              </a:rPr>
              <a:t>DATA VALIDATION CHECKS PERFORMED</a:t>
            </a:r>
            <a:endParaRPr lang="en-US" sz="1350" dirty="0"/>
          </a:p>
        </p:txBody>
      </p:sp>
      <p:sp>
        <p:nvSpPr>
          <p:cNvPr id="7" name="Shape 5"/>
          <p:cNvSpPr/>
          <p:nvPr/>
        </p:nvSpPr>
        <p:spPr>
          <a:xfrm>
            <a:off x="6324448" y="1773936"/>
            <a:ext cx="256032" cy="256032"/>
          </a:xfrm>
          <a:prstGeom prst="ellipse">
            <a:avLst/>
          </a:prstGeom>
          <a:solidFill>
            <a:srgbClr val="1B2A4A"/>
          </a:solidFill>
          <a:ln/>
        </p:spPr>
        <p:txBody>
          <a:bodyPr/>
          <a:lstStyle/>
          <a:p>
            <a:endParaRPr lang="en-IN"/>
          </a:p>
        </p:txBody>
      </p:sp>
      <p:pic>
        <p:nvPicPr>
          <p:cNvPr id="8" name="Image 0" descr="/home/claude/bookverse/icons/validate.png"/>
          <p:cNvPicPr>
            <a:picLocks noChangeAspect="1"/>
          </p:cNvPicPr>
          <p:nvPr/>
        </p:nvPicPr>
        <p:blipFill>
          <a:blip r:embed="rId3"/>
          <a:stretch>
            <a:fillRect/>
          </a:stretch>
        </p:blipFill>
        <p:spPr>
          <a:xfrm>
            <a:off x="6365413" y="1814901"/>
            <a:ext cx="174102" cy="174102"/>
          </a:xfrm>
          <a:prstGeom prst="rect">
            <a:avLst/>
          </a:prstGeom>
        </p:spPr>
      </p:pic>
      <p:sp>
        <p:nvSpPr>
          <p:cNvPr id="9" name="Text 6"/>
          <p:cNvSpPr txBox="1"/>
          <p:nvPr/>
        </p:nvSpPr>
        <p:spPr>
          <a:xfrm>
            <a:off x="6708496" y="1737360"/>
            <a:ext cx="5026000" cy="603504"/>
          </a:xfrm>
          <a:prstGeom prst="rect">
            <a:avLst/>
          </a:prstGeom>
          <a:noFill/>
          <a:ln/>
        </p:spPr>
        <p:txBody>
          <a:bodyPr wrap="square" rtlCol="0" anchor="t"/>
          <a:lstStyle/>
          <a:p>
            <a:pPr marL="0" indent="0" algn="just">
              <a:buNone/>
            </a:pPr>
            <a:r>
              <a:rPr lang="en-US" sz="1400" dirty="0">
                <a:solidFill>
                  <a:srgbClr val="23262F"/>
                </a:solidFill>
                <a:latin typeface="Calibri" pitchFamily="34" charset="0"/>
                <a:ea typeface="Calibri" pitchFamily="34" charset="-122"/>
                <a:cs typeface="Calibri" pitchFamily="34" charset="-120"/>
              </a:rPr>
              <a:t>Record counts confirmed for Books, Customers and Orders</a:t>
            </a:r>
            <a:endParaRPr lang="en-US" sz="1400" dirty="0"/>
          </a:p>
        </p:txBody>
      </p:sp>
      <p:sp>
        <p:nvSpPr>
          <p:cNvPr id="10" name="Shape 7"/>
          <p:cNvSpPr/>
          <p:nvPr/>
        </p:nvSpPr>
        <p:spPr>
          <a:xfrm>
            <a:off x="6324448" y="2377440"/>
            <a:ext cx="256032" cy="256032"/>
          </a:xfrm>
          <a:prstGeom prst="ellipse">
            <a:avLst/>
          </a:prstGeom>
          <a:solidFill>
            <a:srgbClr val="1B2A4A"/>
          </a:solidFill>
          <a:ln/>
        </p:spPr>
        <p:txBody>
          <a:bodyPr/>
          <a:lstStyle/>
          <a:p>
            <a:endParaRPr lang="en-IN"/>
          </a:p>
        </p:txBody>
      </p:sp>
      <p:pic>
        <p:nvPicPr>
          <p:cNvPr id="11" name="Image 1" descr="/home/claude/bookverse/icons/validate.png"/>
          <p:cNvPicPr>
            <a:picLocks noChangeAspect="1"/>
          </p:cNvPicPr>
          <p:nvPr/>
        </p:nvPicPr>
        <p:blipFill>
          <a:blip r:embed="rId3"/>
          <a:stretch>
            <a:fillRect/>
          </a:stretch>
        </p:blipFill>
        <p:spPr>
          <a:xfrm>
            <a:off x="6365413" y="2418405"/>
            <a:ext cx="174102" cy="174102"/>
          </a:xfrm>
          <a:prstGeom prst="rect">
            <a:avLst/>
          </a:prstGeom>
        </p:spPr>
      </p:pic>
      <p:sp>
        <p:nvSpPr>
          <p:cNvPr id="12" name="Text 8"/>
          <p:cNvSpPr txBox="1"/>
          <p:nvPr/>
        </p:nvSpPr>
        <p:spPr>
          <a:xfrm>
            <a:off x="6708496" y="2340864"/>
            <a:ext cx="5026000" cy="603504"/>
          </a:xfrm>
          <a:prstGeom prst="rect">
            <a:avLst/>
          </a:prstGeom>
          <a:noFill/>
          <a:ln/>
        </p:spPr>
        <p:txBody>
          <a:bodyPr wrap="square" rtlCol="0" anchor="t"/>
          <a:lstStyle/>
          <a:p>
            <a:pPr marL="0" indent="0" algn="just">
              <a:buNone/>
            </a:pPr>
            <a:r>
              <a:rPr lang="en-US" sz="1400" dirty="0">
                <a:solidFill>
                  <a:srgbClr val="23262F"/>
                </a:solidFill>
                <a:latin typeface="Calibri" pitchFamily="34" charset="0"/>
                <a:ea typeface="Calibri" pitchFamily="34" charset="-122"/>
                <a:cs typeface="Calibri" pitchFamily="34" charset="-120"/>
              </a:rPr>
              <a:t>Duplicate primary keys checked (GROUP BY + HAVING COUNT(*) &gt; 1)</a:t>
            </a:r>
            <a:endParaRPr lang="en-US" sz="1400" dirty="0"/>
          </a:p>
        </p:txBody>
      </p:sp>
      <p:sp>
        <p:nvSpPr>
          <p:cNvPr id="13" name="Shape 9"/>
          <p:cNvSpPr/>
          <p:nvPr/>
        </p:nvSpPr>
        <p:spPr>
          <a:xfrm>
            <a:off x="6324448" y="2980944"/>
            <a:ext cx="256032" cy="256032"/>
          </a:xfrm>
          <a:prstGeom prst="ellipse">
            <a:avLst/>
          </a:prstGeom>
          <a:solidFill>
            <a:srgbClr val="1B2A4A"/>
          </a:solidFill>
          <a:ln/>
        </p:spPr>
        <p:txBody>
          <a:bodyPr/>
          <a:lstStyle/>
          <a:p>
            <a:endParaRPr lang="en-IN"/>
          </a:p>
        </p:txBody>
      </p:sp>
      <p:pic>
        <p:nvPicPr>
          <p:cNvPr id="14" name="Image 2" descr="/home/claude/bookverse/icons/validate.png"/>
          <p:cNvPicPr>
            <a:picLocks noChangeAspect="1"/>
          </p:cNvPicPr>
          <p:nvPr/>
        </p:nvPicPr>
        <p:blipFill>
          <a:blip r:embed="rId3"/>
          <a:stretch>
            <a:fillRect/>
          </a:stretch>
        </p:blipFill>
        <p:spPr>
          <a:xfrm>
            <a:off x="6365413" y="3021909"/>
            <a:ext cx="174102" cy="174102"/>
          </a:xfrm>
          <a:prstGeom prst="rect">
            <a:avLst/>
          </a:prstGeom>
        </p:spPr>
      </p:pic>
      <p:sp>
        <p:nvSpPr>
          <p:cNvPr id="15" name="Text 10"/>
          <p:cNvSpPr txBox="1"/>
          <p:nvPr/>
        </p:nvSpPr>
        <p:spPr>
          <a:xfrm>
            <a:off x="6708496" y="2944368"/>
            <a:ext cx="5026000" cy="603504"/>
          </a:xfrm>
          <a:prstGeom prst="rect">
            <a:avLst/>
          </a:prstGeom>
          <a:noFill/>
          <a:ln/>
        </p:spPr>
        <p:txBody>
          <a:bodyPr wrap="square" rtlCol="0" anchor="t"/>
          <a:lstStyle/>
          <a:p>
            <a:pPr marL="0" indent="0" algn="just">
              <a:buNone/>
            </a:pPr>
            <a:r>
              <a:rPr lang="en-US" sz="1400" dirty="0">
                <a:solidFill>
                  <a:srgbClr val="23262F"/>
                </a:solidFill>
                <a:latin typeface="Calibri" pitchFamily="34" charset="0"/>
                <a:ea typeface="Calibri" pitchFamily="34" charset="-122"/>
                <a:cs typeface="Calibri" pitchFamily="34" charset="-120"/>
              </a:rPr>
              <a:t>Missing values checked across every column in all three tables</a:t>
            </a:r>
            <a:endParaRPr lang="en-US" sz="1400" dirty="0"/>
          </a:p>
        </p:txBody>
      </p:sp>
      <p:sp>
        <p:nvSpPr>
          <p:cNvPr id="16" name="Shape 11"/>
          <p:cNvSpPr/>
          <p:nvPr/>
        </p:nvSpPr>
        <p:spPr>
          <a:xfrm>
            <a:off x="6324448" y="3584448"/>
            <a:ext cx="256032" cy="256032"/>
          </a:xfrm>
          <a:prstGeom prst="ellipse">
            <a:avLst/>
          </a:prstGeom>
          <a:solidFill>
            <a:srgbClr val="1B2A4A"/>
          </a:solidFill>
          <a:ln/>
        </p:spPr>
        <p:txBody>
          <a:bodyPr/>
          <a:lstStyle/>
          <a:p>
            <a:endParaRPr lang="en-IN"/>
          </a:p>
        </p:txBody>
      </p:sp>
      <p:pic>
        <p:nvPicPr>
          <p:cNvPr id="17" name="Image 3" descr="/home/claude/bookverse/icons/validate.png"/>
          <p:cNvPicPr>
            <a:picLocks noChangeAspect="1"/>
          </p:cNvPicPr>
          <p:nvPr/>
        </p:nvPicPr>
        <p:blipFill>
          <a:blip r:embed="rId3"/>
          <a:stretch>
            <a:fillRect/>
          </a:stretch>
        </p:blipFill>
        <p:spPr>
          <a:xfrm>
            <a:off x="6365413" y="3625413"/>
            <a:ext cx="174102" cy="174102"/>
          </a:xfrm>
          <a:prstGeom prst="rect">
            <a:avLst/>
          </a:prstGeom>
        </p:spPr>
      </p:pic>
      <p:sp>
        <p:nvSpPr>
          <p:cNvPr id="18" name="Text 12"/>
          <p:cNvSpPr txBox="1"/>
          <p:nvPr/>
        </p:nvSpPr>
        <p:spPr>
          <a:xfrm>
            <a:off x="6708496" y="3547872"/>
            <a:ext cx="5026000" cy="603504"/>
          </a:xfrm>
          <a:prstGeom prst="rect">
            <a:avLst/>
          </a:prstGeom>
          <a:noFill/>
          <a:ln/>
        </p:spPr>
        <p:txBody>
          <a:bodyPr wrap="square" rtlCol="0" anchor="t"/>
          <a:lstStyle/>
          <a:p>
            <a:pPr marL="0" indent="0" algn="just">
              <a:buNone/>
            </a:pPr>
            <a:r>
              <a:rPr lang="en-US" sz="1400" dirty="0">
                <a:solidFill>
                  <a:srgbClr val="23262F"/>
                </a:solidFill>
                <a:latin typeface="Calibri" pitchFamily="34" charset="0"/>
                <a:ea typeface="Calibri" pitchFamily="34" charset="-122"/>
                <a:cs typeface="Calibri" pitchFamily="34" charset="-120"/>
              </a:rPr>
              <a:t>Orphan Orders*  checked via LEFT JOIN against Customers and Books</a:t>
            </a:r>
            <a:endParaRPr lang="en-US" sz="1400" dirty="0"/>
          </a:p>
        </p:txBody>
      </p:sp>
      <p:sp>
        <p:nvSpPr>
          <p:cNvPr id="19" name="Shape 13"/>
          <p:cNvSpPr/>
          <p:nvPr/>
        </p:nvSpPr>
        <p:spPr>
          <a:xfrm>
            <a:off x="457200" y="5065776"/>
            <a:ext cx="11277295" cy="685800"/>
          </a:xfrm>
          <a:prstGeom prst="roundRect">
            <a:avLst>
              <a:gd name="adj" fmla="val 8000"/>
            </a:avLst>
          </a:prstGeom>
          <a:solidFill>
            <a:srgbClr val="F7EFD9"/>
          </a:solidFill>
          <a:ln w="12700">
            <a:solidFill>
              <a:srgbClr val="C9A227"/>
            </a:solidFill>
            <a:prstDash val="dash"/>
          </a:ln>
        </p:spPr>
        <p:txBody>
          <a:bodyPr/>
          <a:lstStyle/>
          <a:p>
            <a:endParaRPr lang="en-IN"/>
          </a:p>
        </p:txBody>
      </p:sp>
      <p:sp>
        <p:nvSpPr>
          <p:cNvPr id="20" name="Shape 14"/>
          <p:cNvSpPr/>
          <p:nvPr/>
        </p:nvSpPr>
        <p:spPr>
          <a:xfrm>
            <a:off x="685800" y="5157216"/>
            <a:ext cx="457200" cy="457200"/>
          </a:xfrm>
          <a:prstGeom prst="ellipse">
            <a:avLst/>
          </a:prstGeom>
          <a:solidFill>
            <a:srgbClr val="C9A227"/>
          </a:solidFill>
          <a:ln/>
        </p:spPr>
        <p:txBody>
          <a:bodyPr/>
          <a:lstStyle/>
          <a:p>
            <a:endParaRPr lang="en-IN"/>
          </a:p>
        </p:txBody>
      </p:sp>
      <p:pic>
        <p:nvPicPr>
          <p:cNvPr id="21" name="Image 4" descr="/home/claude/bookverse/icons/warning.png"/>
          <p:cNvPicPr>
            <a:picLocks noChangeAspect="1"/>
          </p:cNvPicPr>
          <p:nvPr/>
        </p:nvPicPr>
        <p:blipFill>
          <a:blip r:embed="rId4"/>
          <a:stretch>
            <a:fillRect/>
          </a:stretch>
        </p:blipFill>
        <p:spPr>
          <a:xfrm>
            <a:off x="754380" y="5225796"/>
            <a:ext cx="320040" cy="320040"/>
          </a:xfrm>
          <a:prstGeom prst="rect">
            <a:avLst/>
          </a:prstGeom>
        </p:spPr>
      </p:pic>
      <p:sp>
        <p:nvSpPr>
          <p:cNvPr id="22" name="Text 15"/>
          <p:cNvSpPr txBox="1"/>
          <p:nvPr/>
        </p:nvSpPr>
        <p:spPr>
          <a:xfrm>
            <a:off x="2309948" y="5187696"/>
            <a:ext cx="7748451" cy="457200"/>
          </a:xfrm>
          <a:prstGeom prst="rect">
            <a:avLst/>
          </a:prstGeom>
          <a:noFill/>
          <a:ln/>
        </p:spPr>
        <p:txBody>
          <a:bodyPr wrap="square" rtlCol="0" anchor="ctr"/>
          <a:lstStyle/>
          <a:p>
            <a:r>
              <a:rPr lang="en-US" sz="1200" dirty="0"/>
              <a:t>This steps is important because before doing any analysis, we need to make sure that the data is reliable.” </a:t>
            </a:r>
          </a:p>
        </p:txBody>
      </p:sp>
      <p:sp>
        <p:nvSpPr>
          <p:cNvPr id="23" name="Text 16"/>
          <p:cNvSpPr txBox="1"/>
          <p:nvPr/>
        </p:nvSpPr>
        <p:spPr>
          <a:xfrm>
            <a:off x="457200" y="6583680"/>
            <a:ext cx="7315200" cy="256032"/>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24" name="Text 17"/>
          <p:cNvSpPr txBox="1"/>
          <p:nvPr/>
        </p:nvSpPr>
        <p:spPr>
          <a:xfrm>
            <a:off x="10637215" y="6583680"/>
            <a:ext cx="1097280"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 / 16</a:t>
            </a:r>
            <a:endParaRPr lang="en-US" sz="900" dirty="0"/>
          </a:p>
        </p:txBody>
      </p:sp>
      <p:sp>
        <p:nvSpPr>
          <p:cNvPr id="25" name="TextBox 24">
            <a:extLst>
              <a:ext uri="{FF2B5EF4-FFF2-40B4-BE49-F238E27FC236}">
                <a16:creationId xmlns:a16="http://schemas.microsoft.com/office/drawing/2014/main" id="{813F4BD9-EC04-BA46-6212-9799C9485E3B}"/>
              </a:ext>
            </a:extLst>
          </p:cNvPr>
          <p:cNvSpPr txBox="1"/>
          <p:nvPr/>
        </p:nvSpPr>
        <p:spPr>
          <a:xfrm>
            <a:off x="3271830" y="5906018"/>
            <a:ext cx="6105236" cy="261610"/>
          </a:xfrm>
          <a:prstGeom prst="rect">
            <a:avLst/>
          </a:prstGeom>
          <a:noFill/>
        </p:spPr>
        <p:txBody>
          <a:bodyPr wrap="square" rtlCol="0">
            <a:spAutoFit/>
          </a:bodyPr>
          <a:lstStyle/>
          <a:p>
            <a:r>
              <a:rPr lang="en-US" sz="1100" i="1" dirty="0">
                <a:solidFill>
                  <a:srgbClr val="6B7280"/>
                </a:solidFill>
                <a:latin typeface="Calibri" pitchFamily="34" charset="0"/>
                <a:ea typeface="Calibri" pitchFamily="34" charset="-122"/>
                <a:cs typeface="Calibri" pitchFamily="34" charset="-120"/>
              </a:rPr>
              <a:t>*Orphan Orders </a:t>
            </a:r>
            <a:r>
              <a:rPr lang="en-US" sz="1100" i="1" dirty="0">
                <a:solidFill>
                  <a:srgbClr val="6B7280"/>
                </a:solidFill>
              </a:rPr>
              <a:t>(orders that reference a customer or a book that no longer exists in the database)</a:t>
            </a:r>
            <a:endParaRPr lang="en-IN" sz="1100" i="1" dirty="0">
              <a:solidFill>
                <a:srgbClr val="6B7280"/>
              </a:solidFill>
            </a:endParaRPr>
          </a:p>
        </p:txBody>
      </p:sp>
      <p:sp>
        <p:nvSpPr>
          <p:cNvPr id="26" name="TextBox 25">
            <a:extLst>
              <a:ext uri="{FF2B5EF4-FFF2-40B4-BE49-F238E27FC236}">
                <a16:creationId xmlns:a16="http://schemas.microsoft.com/office/drawing/2014/main" id="{4A7B7E3C-DC10-B60B-7102-685459E6D02B}"/>
              </a:ext>
            </a:extLst>
          </p:cNvPr>
          <p:cNvSpPr txBox="1"/>
          <p:nvPr/>
        </p:nvSpPr>
        <p:spPr>
          <a:xfrm>
            <a:off x="4491030" y="6114044"/>
            <a:ext cx="5785084" cy="261610"/>
          </a:xfrm>
          <a:prstGeom prst="rect">
            <a:avLst/>
          </a:prstGeom>
          <a:noFill/>
        </p:spPr>
        <p:txBody>
          <a:bodyPr wrap="square" rtlCol="0">
            <a:spAutoFit/>
          </a:bodyPr>
          <a:lstStyle/>
          <a:p>
            <a:r>
              <a:rPr lang="en-US" sz="1100" dirty="0">
                <a:solidFill>
                  <a:srgbClr val="6B7280"/>
                </a:solidFill>
              </a:rPr>
              <a:t>*LEFT JOIN + NULL check = Find missing matches</a:t>
            </a:r>
            <a:endParaRPr lang="en-IN" sz="1100" dirty="0">
              <a:solidFill>
                <a:srgbClr val="6B7280"/>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bg/>
                                          </p:spTgt>
                                        </p:tgtEl>
                                        <p:attrNameLst>
                                          <p:attrName>style.visibility</p:attrName>
                                        </p:attrNameLst>
                                      </p:cBhvr>
                                      <p:to>
                                        <p:strVal val="visible"/>
                                      </p:to>
                                    </p:set>
                                    <p:animEffect transition="in" filter="wipe(up)">
                                      <p:cBhvr>
                                        <p:cTn id="12" dur="500"/>
                                        <p:tgtEl>
                                          <p:spTgt spid="5">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up)">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wipe(up)">
                                      <p:cBhvr>
                                        <p:cTn id="22" dur="500"/>
                                        <p:tgtEl>
                                          <p:spTgt spid="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wipe(up)">
                                      <p:cBhvr>
                                        <p:cTn id="27" dur="500"/>
                                        <p:tgtEl>
                                          <p:spTgt spid="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wipe(up)">
                                      <p:cBhvr>
                                        <p:cTn id="32" dur="500"/>
                                        <p:tgtEl>
                                          <p:spTgt spid="5">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wipe(up)">
                                      <p:cBhvr>
                                        <p:cTn id="37" dur="500"/>
                                        <p:tgtEl>
                                          <p:spTgt spid="5">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animEffect transition="in" filter="wipe(up)">
                                      <p:cBhvr>
                                        <p:cTn id="42" dur="500"/>
                                        <p:tgtEl>
                                          <p:spTgt spid="5">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500"/>
                                        <p:tgtEl>
                                          <p:spTgt spid="7"/>
                                        </p:tgtEl>
                                      </p:cBhvr>
                                    </p:animEffect>
                                  </p:childTnLst>
                                </p:cTn>
                              </p:par>
                              <p:par>
                                <p:cTn id="53" presetID="10" presetClass="entr" presetSubtype="0" fill="hold" nodeType="with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500"/>
                                        <p:tgtEl>
                                          <p:spTgt spid="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00"/>
                                        <p:tgtEl>
                                          <p:spTgt spid="10"/>
                                        </p:tgtEl>
                                      </p:cBhvr>
                                    </p:animEffect>
                                  </p:childTnLst>
                                </p:cTn>
                              </p:par>
                              <p:par>
                                <p:cTn id="66" presetID="10" presetClass="entr" presetSubtype="0" fill="hold" nodeType="with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fade">
                                      <p:cBhvr>
                                        <p:cTn id="68" dur="500"/>
                                        <p:tgtEl>
                                          <p:spTgt spid="1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2"/>
                                        </p:tgtEl>
                                        <p:attrNameLst>
                                          <p:attrName>style.visibility</p:attrName>
                                        </p:attrNameLst>
                                      </p:cBhvr>
                                      <p:to>
                                        <p:strVal val="visible"/>
                                      </p:to>
                                    </p:set>
                                    <p:animEffect transition="in" filter="fade">
                                      <p:cBhvr>
                                        <p:cTn id="73" dur="500"/>
                                        <p:tgtEl>
                                          <p:spTgt spid="12"/>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13"/>
                                        </p:tgtEl>
                                        <p:attrNameLst>
                                          <p:attrName>style.visibility</p:attrName>
                                        </p:attrNameLst>
                                      </p:cBhvr>
                                      <p:to>
                                        <p:strVal val="visible"/>
                                      </p:to>
                                    </p:set>
                                    <p:animEffect transition="in" filter="fade">
                                      <p:cBhvr>
                                        <p:cTn id="78" dur="500"/>
                                        <p:tgtEl>
                                          <p:spTgt spid="13"/>
                                        </p:tgtEl>
                                      </p:cBhvr>
                                    </p:animEffect>
                                  </p:childTnLst>
                                </p:cTn>
                              </p:par>
                              <p:par>
                                <p:cTn id="79" presetID="10" presetClass="entr" presetSubtype="0" fill="hold" nodeType="withEffect">
                                  <p:stCondLst>
                                    <p:cond delay="0"/>
                                  </p:stCondLst>
                                  <p:childTnLst>
                                    <p:set>
                                      <p:cBhvr>
                                        <p:cTn id="80" dur="1" fill="hold">
                                          <p:stCondLst>
                                            <p:cond delay="0"/>
                                          </p:stCondLst>
                                        </p:cTn>
                                        <p:tgtEl>
                                          <p:spTgt spid="14"/>
                                        </p:tgtEl>
                                        <p:attrNameLst>
                                          <p:attrName>style.visibility</p:attrName>
                                        </p:attrNameLst>
                                      </p:cBhvr>
                                      <p:to>
                                        <p:strVal val="visible"/>
                                      </p:to>
                                    </p:set>
                                    <p:animEffect transition="in" filter="fade">
                                      <p:cBhvr>
                                        <p:cTn id="81" dur="500"/>
                                        <p:tgtEl>
                                          <p:spTgt spid="14"/>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500"/>
                                        <p:tgtEl>
                                          <p:spTgt spid="15"/>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16"/>
                                        </p:tgtEl>
                                        <p:attrNameLst>
                                          <p:attrName>style.visibility</p:attrName>
                                        </p:attrNameLst>
                                      </p:cBhvr>
                                      <p:to>
                                        <p:strVal val="visible"/>
                                      </p:to>
                                    </p:set>
                                    <p:animEffect transition="in" filter="fade">
                                      <p:cBhvr>
                                        <p:cTn id="91" dur="500"/>
                                        <p:tgtEl>
                                          <p:spTgt spid="16"/>
                                        </p:tgtEl>
                                      </p:cBhvr>
                                    </p:animEffect>
                                  </p:childTnLst>
                                </p:cTn>
                              </p:par>
                              <p:par>
                                <p:cTn id="92" presetID="10" presetClass="entr" presetSubtype="0" fill="hold" nodeType="withEffect">
                                  <p:stCondLst>
                                    <p:cond delay="0"/>
                                  </p:stCondLst>
                                  <p:childTnLst>
                                    <p:set>
                                      <p:cBhvr>
                                        <p:cTn id="93" dur="1" fill="hold">
                                          <p:stCondLst>
                                            <p:cond delay="0"/>
                                          </p:stCondLst>
                                        </p:cTn>
                                        <p:tgtEl>
                                          <p:spTgt spid="17"/>
                                        </p:tgtEl>
                                        <p:attrNameLst>
                                          <p:attrName>style.visibility</p:attrName>
                                        </p:attrNameLst>
                                      </p:cBhvr>
                                      <p:to>
                                        <p:strVal val="visible"/>
                                      </p:to>
                                    </p:set>
                                    <p:animEffect transition="in" filter="fade">
                                      <p:cBhvr>
                                        <p:cTn id="94" dur="500"/>
                                        <p:tgtEl>
                                          <p:spTgt spid="17"/>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18"/>
                                        </p:tgtEl>
                                        <p:attrNameLst>
                                          <p:attrName>style.visibility</p:attrName>
                                        </p:attrNameLst>
                                      </p:cBhvr>
                                      <p:to>
                                        <p:strVal val="visible"/>
                                      </p:to>
                                    </p:set>
                                    <p:animEffect transition="in" filter="fade">
                                      <p:cBhvr>
                                        <p:cTn id="99" dur="500"/>
                                        <p:tgtEl>
                                          <p:spTgt spid="18"/>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25"/>
                                        </p:tgtEl>
                                        <p:attrNameLst>
                                          <p:attrName>style.visibility</p:attrName>
                                        </p:attrNameLst>
                                      </p:cBhvr>
                                      <p:to>
                                        <p:strVal val="visible"/>
                                      </p:to>
                                    </p:set>
                                    <p:animEffect transition="in" filter="fade">
                                      <p:cBhvr>
                                        <p:cTn id="104" dur="500"/>
                                        <p:tgtEl>
                                          <p:spTgt spid="25"/>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26"/>
                                        </p:tgtEl>
                                        <p:attrNameLst>
                                          <p:attrName>style.visibility</p:attrName>
                                        </p:attrNameLst>
                                      </p:cBhvr>
                                      <p:to>
                                        <p:strVal val="visible"/>
                                      </p:to>
                                    </p:set>
                                    <p:animEffect transition="in" filter="fade">
                                      <p:cBhvr>
                                        <p:cTn id="109" dur="500"/>
                                        <p:tgtEl>
                                          <p:spTgt spid="26"/>
                                        </p:tgtEl>
                                      </p:cBhvr>
                                    </p:animEffect>
                                  </p:childTnLst>
                                </p:cTn>
                              </p:par>
                            </p:childTnLst>
                          </p:cTn>
                        </p:par>
                      </p:childTnLst>
                    </p:cTn>
                  </p:par>
                  <p:par>
                    <p:cTn id="110" fill="hold">
                      <p:stCondLst>
                        <p:cond delay="indefinite"/>
                      </p:stCondLst>
                      <p:childTnLst>
                        <p:par>
                          <p:cTn id="111" fill="hold">
                            <p:stCondLst>
                              <p:cond delay="0"/>
                            </p:stCondLst>
                            <p:childTnLst>
                              <p:par>
                                <p:cTn id="112" presetID="42" presetClass="entr" presetSubtype="0" fill="hold" grpId="0" nodeType="clickEffect">
                                  <p:stCondLst>
                                    <p:cond delay="0"/>
                                  </p:stCondLst>
                                  <p:childTnLst>
                                    <p:set>
                                      <p:cBhvr>
                                        <p:cTn id="113" dur="1" fill="hold">
                                          <p:stCondLst>
                                            <p:cond delay="0"/>
                                          </p:stCondLst>
                                        </p:cTn>
                                        <p:tgtEl>
                                          <p:spTgt spid="19"/>
                                        </p:tgtEl>
                                        <p:attrNameLst>
                                          <p:attrName>style.visibility</p:attrName>
                                        </p:attrNameLst>
                                      </p:cBhvr>
                                      <p:to>
                                        <p:strVal val="visible"/>
                                      </p:to>
                                    </p:set>
                                    <p:animEffect transition="in" filter="fade">
                                      <p:cBhvr>
                                        <p:cTn id="114" dur="1000"/>
                                        <p:tgtEl>
                                          <p:spTgt spid="19"/>
                                        </p:tgtEl>
                                      </p:cBhvr>
                                    </p:animEffect>
                                    <p:anim calcmode="lin" valueType="num">
                                      <p:cBhvr>
                                        <p:cTn id="115" dur="1000" fill="hold"/>
                                        <p:tgtEl>
                                          <p:spTgt spid="19"/>
                                        </p:tgtEl>
                                        <p:attrNameLst>
                                          <p:attrName>ppt_x</p:attrName>
                                        </p:attrNameLst>
                                      </p:cBhvr>
                                      <p:tavLst>
                                        <p:tav tm="0">
                                          <p:val>
                                            <p:strVal val="#ppt_x"/>
                                          </p:val>
                                        </p:tav>
                                        <p:tav tm="100000">
                                          <p:val>
                                            <p:strVal val="#ppt_x"/>
                                          </p:val>
                                        </p:tav>
                                      </p:tavLst>
                                    </p:anim>
                                    <p:anim calcmode="lin" valueType="num">
                                      <p:cBhvr>
                                        <p:cTn id="116" dur="1000" fill="hold"/>
                                        <p:tgtEl>
                                          <p:spTgt spid="19"/>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20"/>
                                        </p:tgtEl>
                                        <p:attrNameLst>
                                          <p:attrName>style.visibility</p:attrName>
                                        </p:attrNameLst>
                                      </p:cBhvr>
                                      <p:to>
                                        <p:strVal val="visible"/>
                                      </p:to>
                                    </p:set>
                                    <p:animEffect transition="in" filter="fade">
                                      <p:cBhvr>
                                        <p:cTn id="119" dur="1000"/>
                                        <p:tgtEl>
                                          <p:spTgt spid="20"/>
                                        </p:tgtEl>
                                      </p:cBhvr>
                                    </p:animEffect>
                                    <p:anim calcmode="lin" valueType="num">
                                      <p:cBhvr>
                                        <p:cTn id="120" dur="1000" fill="hold"/>
                                        <p:tgtEl>
                                          <p:spTgt spid="20"/>
                                        </p:tgtEl>
                                        <p:attrNameLst>
                                          <p:attrName>ppt_x</p:attrName>
                                        </p:attrNameLst>
                                      </p:cBhvr>
                                      <p:tavLst>
                                        <p:tav tm="0">
                                          <p:val>
                                            <p:strVal val="#ppt_x"/>
                                          </p:val>
                                        </p:tav>
                                        <p:tav tm="100000">
                                          <p:val>
                                            <p:strVal val="#ppt_x"/>
                                          </p:val>
                                        </p:tav>
                                      </p:tavLst>
                                    </p:anim>
                                    <p:anim calcmode="lin" valueType="num">
                                      <p:cBhvr>
                                        <p:cTn id="121" dur="1000" fill="hold"/>
                                        <p:tgtEl>
                                          <p:spTgt spid="20"/>
                                        </p:tgtEl>
                                        <p:attrNameLst>
                                          <p:attrName>ppt_y</p:attrName>
                                        </p:attrNameLst>
                                      </p:cBhvr>
                                      <p:tavLst>
                                        <p:tav tm="0">
                                          <p:val>
                                            <p:strVal val="#ppt_y+.1"/>
                                          </p:val>
                                        </p:tav>
                                        <p:tav tm="100000">
                                          <p:val>
                                            <p:strVal val="#ppt_y"/>
                                          </p:val>
                                        </p:tav>
                                      </p:tavLst>
                                    </p:anim>
                                  </p:childTnLst>
                                </p:cTn>
                              </p:par>
                              <p:par>
                                <p:cTn id="122" presetID="42" presetClass="entr" presetSubtype="0" fill="hold" nodeType="withEffect">
                                  <p:stCondLst>
                                    <p:cond delay="0"/>
                                  </p:stCondLst>
                                  <p:childTnLst>
                                    <p:set>
                                      <p:cBhvr>
                                        <p:cTn id="123" dur="1" fill="hold">
                                          <p:stCondLst>
                                            <p:cond delay="0"/>
                                          </p:stCondLst>
                                        </p:cTn>
                                        <p:tgtEl>
                                          <p:spTgt spid="21"/>
                                        </p:tgtEl>
                                        <p:attrNameLst>
                                          <p:attrName>style.visibility</p:attrName>
                                        </p:attrNameLst>
                                      </p:cBhvr>
                                      <p:to>
                                        <p:strVal val="visible"/>
                                      </p:to>
                                    </p:set>
                                    <p:animEffect transition="in" filter="fade">
                                      <p:cBhvr>
                                        <p:cTn id="124" dur="1000"/>
                                        <p:tgtEl>
                                          <p:spTgt spid="21"/>
                                        </p:tgtEl>
                                      </p:cBhvr>
                                    </p:animEffect>
                                    <p:anim calcmode="lin" valueType="num">
                                      <p:cBhvr>
                                        <p:cTn id="125" dur="1000" fill="hold"/>
                                        <p:tgtEl>
                                          <p:spTgt spid="21"/>
                                        </p:tgtEl>
                                        <p:attrNameLst>
                                          <p:attrName>ppt_x</p:attrName>
                                        </p:attrNameLst>
                                      </p:cBhvr>
                                      <p:tavLst>
                                        <p:tav tm="0">
                                          <p:val>
                                            <p:strVal val="#ppt_x"/>
                                          </p:val>
                                        </p:tav>
                                        <p:tav tm="100000">
                                          <p:val>
                                            <p:strVal val="#ppt_x"/>
                                          </p:val>
                                        </p:tav>
                                      </p:tavLst>
                                    </p:anim>
                                    <p:anim calcmode="lin" valueType="num">
                                      <p:cBhvr>
                                        <p:cTn id="126" dur="1000" fill="hold"/>
                                        <p:tgtEl>
                                          <p:spTgt spid="21"/>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22"/>
                                        </p:tgtEl>
                                        <p:attrNameLst>
                                          <p:attrName>style.visibility</p:attrName>
                                        </p:attrNameLst>
                                      </p:cBhvr>
                                      <p:to>
                                        <p:strVal val="visible"/>
                                      </p:to>
                                    </p:set>
                                    <p:animEffect transition="in" filter="fade">
                                      <p:cBhvr>
                                        <p:cTn id="129" dur="1000"/>
                                        <p:tgtEl>
                                          <p:spTgt spid="22"/>
                                        </p:tgtEl>
                                      </p:cBhvr>
                                    </p:animEffect>
                                    <p:anim calcmode="lin" valueType="num">
                                      <p:cBhvr>
                                        <p:cTn id="130" dur="1000" fill="hold"/>
                                        <p:tgtEl>
                                          <p:spTgt spid="22"/>
                                        </p:tgtEl>
                                        <p:attrNameLst>
                                          <p:attrName>ppt_x</p:attrName>
                                        </p:attrNameLst>
                                      </p:cBhvr>
                                      <p:tavLst>
                                        <p:tav tm="0">
                                          <p:val>
                                            <p:strVal val="#ppt_x"/>
                                          </p:val>
                                        </p:tav>
                                        <p:tav tm="100000">
                                          <p:val>
                                            <p:strVal val="#ppt_x"/>
                                          </p:val>
                                        </p:tav>
                                      </p:tavLst>
                                    </p:anim>
                                    <p:anim calcmode="lin" valueType="num">
                                      <p:cBhvr>
                                        <p:cTn id="13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uild="p"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0" grpId="0" animBg="1"/>
      <p:bldP spid="22" grpId="0" animBg="1"/>
      <p:bldP spid="25" grpId="0"/>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DATA EXPLORATION</a:t>
            </a:r>
            <a:endParaRPr lang="en-US" sz="1200" dirty="0"/>
          </a:p>
        </p:txBody>
      </p:sp>
      <p:sp>
        <p:nvSpPr>
          <p:cNvPr id="3" name="Text 1"/>
          <p:cNvSpPr txBox="1"/>
          <p:nvPr/>
        </p:nvSpPr>
        <p:spPr>
          <a:xfrm>
            <a:off x="457200" y="621792"/>
            <a:ext cx="11277295" cy="548640"/>
          </a:xfrm>
          <a:prstGeom prst="rect">
            <a:avLst/>
          </a:prstGeom>
          <a:noFill/>
          <a:ln/>
        </p:spPr>
        <p:txBody>
          <a:bodyPr wrap="square" rtlCol="0" anchor="ctr"/>
          <a:lstStyle/>
          <a:p>
            <a:pPr marL="0" indent="0">
              <a:buNone/>
            </a:pPr>
            <a:r>
              <a:rPr lang="en-US" sz="2900" b="1" dirty="0">
                <a:solidFill>
                  <a:srgbClr val="1B2A4A"/>
                </a:solidFill>
                <a:latin typeface="Cambria" pitchFamily="34" charset="0"/>
                <a:ea typeface="Cambria" pitchFamily="34" charset="-122"/>
                <a:cs typeface="Cambria" pitchFamily="34" charset="-120"/>
              </a:rPr>
              <a:t>Initial Data Exploration</a:t>
            </a:r>
            <a:endParaRPr lang="en-US" sz="2900" dirty="0"/>
          </a:p>
        </p:txBody>
      </p:sp>
      <p:sp>
        <p:nvSpPr>
          <p:cNvPr id="4" name="Shape 2"/>
          <p:cNvSpPr/>
          <p:nvPr/>
        </p:nvSpPr>
        <p:spPr>
          <a:xfrm>
            <a:off x="457200" y="1508760"/>
            <a:ext cx="2647874" cy="1417320"/>
          </a:xfrm>
          <a:prstGeom prst="roundRect">
            <a:avLst>
              <a:gd name="adj" fmla="val 5161"/>
            </a:avLst>
          </a:prstGeom>
          <a:solidFill>
            <a:srgbClr val="F7EFD9"/>
          </a:solidFill>
          <a:ln w="12700">
            <a:solidFill>
              <a:srgbClr val="E7EAF2"/>
            </a:solidFill>
            <a:prstDash val="solid"/>
          </a:ln>
          <a:effectLst>
            <a:outerShdw blurRad="76200" dist="25400" dir="5400000" algn="bl" rotWithShape="0">
              <a:srgbClr val="1B2A4A">
                <a:alpha val="12000"/>
              </a:srgbClr>
            </a:outerShdw>
          </a:effectLst>
        </p:spPr>
        <p:txBody>
          <a:bodyPr/>
          <a:lstStyle/>
          <a:p>
            <a:endParaRPr lang="en-IN"/>
          </a:p>
        </p:txBody>
      </p:sp>
      <p:sp>
        <p:nvSpPr>
          <p:cNvPr id="5" name="Shape 3"/>
          <p:cNvSpPr/>
          <p:nvPr/>
        </p:nvSpPr>
        <p:spPr>
          <a:xfrm>
            <a:off x="1552537" y="1655064"/>
            <a:ext cx="457200" cy="457200"/>
          </a:xfrm>
          <a:prstGeom prst="ellipse">
            <a:avLst/>
          </a:prstGeom>
          <a:solidFill>
            <a:srgbClr val="1B2A4A"/>
          </a:solidFill>
          <a:ln/>
        </p:spPr>
        <p:txBody>
          <a:bodyPr/>
          <a:lstStyle/>
          <a:p>
            <a:endParaRPr lang="en-IN"/>
          </a:p>
        </p:txBody>
      </p:sp>
      <p:pic>
        <p:nvPicPr>
          <p:cNvPr id="6" name="Image 0" descr="/home/claude/bookverse/icons/book.png"/>
          <p:cNvPicPr>
            <a:picLocks noChangeAspect="1"/>
          </p:cNvPicPr>
          <p:nvPr/>
        </p:nvPicPr>
        <p:blipFill>
          <a:blip r:embed="rId3"/>
          <a:stretch>
            <a:fillRect/>
          </a:stretch>
        </p:blipFill>
        <p:spPr>
          <a:xfrm>
            <a:off x="1621117" y="1723644"/>
            <a:ext cx="320040" cy="320040"/>
          </a:xfrm>
          <a:prstGeom prst="rect">
            <a:avLst/>
          </a:prstGeom>
        </p:spPr>
      </p:pic>
      <p:sp>
        <p:nvSpPr>
          <p:cNvPr id="7" name="Text 4"/>
          <p:cNvSpPr txBox="1"/>
          <p:nvPr/>
        </p:nvSpPr>
        <p:spPr>
          <a:xfrm>
            <a:off x="548640" y="2185416"/>
            <a:ext cx="2464994" cy="256032"/>
          </a:xfrm>
          <a:prstGeom prst="rect">
            <a:avLst/>
          </a:prstGeom>
          <a:noFill/>
          <a:ln/>
        </p:spPr>
        <p:txBody>
          <a:bodyPr wrap="square" rtlCol="0" anchor="ctr"/>
          <a:lstStyle/>
          <a:p>
            <a:pPr marL="0" indent="0" algn="ctr">
              <a:buNone/>
            </a:pPr>
            <a:r>
              <a:rPr lang="en-US" sz="1350" b="1" kern="0" spc="50" dirty="0">
                <a:solidFill>
                  <a:srgbClr val="1B2A4A"/>
                </a:solidFill>
                <a:latin typeface="Calibri" pitchFamily="34" charset="0"/>
                <a:ea typeface="Calibri" pitchFamily="34" charset="-122"/>
                <a:cs typeface="Calibri" pitchFamily="34" charset="-120"/>
              </a:rPr>
              <a:t>TOTAL BOOKS</a:t>
            </a:r>
            <a:endParaRPr lang="en-US" sz="1350" dirty="0"/>
          </a:p>
        </p:txBody>
      </p:sp>
      <p:sp>
        <p:nvSpPr>
          <p:cNvPr id="8" name="Text 5"/>
          <p:cNvSpPr txBox="1"/>
          <p:nvPr/>
        </p:nvSpPr>
        <p:spPr>
          <a:xfrm>
            <a:off x="548640" y="2441448"/>
            <a:ext cx="2464994" cy="365760"/>
          </a:xfrm>
          <a:prstGeom prst="rect">
            <a:avLst/>
          </a:prstGeom>
          <a:noFill/>
          <a:ln/>
        </p:spPr>
        <p:txBody>
          <a:bodyPr wrap="square" rtlCol="0" anchor="ctr"/>
          <a:lstStyle/>
          <a:p>
            <a:pPr marL="0" indent="0" algn="ctr">
              <a:buNone/>
            </a:pPr>
            <a:r>
              <a:rPr lang="en-US" sz="1500" b="1" i="1" dirty="0">
                <a:solidFill>
                  <a:srgbClr val="C9A227"/>
                </a:solidFill>
                <a:latin typeface="Calibri" pitchFamily="34" charset="0"/>
                <a:ea typeface="Calibri" pitchFamily="34" charset="-122"/>
                <a:cs typeface="Calibri" pitchFamily="34" charset="-120"/>
              </a:rPr>
              <a:t>[ 500 ]</a:t>
            </a:r>
            <a:endParaRPr lang="en-US" sz="1500" dirty="0"/>
          </a:p>
        </p:txBody>
      </p:sp>
      <p:sp>
        <p:nvSpPr>
          <p:cNvPr id="9" name="Shape 6"/>
          <p:cNvSpPr/>
          <p:nvPr/>
        </p:nvSpPr>
        <p:spPr>
          <a:xfrm>
            <a:off x="3333674" y="1508760"/>
            <a:ext cx="2647874" cy="1417320"/>
          </a:xfrm>
          <a:prstGeom prst="roundRect">
            <a:avLst>
              <a:gd name="adj" fmla="val 5161"/>
            </a:avLst>
          </a:prstGeom>
          <a:solidFill>
            <a:srgbClr val="E7EAF2"/>
          </a:solidFill>
          <a:ln w="9525">
            <a:solidFill>
              <a:srgbClr val="E8D48A"/>
            </a:solidFill>
            <a:prstDash val="solid"/>
          </a:ln>
          <a:effectLst>
            <a:outerShdw blurRad="76200" dist="25400" dir="5400000" algn="bl" rotWithShape="0">
              <a:srgbClr val="1B2A4A">
                <a:alpha val="12000"/>
              </a:srgbClr>
            </a:outerShdw>
          </a:effectLst>
        </p:spPr>
        <p:txBody>
          <a:bodyPr/>
          <a:lstStyle/>
          <a:p>
            <a:endParaRPr lang="en-IN"/>
          </a:p>
        </p:txBody>
      </p:sp>
      <p:sp>
        <p:nvSpPr>
          <p:cNvPr id="10" name="Shape 7"/>
          <p:cNvSpPr/>
          <p:nvPr/>
        </p:nvSpPr>
        <p:spPr>
          <a:xfrm>
            <a:off x="4429011" y="1655064"/>
            <a:ext cx="457200" cy="457200"/>
          </a:xfrm>
          <a:prstGeom prst="ellipse">
            <a:avLst/>
          </a:prstGeom>
          <a:solidFill>
            <a:srgbClr val="1B2A4A"/>
          </a:solidFill>
          <a:ln/>
        </p:spPr>
        <p:txBody>
          <a:bodyPr/>
          <a:lstStyle/>
          <a:p>
            <a:endParaRPr lang="en-IN"/>
          </a:p>
        </p:txBody>
      </p:sp>
      <p:pic>
        <p:nvPicPr>
          <p:cNvPr id="11" name="Image 1" descr="/home/claude/bookverse/icons/customers.png"/>
          <p:cNvPicPr>
            <a:picLocks noChangeAspect="1"/>
          </p:cNvPicPr>
          <p:nvPr/>
        </p:nvPicPr>
        <p:blipFill>
          <a:blip r:embed="rId4"/>
          <a:stretch>
            <a:fillRect/>
          </a:stretch>
        </p:blipFill>
        <p:spPr>
          <a:xfrm>
            <a:off x="4497591" y="1723644"/>
            <a:ext cx="320040" cy="320040"/>
          </a:xfrm>
          <a:prstGeom prst="rect">
            <a:avLst/>
          </a:prstGeom>
        </p:spPr>
      </p:pic>
      <p:sp>
        <p:nvSpPr>
          <p:cNvPr id="12" name="Text 8"/>
          <p:cNvSpPr txBox="1"/>
          <p:nvPr/>
        </p:nvSpPr>
        <p:spPr>
          <a:xfrm>
            <a:off x="3425114" y="2185416"/>
            <a:ext cx="2464994" cy="256032"/>
          </a:xfrm>
          <a:prstGeom prst="rect">
            <a:avLst/>
          </a:prstGeom>
          <a:noFill/>
          <a:ln/>
        </p:spPr>
        <p:txBody>
          <a:bodyPr wrap="square" rtlCol="0" anchor="ctr"/>
          <a:lstStyle/>
          <a:p>
            <a:pPr marL="0" indent="0" algn="ctr">
              <a:buNone/>
            </a:pPr>
            <a:r>
              <a:rPr lang="en-US" sz="1350" b="1" kern="0" spc="50" dirty="0">
                <a:solidFill>
                  <a:srgbClr val="1B2A4A"/>
                </a:solidFill>
                <a:latin typeface="Calibri" pitchFamily="34" charset="0"/>
                <a:ea typeface="Calibri" pitchFamily="34" charset="-122"/>
                <a:cs typeface="Calibri" pitchFamily="34" charset="-120"/>
              </a:rPr>
              <a:t>TOTAL CUSTOMERS</a:t>
            </a:r>
            <a:endParaRPr lang="en-US" sz="1350" dirty="0"/>
          </a:p>
        </p:txBody>
      </p:sp>
      <p:sp>
        <p:nvSpPr>
          <p:cNvPr id="13" name="Text 9"/>
          <p:cNvSpPr txBox="1"/>
          <p:nvPr/>
        </p:nvSpPr>
        <p:spPr>
          <a:xfrm>
            <a:off x="3425114" y="2441448"/>
            <a:ext cx="2464994" cy="365760"/>
          </a:xfrm>
          <a:prstGeom prst="rect">
            <a:avLst/>
          </a:prstGeom>
          <a:noFill/>
          <a:ln/>
        </p:spPr>
        <p:txBody>
          <a:bodyPr wrap="square" rtlCol="0" anchor="ctr"/>
          <a:lstStyle/>
          <a:p>
            <a:pPr marL="0" indent="0" algn="ctr">
              <a:buNone/>
            </a:pPr>
            <a:r>
              <a:rPr lang="en-US" sz="1500" b="1" i="1" dirty="0">
                <a:solidFill>
                  <a:srgbClr val="C9A227"/>
                </a:solidFill>
                <a:latin typeface="Calibri" pitchFamily="34" charset="0"/>
                <a:ea typeface="Calibri" pitchFamily="34" charset="-122"/>
                <a:cs typeface="Calibri" pitchFamily="34" charset="-120"/>
              </a:rPr>
              <a:t>[ 1,000 ]</a:t>
            </a:r>
            <a:endParaRPr lang="en-US" sz="1500" dirty="0"/>
          </a:p>
        </p:txBody>
      </p:sp>
      <p:sp>
        <p:nvSpPr>
          <p:cNvPr id="14" name="Shape 10"/>
          <p:cNvSpPr/>
          <p:nvPr/>
        </p:nvSpPr>
        <p:spPr>
          <a:xfrm>
            <a:off x="6210148" y="1508760"/>
            <a:ext cx="2647874" cy="1417320"/>
          </a:xfrm>
          <a:prstGeom prst="roundRect">
            <a:avLst>
              <a:gd name="adj" fmla="val 5161"/>
            </a:avLst>
          </a:prstGeom>
          <a:solidFill>
            <a:srgbClr val="F7EFD9"/>
          </a:solidFill>
          <a:ln w="12700">
            <a:solidFill>
              <a:srgbClr val="E7EAF2"/>
            </a:solidFill>
            <a:prstDash val="solid"/>
          </a:ln>
          <a:effectLst>
            <a:outerShdw blurRad="76200" dist="25400" dir="5400000" algn="bl" rotWithShape="0">
              <a:srgbClr val="1B2A4A">
                <a:alpha val="12000"/>
              </a:srgbClr>
            </a:outerShdw>
          </a:effectLst>
        </p:spPr>
        <p:txBody>
          <a:bodyPr/>
          <a:lstStyle/>
          <a:p>
            <a:endParaRPr lang="en-IN"/>
          </a:p>
        </p:txBody>
      </p:sp>
      <p:sp>
        <p:nvSpPr>
          <p:cNvPr id="15" name="Shape 11"/>
          <p:cNvSpPr/>
          <p:nvPr/>
        </p:nvSpPr>
        <p:spPr>
          <a:xfrm>
            <a:off x="7305485" y="1655064"/>
            <a:ext cx="457200" cy="457200"/>
          </a:xfrm>
          <a:prstGeom prst="ellipse">
            <a:avLst/>
          </a:prstGeom>
          <a:solidFill>
            <a:srgbClr val="1B2A4A"/>
          </a:solidFill>
          <a:ln/>
        </p:spPr>
        <p:txBody>
          <a:bodyPr/>
          <a:lstStyle/>
          <a:p>
            <a:endParaRPr lang="en-IN"/>
          </a:p>
        </p:txBody>
      </p:sp>
      <p:pic>
        <p:nvPicPr>
          <p:cNvPr id="16" name="Image 2" descr="/home/claude/bookverse/icons/orders.png"/>
          <p:cNvPicPr>
            <a:picLocks noChangeAspect="1"/>
          </p:cNvPicPr>
          <p:nvPr/>
        </p:nvPicPr>
        <p:blipFill>
          <a:blip r:embed="rId5"/>
          <a:stretch>
            <a:fillRect/>
          </a:stretch>
        </p:blipFill>
        <p:spPr>
          <a:xfrm>
            <a:off x="7374065" y="1723644"/>
            <a:ext cx="320040" cy="320040"/>
          </a:xfrm>
          <a:prstGeom prst="rect">
            <a:avLst/>
          </a:prstGeom>
        </p:spPr>
      </p:pic>
      <p:sp>
        <p:nvSpPr>
          <p:cNvPr id="17" name="Text 12"/>
          <p:cNvSpPr txBox="1"/>
          <p:nvPr/>
        </p:nvSpPr>
        <p:spPr>
          <a:xfrm>
            <a:off x="6301588" y="2185416"/>
            <a:ext cx="2464994" cy="256032"/>
          </a:xfrm>
          <a:prstGeom prst="rect">
            <a:avLst/>
          </a:prstGeom>
          <a:noFill/>
          <a:ln/>
        </p:spPr>
        <p:txBody>
          <a:bodyPr wrap="square" rtlCol="0" anchor="ctr"/>
          <a:lstStyle/>
          <a:p>
            <a:pPr marL="0" indent="0" algn="ctr">
              <a:buNone/>
            </a:pPr>
            <a:r>
              <a:rPr lang="en-US" sz="1350" b="1" kern="0" spc="50" dirty="0">
                <a:solidFill>
                  <a:srgbClr val="1B2A4A"/>
                </a:solidFill>
                <a:latin typeface="Calibri" pitchFamily="34" charset="0"/>
                <a:ea typeface="Calibri" pitchFamily="34" charset="-122"/>
                <a:cs typeface="Calibri" pitchFamily="34" charset="-120"/>
              </a:rPr>
              <a:t>TOTAL ORDERS</a:t>
            </a:r>
            <a:endParaRPr lang="en-US" sz="1350" dirty="0"/>
          </a:p>
        </p:txBody>
      </p:sp>
      <p:sp>
        <p:nvSpPr>
          <p:cNvPr id="18" name="Text 13"/>
          <p:cNvSpPr txBox="1"/>
          <p:nvPr/>
        </p:nvSpPr>
        <p:spPr>
          <a:xfrm>
            <a:off x="6301588" y="2441448"/>
            <a:ext cx="2464994" cy="365760"/>
          </a:xfrm>
          <a:prstGeom prst="rect">
            <a:avLst/>
          </a:prstGeom>
          <a:noFill/>
          <a:ln/>
        </p:spPr>
        <p:txBody>
          <a:bodyPr wrap="square" rtlCol="0" anchor="ctr"/>
          <a:lstStyle/>
          <a:p>
            <a:pPr marL="0" indent="0" algn="ctr">
              <a:buNone/>
            </a:pPr>
            <a:r>
              <a:rPr lang="en-US" sz="1500" b="1" i="1" dirty="0">
                <a:solidFill>
                  <a:srgbClr val="C9A227"/>
                </a:solidFill>
                <a:latin typeface="Calibri" pitchFamily="34" charset="0"/>
                <a:ea typeface="Calibri" pitchFamily="34" charset="-122"/>
                <a:cs typeface="Calibri" pitchFamily="34" charset="-120"/>
              </a:rPr>
              <a:t>[ 2,500 ]</a:t>
            </a:r>
            <a:endParaRPr lang="en-US" sz="1500" dirty="0"/>
          </a:p>
        </p:txBody>
      </p:sp>
      <p:sp>
        <p:nvSpPr>
          <p:cNvPr id="19" name="Shape 14"/>
          <p:cNvSpPr/>
          <p:nvPr/>
        </p:nvSpPr>
        <p:spPr>
          <a:xfrm>
            <a:off x="9086621" y="1508760"/>
            <a:ext cx="2647874" cy="1417320"/>
          </a:xfrm>
          <a:prstGeom prst="roundRect">
            <a:avLst>
              <a:gd name="adj" fmla="val 5161"/>
            </a:avLst>
          </a:prstGeom>
          <a:solidFill>
            <a:srgbClr val="E7EAF2"/>
          </a:solidFill>
          <a:ln w="9525">
            <a:solidFill>
              <a:srgbClr val="E8D48A"/>
            </a:solidFill>
            <a:prstDash val="solid"/>
          </a:ln>
          <a:effectLst>
            <a:outerShdw blurRad="76200" dist="25400" dir="5400000" algn="bl" rotWithShape="0">
              <a:srgbClr val="1B2A4A">
                <a:alpha val="12000"/>
              </a:srgbClr>
            </a:outerShdw>
          </a:effectLst>
        </p:spPr>
        <p:txBody>
          <a:bodyPr/>
          <a:lstStyle/>
          <a:p>
            <a:endParaRPr lang="en-IN"/>
          </a:p>
        </p:txBody>
      </p:sp>
      <p:sp>
        <p:nvSpPr>
          <p:cNvPr id="20" name="Shape 15"/>
          <p:cNvSpPr/>
          <p:nvPr/>
        </p:nvSpPr>
        <p:spPr>
          <a:xfrm>
            <a:off x="10181958" y="1655064"/>
            <a:ext cx="457200" cy="457200"/>
          </a:xfrm>
          <a:prstGeom prst="ellipse">
            <a:avLst/>
          </a:prstGeom>
          <a:solidFill>
            <a:srgbClr val="1B2A4A"/>
          </a:solidFill>
          <a:ln/>
        </p:spPr>
        <p:txBody>
          <a:bodyPr/>
          <a:lstStyle/>
          <a:p>
            <a:endParaRPr lang="en-IN"/>
          </a:p>
        </p:txBody>
      </p:sp>
      <p:pic>
        <p:nvPicPr>
          <p:cNvPr id="21" name="Image 3" descr="/home/claude/bookverse/icons/genre.png"/>
          <p:cNvPicPr>
            <a:picLocks noChangeAspect="1"/>
          </p:cNvPicPr>
          <p:nvPr/>
        </p:nvPicPr>
        <p:blipFill>
          <a:blip r:embed="rId6"/>
          <a:stretch>
            <a:fillRect/>
          </a:stretch>
        </p:blipFill>
        <p:spPr>
          <a:xfrm>
            <a:off x="10250538" y="1723644"/>
            <a:ext cx="320040" cy="320040"/>
          </a:xfrm>
          <a:prstGeom prst="rect">
            <a:avLst/>
          </a:prstGeom>
        </p:spPr>
      </p:pic>
      <p:sp>
        <p:nvSpPr>
          <p:cNvPr id="22" name="Text 16"/>
          <p:cNvSpPr txBox="1"/>
          <p:nvPr/>
        </p:nvSpPr>
        <p:spPr>
          <a:xfrm>
            <a:off x="9178061" y="2185416"/>
            <a:ext cx="2464994" cy="256032"/>
          </a:xfrm>
          <a:prstGeom prst="rect">
            <a:avLst/>
          </a:prstGeom>
          <a:noFill/>
          <a:ln/>
        </p:spPr>
        <p:txBody>
          <a:bodyPr wrap="square" rtlCol="0" anchor="ctr"/>
          <a:lstStyle/>
          <a:p>
            <a:pPr marL="0" indent="0" algn="ctr">
              <a:buNone/>
            </a:pPr>
            <a:r>
              <a:rPr lang="en-US" sz="1350" b="1" kern="0" spc="50" dirty="0">
                <a:solidFill>
                  <a:srgbClr val="1B2A4A"/>
                </a:solidFill>
                <a:latin typeface="Calibri" pitchFamily="34" charset="0"/>
                <a:ea typeface="Calibri" pitchFamily="34" charset="-122"/>
                <a:cs typeface="Calibri" pitchFamily="34" charset="-120"/>
              </a:rPr>
              <a:t>GENRES AVAILABLE</a:t>
            </a:r>
            <a:endParaRPr lang="en-US" sz="1350" dirty="0"/>
          </a:p>
        </p:txBody>
      </p:sp>
      <p:sp>
        <p:nvSpPr>
          <p:cNvPr id="23" name="Text 17"/>
          <p:cNvSpPr txBox="1"/>
          <p:nvPr/>
        </p:nvSpPr>
        <p:spPr>
          <a:xfrm>
            <a:off x="9178061" y="2441448"/>
            <a:ext cx="2464994" cy="365760"/>
          </a:xfrm>
          <a:prstGeom prst="rect">
            <a:avLst/>
          </a:prstGeom>
          <a:noFill/>
          <a:ln/>
        </p:spPr>
        <p:txBody>
          <a:bodyPr wrap="square" rtlCol="0" anchor="ctr"/>
          <a:lstStyle/>
          <a:p>
            <a:pPr marL="0" indent="0" algn="ctr">
              <a:buNone/>
            </a:pPr>
            <a:r>
              <a:rPr lang="en-US" sz="1500" b="1" i="1" dirty="0">
                <a:solidFill>
                  <a:srgbClr val="C9A227"/>
                </a:solidFill>
                <a:latin typeface="Calibri" pitchFamily="34" charset="0"/>
                <a:ea typeface="Calibri" pitchFamily="34" charset="-122"/>
                <a:cs typeface="Calibri" pitchFamily="34" charset="-120"/>
              </a:rPr>
              <a:t>[ 07 ]</a:t>
            </a:r>
            <a:endParaRPr lang="en-US" sz="1500" dirty="0"/>
          </a:p>
        </p:txBody>
      </p:sp>
      <p:sp>
        <p:nvSpPr>
          <p:cNvPr id="24" name="Shape 18"/>
          <p:cNvSpPr/>
          <p:nvPr/>
        </p:nvSpPr>
        <p:spPr>
          <a:xfrm>
            <a:off x="457200" y="3200400"/>
            <a:ext cx="2647874" cy="1417320"/>
          </a:xfrm>
          <a:prstGeom prst="roundRect">
            <a:avLst>
              <a:gd name="adj" fmla="val 5161"/>
            </a:avLst>
          </a:prstGeom>
          <a:solidFill>
            <a:srgbClr val="E7EAF2"/>
          </a:solidFill>
          <a:ln w="9525">
            <a:solidFill>
              <a:srgbClr val="E8D48A"/>
            </a:solidFill>
            <a:prstDash val="solid"/>
          </a:ln>
          <a:effectLst>
            <a:outerShdw blurRad="76200" dist="25400" dir="5400000" algn="bl" rotWithShape="0">
              <a:srgbClr val="1B2A4A">
                <a:alpha val="12000"/>
              </a:srgbClr>
            </a:outerShdw>
          </a:effectLst>
        </p:spPr>
        <p:txBody>
          <a:bodyPr/>
          <a:lstStyle/>
          <a:p>
            <a:endParaRPr lang="en-IN"/>
          </a:p>
        </p:txBody>
      </p:sp>
      <p:sp>
        <p:nvSpPr>
          <p:cNvPr id="25" name="Shape 19"/>
          <p:cNvSpPr/>
          <p:nvPr/>
        </p:nvSpPr>
        <p:spPr>
          <a:xfrm>
            <a:off x="1552537" y="3346704"/>
            <a:ext cx="457200" cy="457200"/>
          </a:xfrm>
          <a:prstGeom prst="ellipse">
            <a:avLst/>
          </a:prstGeom>
          <a:solidFill>
            <a:srgbClr val="1B2A4A"/>
          </a:solidFill>
          <a:ln/>
        </p:spPr>
        <p:txBody>
          <a:bodyPr/>
          <a:lstStyle/>
          <a:p>
            <a:endParaRPr lang="en-IN"/>
          </a:p>
        </p:txBody>
      </p:sp>
      <p:pic>
        <p:nvPicPr>
          <p:cNvPr id="26" name="Image 4" descr="/home/claude/bookverse/icons/globe.png"/>
          <p:cNvPicPr>
            <a:picLocks noChangeAspect="1"/>
          </p:cNvPicPr>
          <p:nvPr/>
        </p:nvPicPr>
        <p:blipFill>
          <a:blip r:embed="rId7"/>
          <a:stretch>
            <a:fillRect/>
          </a:stretch>
        </p:blipFill>
        <p:spPr>
          <a:xfrm>
            <a:off x="1621117" y="3415284"/>
            <a:ext cx="320040" cy="320040"/>
          </a:xfrm>
          <a:prstGeom prst="rect">
            <a:avLst/>
          </a:prstGeom>
        </p:spPr>
      </p:pic>
      <p:sp>
        <p:nvSpPr>
          <p:cNvPr id="27" name="Text 20"/>
          <p:cNvSpPr txBox="1"/>
          <p:nvPr/>
        </p:nvSpPr>
        <p:spPr>
          <a:xfrm>
            <a:off x="548640" y="3877056"/>
            <a:ext cx="2464994" cy="256032"/>
          </a:xfrm>
          <a:prstGeom prst="rect">
            <a:avLst/>
          </a:prstGeom>
          <a:noFill/>
          <a:ln/>
        </p:spPr>
        <p:txBody>
          <a:bodyPr wrap="square" rtlCol="0" anchor="ctr"/>
          <a:lstStyle/>
          <a:p>
            <a:pPr marL="0" indent="0" algn="ctr">
              <a:buNone/>
            </a:pPr>
            <a:r>
              <a:rPr lang="en-US" sz="1350" b="1" kern="0" spc="50" dirty="0">
                <a:solidFill>
                  <a:srgbClr val="1B2A4A"/>
                </a:solidFill>
                <a:latin typeface="Calibri" pitchFamily="34" charset="0"/>
                <a:ea typeface="Calibri" pitchFamily="34" charset="-122"/>
                <a:cs typeface="Calibri" pitchFamily="34" charset="-120"/>
              </a:rPr>
              <a:t>TOTAL COUNTRIES SERVED</a:t>
            </a:r>
            <a:endParaRPr lang="en-US" sz="1350" dirty="0"/>
          </a:p>
        </p:txBody>
      </p:sp>
      <p:sp>
        <p:nvSpPr>
          <p:cNvPr id="28" name="Text 21"/>
          <p:cNvSpPr txBox="1"/>
          <p:nvPr/>
        </p:nvSpPr>
        <p:spPr>
          <a:xfrm>
            <a:off x="548640" y="4133088"/>
            <a:ext cx="2464994" cy="365760"/>
          </a:xfrm>
          <a:prstGeom prst="rect">
            <a:avLst/>
          </a:prstGeom>
          <a:noFill/>
          <a:ln/>
        </p:spPr>
        <p:txBody>
          <a:bodyPr wrap="square" rtlCol="0" anchor="ctr"/>
          <a:lstStyle/>
          <a:p>
            <a:pPr marL="0" indent="0" algn="ctr">
              <a:buNone/>
            </a:pPr>
            <a:r>
              <a:rPr lang="en-US" sz="1500" b="1" i="1" dirty="0">
                <a:solidFill>
                  <a:srgbClr val="C9A227"/>
                </a:solidFill>
                <a:latin typeface="Calibri" pitchFamily="34" charset="0"/>
                <a:ea typeface="Calibri" pitchFamily="34" charset="-122"/>
                <a:cs typeface="Calibri" pitchFamily="34" charset="-120"/>
              </a:rPr>
              <a:t>[ 120 ]</a:t>
            </a:r>
            <a:endParaRPr lang="en-US" sz="1500" dirty="0"/>
          </a:p>
        </p:txBody>
      </p:sp>
      <p:sp>
        <p:nvSpPr>
          <p:cNvPr id="29" name="Shape 22"/>
          <p:cNvSpPr/>
          <p:nvPr/>
        </p:nvSpPr>
        <p:spPr>
          <a:xfrm>
            <a:off x="3333674" y="3200400"/>
            <a:ext cx="2647874" cy="1417320"/>
          </a:xfrm>
          <a:prstGeom prst="roundRect">
            <a:avLst>
              <a:gd name="adj" fmla="val 5161"/>
            </a:avLst>
          </a:prstGeom>
          <a:solidFill>
            <a:srgbClr val="F7EFD9"/>
          </a:solidFill>
          <a:ln w="12700">
            <a:solidFill>
              <a:srgbClr val="E7EAF2"/>
            </a:solidFill>
            <a:prstDash val="solid"/>
          </a:ln>
          <a:effectLst>
            <a:outerShdw blurRad="76200" dist="25400" dir="5400000" algn="bl" rotWithShape="0">
              <a:srgbClr val="1B2A4A">
                <a:alpha val="12000"/>
              </a:srgbClr>
            </a:outerShdw>
          </a:effectLst>
        </p:spPr>
        <p:txBody>
          <a:bodyPr/>
          <a:lstStyle/>
          <a:p>
            <a:endParaRPr lang="en-IN"/>
          </a:p>
        </p:txBody>
      </p:sp>
      <p:sp>
        <p:nvSpPr>
          <p:cNvPr id="30" name="Shape 23"/>
          <p:cNvSpPr/>
          <p:nvPr/>
        </p:nvSpPr>
        <p:spPr>
          <a:xfrm>
            <a:off x="4429011" y="3346704"/>
            <a:ext cx="457200" cy="457200"/>
          </a:xfrm>
          <a:prstGeom prst="ellipse">
            <a:avLst/>
          </a:prstGeom>
          <a:solidFill>
            <a:srgbClr val="1B2A4A"/>
          </a:solidFill>
          <a:ln/>
        </p:spPr>
        <p:txBody>
          <a:bodyPr/>
          <a:lstStyle/>
          <a:p>
            <a:endParaRPr lang="en-IN"/>
          </a:p>
        </p:txBody>
      </p:sp>
      <p:pic>
        <p:nvPicPr>
          <p:cNvPr id="31" name="Image 5" descr="/home/claude/bookverse/icons/sales.png"/>
          <p:cNvPicPr>
            <a:picLocks noChangeAspect="1"/>
          </p:cNvPicPr>
          <p:nvPr/>
        </p:nvPicPr>
        <p:blipFill>
          <a:blip r:embed="rId8"/>
          <a:stretch>
            <a:fillRect/>
          </a:stretch>
        </p:blipFill>
        <p:spPr>
          <a:xfrm>
            <a:off x="4497591" y="3415284"/>
            <a:ext cx="320040" cy="320040"/>
          </a:xfrm>
          <a:prstGeom prst="rect">
            <a:avLst/>
          </a:prstGeom>
        </p:spPr>
      </p:pic>
      <p:sp>
        <p:nvSpPr>
          <p:cNvPr id="32" name="Text 24"/>
          <p:cNvSpPr txBox="1"/>
          <p:nvPr/>
        </p:nvSpPr>
        <p:spPr>
          <a:xfrm>
            <a:off x="3425114" y="3877056"/>
            <a:ext cx="2464994" cy="256032"/>
          </a:xfrm>
          <a:prstGeom prst="rect">
            <a:avLst/>
          </a:prstGeom>
          <a:noFill/>
          <a:ln/>
        </p:spPr>
        <p:txBody>
          <a:bodyPr wrap="square" rtlCol="0" anchor="ctr"/>
          <a:lstStyle/>
          <a:p>
            <a:pPr marL="0" indent="0" algn="ctr">
              <a:buNone/>
            </a:pPr>
            <a:r>
              <a:rPr lang="en-US" sz="1350" b="1" kern="0" spc="50" dirty="0">
                <a:solidFill>
                  <a:srgbClr val="1B2A4A"/>
                </a:solidFill>
                <a:latin typeface="Calibri" pitchFamily="34" charset="0"/>
                <a:ea typeface="Calibri" pitchFamily="34" charset="-122"/>
                <a:cs typeface="Calibri" pitchFamily="34" charset="-120"/>
              </a:rPr>
              <a:t>TOTAL UNITS SOLD</a:t>
            </a:r>
            <a:endParaRPr lang="en-US" sz="1350" dirty="0"/>
          </a:p>
        </p:txBody>
      </p:sp>
      <p:sp>
        <p:nvSpPr>
          <p:cNvPr id="33" name="Text 25"/>
          <p:cNvSpPr txBox="1"/>
          <p:nvPr/>
        </p:nvSpPr>
        <p:spPr>
          <a:xfrm>
            <a:off x="3425114" y="4133088"/>
            <a:ext cx="2464994" cy="365760"/>
          </a:xfrm>
          <a:prstGeom prst="rect">
            <a:avLst/>
          </a:prstGeom>
          <a:noFill/>
          <a:ln/>
        </p:spPr>
        <p:txBody>
          <a:bodyPr wrap="square" rtlCol="0" anchor="ctr"/>
          <a:lstStyle/>
          <a:p>
            <a:pPr marL="0" indent="0" algn="ctr">
              <a:buNone/>
            </a:pPr>
            <a:r>
              <a:rPr lang="en-US" sz="1500" b="1" i="1" dirty="0">
                <a:solidFill>
                  <a:srgbClr val="C9A227"/>
                </a:solidFill>
                <a:latin typeface="Calibri" pitchFamily="34" charset="0"/>
                <a:ea typeface="Calibri" pitchFamily="34" charset="-122"/>
                <a:cs typeface="Calibri" pitchFamily="34" charset="-120"/>
              </a:rPr>
              <a:t>[ 8,750 ]</a:t>
            </a:r>
            <a:endParaRPr lang="en-US" sz="1500" dirty="0"/>
          </a:p>
        </p:txBody>
      </p:sp>
      <p:sp>
        <p:nvSpPr>
          <p:cNvPr id="34" name="Shape 26"/>
          <p:cNvSpPr/>
          <p:nvPr/>
        </p:nvSpPr>
        <p:spPr>
          <a:xfrm>
            <a:off x="6210148" y="3200400"/>
            <a:ext cx="2647874" cy="1417320"/>
          </a:xfrm>
          <a:prstGeom prst="roundRect">
            <a:avLst>
              <a:gd name="adj" fmla="val 5161"/>
            </a:avLst>
          </a:prstGeom>
          <a:solidFill>
            <a:srgbClr val="E7EAF2"/>
          </a:solidFill>
          <a:ln w="9525">
            <a:solidFill>
              <a:srgbClr val="E8D48A"/>
            </a:solidFill>
            <a:prstDash val="solid"/>
          </a:ln>
          <a:effectLst>
            <a:outerShdw blurRad="76200" dist="25400" dir="5400000" algn="bl" rotWithShape="0">
              <a:srgbClr val="1B2A4A">
                <a:alpha val="12000"/>
              </a:srgbClr>
            </a:outerShdw>
          </a:effectLst>
        </p:spPr>
        <p:txBody>
          <a:bodyPr/>
          <a:lstStyle/>
          <a:p>
            <a:endParaRPr lang="en-IN"/>
          </a:p>
        </p:txBody>
      </p:sp>
      <p:sp>
        <p:nvSpPr>
          <p:cNvPr id="35" name="Shape 27"/>
          <p:cNvSpPr/>
          <p:nvPr/>
        </p:nvSpPr>
        <p:spPr>
          <a:xfrm>
            <a:off x="7305485" y="3346704"/>
            <a:ext cx="457200" cy="457200"/>
          </a:xfrm>
          <a:prstGeom prst="ellipse">
            <a:avLst/>
          </a:prstGeom>
          <a:solidFill>
            <a:srgbClr val="1B2A4A"/>
          </a:solidFill>
          <a:ln/>
        </p:spPr>
        <p:txBody>
          <a:bodyPr/>
          <a:lstStyle/>
          <a:p>
            <a:endParaRPr lang="en-IN"/>
          </a:p>
        </p:txBody>
      </p:sp>
      <p:pic>
        <p:nvPicPr>
          <p:cNvPr id="36" name="Image 6" descr="/home/claude/bookverse/icons/revenue.png"/>
          <p:cNvPicPr>
            <a:picLocks noChangeAspect="1"/>
          </p:cNvPicPr>
          <p:nvPr/>
        </p:nvPicPr>
        <p:blipFill>
          <a:blip r:embed="rId9"/>
          <a:stretch>
            <a:fillRect/>
          </a:stretch>
        </p:blipFill>
        <p:spPr>
          <a:xfrm>
            <a:off x="7374065" y="3415284"/>
            <a:ext cx="320040" cy="320040"/>
          </a:xfrm>
          <a:prstGeom prst="rect">
            <a:avLst/>
          </a:prstGeom>
        </p:spPr>
      </p:pic>
      <p:sp>
        <p:nvSpPr>
          <p:cNvPr id="37" name="Text 28"/>
          <p:cNvSpPr txBox="1"/>
          <p:nvPr/>
        </p:nvSpPr>
        <p:spPr>
          <a:xfrm>
            <a:off x="6301588" y="3877056"/>
            <a:ext cx="2464994" cy="256032"/>
          </a:xfrm>
          <a:prstGeom prst="rect">
            <a:avLst/>
          </a:prstGeom>
          <a:noFill/>
          <a:ln/>
        </p:spPr>
        <p:txBody>
          <a:bodyPr wrap="square" rtlCol="0" anchor="ctr"/>
          <a:lstStyle/>
          <a:p>
            <a:pPr marL="0" indent="0" algn="ctr">
              <a:buNone/>
            </a:pPr>
            <a:r>
              <a:rPr lang="en-US" sz="1350" b="1" kern="0" spc="50" dirty="0">
                <a:solidFill>
                  <a:srgbClr val="1B2A4A"/>
                </a:solidFill>
                <a:latin typeface="Calibri" pitchFamily="34" charset="0"/>
                <a:ea typeface="Calibri" pitchFamily="34" charset="-122"/>
                <a:cs typeface="Calibri" pitchFamily="34" charset="-120"/>
              </a:rPr>
              <a:t>TOTAL REVENUE</a:t>
            </a:r>
            <a:endParaRPr lang="en-US" sz="1350" dirty="0"/>
          </a:p>
        </p:txBody>
      </p:sp>
      <p:sp>
        <p:nvSpPr>
          <p:cNvPr id="38" name="Text 29"/>
          <p:cNvSpPr txBox="1"/>
          <p:nvPr/>
        </p:nvSpPr>
        <p:spPr>
          <a:xfrm>
            <a:off x="6301588" y="4133088"/>
            <a:ext cx="2464994" cy="365760"/>
          </a:xfrm>
          <a:prstGeom prst="rect">
            <a:avLst/>
          </a:prstGeom>
          <a:noFill/>
          <a:ln/>
        </p:spPr>
        <p:txBody>
          <a:bodyPr wrap="square" rtlCol="0" anchor="ctr"/>
          <a:lstStyle/>
          <a:p>
            <a:pPr algn="ctr"/>
            <a:r>
              <a:rPr lang="en-US" sz="1500" b="1" i="1" dirty="0">
                <a:solidFill>
                  <a:srgbClr val="C9A227"/>
                </a:solidFill>
                <a:latin typeface="Calibri" pitchFamily="34" charset="0"/>
                <a:ea typeface="Calibri" pitchFamily="34" charset="-122"/>
                <a:cs typeface="Calibri" pitchFamily="34" charset="-120"/>
              </a:rPr>
              <a:t>[</a:t>
            </a:r>
            <a:r>
              <a:rPr lang="en-IN" sz="1600" b="1" i="1" dirty="0">
                <a:solidFill>
                  <a:srgbClr val="C9A227"/>
                </a:solidFill>
                <a:latin typeface="Calibri" pitchFamily="34" charset="0"/>
                <a:ea typeface="Calibri" pitchFamily="34" charset="-122"/>
                <a:cs typeface="Calibri" pitchFamily="34" charset="-120"/>
              </a:rPr>
              <a:t> $ 1,250,450.00</a:t>
            </a:r>
            <a:r>
              <a:rPr lang="en-US" sz="1500" b="1" i="1" dirty="0">
                <a:solidFill>
                  <a:srgbClr val="C9A227"/>
                </a:solidFill>
                <a:latin typeface="Calibri" pitchFamily="34" charset="0"/>
                <a:ea typeface="Calibri" pitchFamily="34" charset="-122"/>
                <a:cs typeface="Calibri" pitchFamily="34" charset="-120"/>
              </a:rPr>
              <a:t> ]</a:t>
            </a:r>
            <a:endParaRPr lang="en-US" sz="1500" dirty="0"/>
          </a:p>
        </p:txBody>
      </p:sp>
      <p:sp>
        <p:nvSpPr>
          <p:cNvPr id="39" name="Shape 30"/>
          <p:cNvSpPr/>
          <p:nvPr/>
        </p:nvSpPr>
        <p:spPr>
          <a:xfrm>
            <a:off x="9086621" y="3200400"/>
            <a:ext cx="2647874" cy="1417320"/>
          </a:xfrm>
          <a:prstGeom prst="roundRect">
            <a:avLst>
              <a:gd name="adj" fmla="val 5161"/>
            </a:avLst>
          </a:prstGeom>
          <a:solidFill>
            <a:srgbClr val="F7EFD9"/>
          </a:solidFill>
          <a:ln w="12700">
            <a:solidFill>
              <a:srgbClr val="E7EAF2"/>
            </a:solidFill>
            <a:prstDash val="solid"/>
          </a:ln>
          <a:effectLst>
            <a:outerShdw blurRad="76200" dist="25400" dir="5400000" algn="bl" rotWithShape="0">
              <a:srgbClr val="1B2A4A">
                <a:alpha val="12000"/>
              </a:srgbClr>
            </a:outerShdw>
          </a:effectLst>
        </p:spPr>
        <p:txBody>
          <a:bodyPr/>
          <a:lstStyle/>
          <a:p>
            <a:endParaRPr lang="en-IN"/>
          </a:p>
        </p:txBody>
      </p:sp>
      <p:sp>
        <p:nvSpPr>
          <p:cNvPr id="40" name="Shape 31"/>
          <p:cNvSpPr/>
          <p:nvPr/>
        </p:nvSpPr>
        <p:spPr>
          <a:xfrm>
            <a:off x="10181958" y="3346704"/>
            <a:ext cx="457200" cy="457200"/>
          </a:xfrm>
          <a:prstGeom prst="ellipse">
            <a:avLst/>
          </a:prstGeom>
          <a:solidFill>
            <a:srgbClr val="1B2A4A"/>
          </a:solidFill>
          <a:ln/>
        </p:spPr>
        <p:txBody>
          <a:bodyPr/>
          <a:lstStyle/>
          <a:p>
            <a:endParaRPr lang="en-IN"/>
          </a:p>
        </p:txBody>
      </p:sp>
      <p:pic>
        <p:nvPicPr>
          <p:cNvPr id="41" name="Image 7" descr="/home/claude/bookverse/icons/target.png"/>
          <p:cNvPicPr>
            <a:picLocks noChangeAspect="1"/>
          </p:cNvPicPr>
          <p:nvPr/>
        </p:nvPicPr>
        <p:blipFill>
          <a:blip r:embed="rId10"/>
          <a:stretch>
            <a:fillRect/>
          </a:stretch>
        </p:blipFill>
        <p:spPr>
          <a:xfrm>
            <a:off x="10250538" y="3415284"/>
            <a:ext cx="320040" cy="320040"/>
          </a:xfrm>
          <a:prstGeom prst="rect">
            <a:avLst/>
          </a:prstGeom>
        </p:spPr>
      </p:pic>
      <p:sp>
        <p:nvSpPr>
          <p:cNvPr id="42" name="Text 32"/>
          <p:cNvSpPr txBox="1"/>
          <p:nvPr/>
        </p:nvSpPr>
        <p:spPr>
          <a:xfrm>
            <a:off x="9178061" y="3877056"/>
            <a:ext cx="2464994" cy="256032"/>
          </a:xfrm>
          <a:prstGeom prst="rect">
            <a:avLst/>
          </a:prstGeom>
          <a:noFill/>
          <a:ln/>
        </p:spPr>
        <p:txBody>
          <a:bodyPr wrap="square" rtlCol="0" anchor="ctr"/>
          <a:lstStyle/>
          <a:p>
            <a:pPr marL="0" indent="0" algn="ctr">
              <a:buNone/>
            </a:pPr>
            <a:r>
              <a:rPr lang="en-US" sz="1350" b="1" kern="0" spc="50" dirty="0">
                <a:solidFill>
                  <a:srgbClr val="1B2A4A"/>
                </a:solidFill>
                <a:latin typeface="Calibri" pitchFamily="34" charset="0"/>
                <a:ea typeface="Calibri" pitchFamily="34" charset="-122"/>
                <a:cs typeface="Calibri" pitchFamily="34" charset="-120"/>
              </a:rPr>
              <a:t>AVG ORDER VALUE</a:t>
            </a:r>
            <a:endParaRPr lang="en-US" sz="1350" dirty="0"/>
          </a:p>
        </p:txBody>
      </p:sp>
      <p:sp>
        <p:nvSpPr>
          <p:cNvPr id="43" name="Text 33"/>
          <p:cNvSpPr txBox="1"/>
          <p:nvPr/>
        </p:nvSpPr>
        <p:spPr>
          <a:xfrm>
            <a:off x="9178061" y="4133088"/>
            <a:ext cx="2464994" cy="365760"/>
          </a:xfrm>
          <a:prstGeom prst="rect">
            <a:avLst/>
          </a:prstGeom>
          <a:noFill/>
          <a:ln/>
        </p:spPr>
        <p:txBody>
          <a:bodyPr wrap="square" rtlCol="0" anchor="ctr"/>
          <a:lstStyle/>
          <a:p>
            <a:pPr marL="0" indent="0" algn="ctr">
              <a:buNone/>
            </a:pPr>
            <a:r>
              <a:rPr lang="en-US" sz="1500" b="1" i="1" dirty="0">
                <a:solidFill>
                  <a:srgbClr val="C9A227"/>
                </a:solidFill>
                <a:latin typeface="Calibri" pitchFamily="34" charset="0"/>
                <a:ea typeface="Calibri" pitchFamily="34" charset="-122"/>
                <a:cs typeface="Calibri" pitchFamily="34" charset="-120"/>
              </a:rPr>
              <a:t>[ 500.18 ]</a:t>
            </a:r>
            <a:endParaRPr lang="en-US" sz="1500" dirty="0"/>
          </a:p>
        </p:txBody>
      </p:sp>
      <p:sp>
        <p:nvSpPr>
          <p:cNvPr id="44" name="Text 34"/>
          <p:cNvSpPr txBox="1"/>
          <p:nvPr/>
        </p:nvSpPr>
        <p:spPr>
          <a:xfrm>
            <a:off x="457200" y="4892040"/>
            <a:ext cx="11277295" cy="365760"/>
          </a:xfrm>
          <a:prstGeom prst="rect">
            <a:avLst/>
          </a:prstGeom>
          <a:noFill/>
          <a:ln/>
        </p:spPr>
        <p:txBody>
          <a:bodyPr wrap="square" rtlCol="0" anchor="ctr"/>
          <a:lstStyle/>
          <a:p>
            <a:pPr marL="0" indent="0" algn="ctr">
              <a:buNone/>
            </a:pPr>
            <a:r>
              <a:rPr lang="en-US" sz="1250" i="1" dirty="0">
                <a:solidFill>
                  <a:srgbClr val="6B7280"/>
                </a:solidFill>
                <a:latin typeface="Calibri" pitchFamily="34" charset="0"/>
                <a:ea typeface="Calibri" pitchFamily="34" charset="-122"/>
                <a:cs typeface="Calibri" pitchFamily="34" charset="-120"/>
              </a:rPr>
              <a:t>Note: These KPI cards mirror the exact exploration queries in the Workbench file. Replace every placeholder with the actual value returned before presenting – do not estimate or invent figures.</a:t>
            </a:r>
            <a:endParaRPr lang="en-US" sz="1250" dirty="0"/>
          </a:p>
        </p:txBody>
      </p:sp>
      <p:sp>
        <p:nvSpPr>
          <p:cNvPr id="45" name="Shape 35"/>
          <p:cNvSpPr/>
          <p:nvPr/>
        </p:nvSpPr>
        <p:spPr>
          <a:xfrm>
            <a:off x="912457" y="5644461"/>
            <a:ext cx="1097280" cy="310896"/>
          </a:xfrm>
          <a:prstGeom prst="roundRect">
            <a:avLst>
              <a:gd name="adj" fmla="val 50000"/>
            </a:avLst>
          </a:prstGeom>
          <a:solidFill>
            <a:srgbClr val="1B2A4A"/>
          </a:solidFill>
          <a:ln/>
        </p:spPr>
        <p:txBody>
          <a:bodyPr/>
          <a:lstStyle/>
          <a:p>
            <a:endParaRPr lang="en-IN"/>
          </a:p>
        </p:txBody>
      </p:sp>
      <p:sp>
        <p:nvSpPr>
          <p:cNvPr id="46" name="Text 36"/>
          <p:cNvSpPr txBox="1"/>
          <p:nvPr/>
        </p:nvSpPr>
        <p:spPr>
          <a:xfrm>
            <a:off x="935317" y="5632704"/>
            <a:ext cx="1005840" cy="310896"/>
          </a:xfrm>
          <a:prstGeom prst="rect">
            <a:avLst/>
          </a:prstGeom>
          <a:noFill/>
          <a:ln/>
        </p:spPr>
        <p:txBody>
          <a:bodyPr wrap="square" rtlCol="0" anchor="ctr"/>
          <a:lstStyle/>
          <a:p>
            <a:pPr marL="0" indent="0" algn="ctr">
              <a:buNone/>
            </a:pPr>
            <a:r>
              <a:rPr lang="en-US" sz="1050" b="1" dirty="0">
                <a:solidFill>
                  <a:srgbClr val="E8D48A"/>
                </a:solidFill>
                <a:latin typeface="Courier New" pitchFamily="34" charset="0"/>
                <a:ea typeface="Courier New" pitchFamily="34" charset="-122"/>
                <a:cs typeface="Courier New" pitchFamily="34" charset="-120"/>
              </a:rPr>
              <a:t>COUNT</a:t>
            </a:r>
            <a:r>
              <a:rPr lang="en-US" sz="1050" dirty="0">
                <a:solidFill>
                  <a:srgbClr val="FFFFFF"/>
                </a:solidFill>
                <a:latin typeface="Courier New" pitchFamily="34" charset="0"/>
                <a:ea typeface="Courier New" pitchFamily="34" charset="-122"/>
                <a:cs typeface="Courier New" pitchFamily="34" charset="-120"/>
              </a:rPr>
              <a:t>(*)</a:t>
            </a:r>
            <a:endParaRPr lang="en-US" sz="1050" dirty="0"/>
          </a:p>
        </p:txBody>
      </p:sp>
      <p:sp>
        <p:nvSpPr>
          <p:cNvPr id="47" name="Shape 37"/>
          <p:cNvSpPr/>
          <p:nvPr/>
        </p:nvSpPr>
        <p:spPr>
          <a:xfrm>
            <a:off x="2145640" y="5644461"/>
            <a:ext cx="1554480" cy="310896"/>
          </a:xfrm>
          <a:prstGeom prst="roundRect">
            <a:avLst>
              <a:gd name="adj" fmla="val 50000"/>
            </a:avLst>
          </a:prstGeom>
          <a:solidFill>
            <a:srgbClr val="1B2A4A"/>
          </a:solidFill>
          <a:ln/>
        </p:spPr>
        <p:txBody>
          <a:bodyPr/>
          <a:lstStyle/>
          <a:p>
            <a:endParaRPr lang="en-IN"/>
          </a:p>
        </p:txBody>
      </p:sp>
      <p:sp>
        <p:nvSpPr>
          <p:cNvPr id="48" name="Text 38"/>
          <p:cNvSpPr txBox="1"/>
          <p:nvPr/>
        </p:nvSpPr>
        <p:spPr>
          <a:xfrm>
            <a:off x="2182640" y="5644461"/>
            <a:ext cx="1463040" cy="310896"/>
          </a:xfrm>
          <a:prstGeom prst="rect">
            <a:avLst/>
          </a:prstGeom>
          <a:noFill/>
          <a:ln/>
        </p:spPr>
        <p:txBody>
          <a:bodyPr wrap="square" rtlCol="0" anchor="ctr"/>
          <a:lstStyle/>
          <a:p>
            <a:pPr marL="0" indent="0" algn="ctr">
              <a:buNone/>
            </a:pPr>
            <a:r>
              <a:rPr lang="en-US" sz="1050" b="1" dirty="0">
                <a:solidFill>
                  <a:srgbClr val="E8D48A"/>
                </a:solidFill>
                <a:latin typeface="Courier New" pitchFamily="34" charset="0"/>
                <a:ea typeface="Courier New" pitchFamily="34" charset="-122"/>
                <a:cs typeface="Courier New" pitchFamily="34" charset="-120"/>
              </a:rPr>
              <a:t>DISTINCT</a:t>
            </a:r>
            <a:r>
              <a:rPr lang="en-US" sz="1050" b="1" dirty="0">
                <a:solidFill>
                  <a:srgbClr val="FFFFFF"/>
                </a:solidFill>
                <a:latin typeface="Courier New" pitchFamily="34" charset="0"/>
                <a:ea typeface="Courier New" pitchFamily="34" charset="-122"/>
                <a:cs typeface="Courier New" pitchFamily="34" charset="-120"/>
              </a:rPr>
              <a:t> </a:t>
            </a:r>
            <a:r>
              <a:rPr lang="en-US" sz="1050" dirty="0">
                <a:solidFill>
                  <a:srgbClr val="FFFFFF"/>
                </a:solidFill>
                <a:latin typeface="Courier New" pitchFamily="34" charset="0"/>
                <a:ea typeface="Courier New" pitchFamily="34" charset="-122"/>
                <a:cs typeface="Courier New" pitchFamily="34" charset="-120"/>
              </a:rPr>
              <a:t>Genre</a:t>
            </a:r>
            <a:endParaRPr lang="en-US" sz="1050" dirty="0"/>
          </a:p>
        </p:txBody>
      </p:sp>
      <p:sp>
        <p:nvSpPr>
          <p:cNvPr id="49" name="Shape 39"/>
          <p:cNvSpPr/>
          <p:nvPr/>
        </p:nvSpPr>
        <p:spPr>
          <a:xfrm>
            <a:off x="3858883" y="5632704"/>
            <a:ext cx="1691640" cy="310896"/>
          </a:xfrm>
          <a:prstGeom prst="roundRect">
            <a:avLst>
              <a:gd name="adj" fmla="val 50000"/>
            </a:avLst>
          </a:prstGeom>
          <a:solidFill>
            <a:srgbClr val="1B2A4A"/>
          </a:solidFill>
          <a:ln/>
        </p:spPr>
        <p:txBody>
          <a:bodyPr/>
          <a:lstStyle/>
          <a:p>
            <a:endParaRPr lang="en-IN"/>
          </a:p>
        </p:txBody>
      </p:sp>
      <p:sp>
        <p:nvSpPr>
          <p:cNvPr id="50" name="Text 40"/>
          <p:cNvSpPr txBox="1"/>
          <p:nvPr/>
        </p:nvSpPr>
        <p:spPr>
          <a:xfrm>
            <a:off x="3904603" y="5628006"/>
            <a:ext cx="1600200" cy="310896"/>
          </a:xfrm>
          <a:prstGeom prst="rect">
            <a:avLst/>
          </a:prstGeom>
          <a:noFill/>
          <a:ln/>
        </p:spPr>
        <p:txBody>
          <a:bodyPr wrap="square" rtlCol="0" anchor="ctr"/>
          <a:lstStyle/>
          <a:p>
            <a:pPr marL="0" indent="0" algn="ctr">
              <a:buNone/>
            </a:pPr>
            <a:r>
              <a:rPr lang="en-US" sz="1050" b="1" dirty="0">
                <a:solidFill>
                  <a:srgbClr val="E8D48A"/>
                </a:solidFill>
                <a:latin typeface="Courier New" pitchFamily="34" charset="0"/>
                <a:ea typeface="Courier New" pitchFamily="34" charset="-122"/>
                <a:cs typeface="Courier New" pitchFamily="34" charset="-120"/>
              </a:rPr>
              <a:t>DISTINCT </a:t>
            </a:r>
            <a:r>
              <a:rPr lang="en-US" sz="1050" dirty="0">
                <a:solidFill>
                  <a:srgbClr val="FFFFFF"/>
                </a:solidFill>
                <a:latin typeface="Courier New" pitchFamily="34" charset="0"/>
                <a:ea typeface="Courier New" pitchFamily="34" charset="-122"/>
                <a:cs typeface="Courier New" pitchFamily="34" charset="-120"/>
              </a:rPr>
              <a:t>Country</a:t>
            </a:r>
            <a:endParaRPr lang="en-US" sz="1050" dirty="0"/>
          </a:p>
        </p:txBody>
      </p:sp>
      <p:sp>
        <p:nvSpPr>
          <p:cNvPr id="51" name="Shape 41"/>
          <p:cNvSpPr/>
          <p:nvPr/>
        </p:nvSpPr>
        <p:spPr>
          <a:xfrm>
            <a:off x="5675224" y="5632704"/>
            <a:ext cx="1600200" cy="310896"/>
          </a:xfrm>
          <a:prstGeom prst="roundRect">
            <a:avLst>
              <a:gd name="adj" fmla="val 50000"/>
            </a:avLst>
          </a:prstGeom>
          <a:solidFill>
            <a:srgbClr val="1B2A4A"/>
          </a:solidFill>
          <a:ln/>
        </p:spPr>
        <p:txBody>
          <a:bodyPr/>
          <a:lstStyle/>
          <a:p>
            <a:endParaRPr lang="en-IN"/>
          </a:p>
        </p:txBody>
      </p:sp>
      <p:sp>
        <p:nvSpPr>
          <p:cNvPr id="52" name="Text 42"/>
          <p:cNvSpPr txBox="1"/>
          <p:nvPr/>
        </p:nvSpPr>
        <p:spPr>
          <a:xfrm>
            <a:off x="5720944" y="5632704"/>
            <a:ext cx="1508760" cy="310896"/>
          </a:xfrm>
          <a:prstGeom prst="rect">
            <a:avLst/>
          </a:prstGeom>
          <a:noFill/>
          <a:ln/>
        </p:spPr>
        <p:txBody>
          <a:bodyPr wrap="square" rtlCol="0" anchor="ctr"/>
          <a:lstStyle/>
          <a:p>
            <a:pPr marL="0" indent="0" algn="ctr">
              <a:buNone/>
            </a:pPr>
            <a:r>
              <a:rPr lang="en-US" sz="1050" b="1" dirty="0">
                <a:solidFill>
                  <a:srgbClr val="E8D48A"/>
                </a:solidFill>
                <a:latin typeface="Courier New" pitchFamily="34" charset="0"/>
                <a:ea typeface="Courier New" pitchFamily="34" charset="-122"/>
                <a:cs typeface="Courier New" pitchFamily="34" charset="-120"/>
              </a:rPr>
              <a:t>SUM</a:t>
            </a:r>
            <a:r>
              <a:rPr lang="en-US" sz="1050" dirty="0">
                <a:solidFill>
                  <a:srgbClr val="FFFFFF"/>
                </a:solidFill>
                <a:latin typeface="Courier New" pitchFamily="34" charset="0"/>
                <a:ea typeface="Courier New" pitchFamily="34" charset="-122"/>
                <a:cs typeface="Courier New" pitchFamily="34" charset="-120"/>
              </a:rPr>
              <a:t>(Quantity)</a:t>
            </a:r>
            <a:endParaRPr lang="en-US" sz="1050" dirty="0"/>
          </a:p>
        </p:txBody>
      </p:sp>
      <p:sp>
        <p:nvSpPr>
          <p:cNvPr id="53" name="Shape 43"/>
          <p:cNvSpPr/>
          <p:nvPr/>
        </p:nvSpPr>
        <p:spPr>
          <a:xfrm>
            <a:off x="7449040" y="5632704"/>
            <a:ext cx="1874520" cy="310896"/>
          </a:xfrm>
          <a:prstGeom prst="roundRect">
            <a:avLst>
              <a:gd name="adj" fmla="val 50000"/>
            </a:avLst>
          </a:prstGeom>
          <a:solidFill>
            <a:srgbClr val="1B2A4A"/>
          </a:solidFill>
          <a:ln/>
        </p:spPr>
        <p:txBody>
          <a:bodyPr/>
          <a:lstStyle/>
          <a:p>
            <a:endParaRPr lang="en-IN"/>
          </a:p>
        </p:txBody>
      </p:sp>
      <p:sp>
        <p:nvSpPr>
          <p:cNvPr id="54" name="Text 44"/>
          <p:cNvSpPr txBox="1"/>
          <p:nvPr/>
        </p:nvSpPr>
        <p:spPr>
          <a:xfrm>
            <a:off x="7494760" y="5632704"/>
            <a:ext cx="1783080" cy="310896"/>
          </a:xfrm>
          <a:prstGeom prst="rect">
            <a:avLst/>
          </a:prstGeom>
          <a:noFill/>
          <a:ln/>
        </p:spPr>
        <p:txBody>
          <a:bodyPr wrap="square" rtlCol="0" anchor="ctr"/>
          <a:lstStyle/>
          <a:p>
            <a:pPr marL="0" indent="0" algn="ctr">
              <a:buNone/>
            </a:pPr>
            <a:r>
              <a:rPr lang="en-US" sz="1050" b="1" dirty="0">
                <a:solidFill>
                  <a:srgbClr val="E8D48A"/>
                </a:solidFill>
                <a:latin typeface="Courier New" pitchFamily="34" charset="0"/>
                <a:ea typeface="Courier New" pitchFamily="34" charset="-122"/>
                <a:cs typeface="Courier New" pitchFamily="34" charset="-120"/>
              </a:rPr>
              <a:t>SUM</a:t>
            </a:r>
            <a:r>
              <a:rPr lang="en-US" sz="1050" dirty="0">
                <a:solidFill>
                  <a:srgbClr val="FFFFFF"/>
                </a:solidFill>
                <a:latin typeface="Courier New" pitchFamily="34" charset="0"/>
                <a:ea typeface="Courier New" pitchFamily="34" charset="-122"/>
                <a:cs typeface="Courier New" pitchFamily="34" charset="-120"/>
              </a:rPr>
              <a:t>(Total_Amount)</a:t>
            </a:r>
            <a:endParaRPr lang="en-US" sz="1050" dirty="0"/>
          </a:p>
        </p:txBody>
      </p:sp>
      <p:sp>
        <p:nvSpPr>
          <p:cNvPr id="55" name="Shape 45"/>
          <p:cNvSpPr/>
          <p:nvPr/>
        </p:nvSpPr>
        <p:spPr>
          <a:xfrm>
            <a:off x="9479128" y="5644461"/>
            <a:ext cx="1874520" cy="310896"/>
          </a:xfrm>
          <a:prstGeom prst="roundRect">
            <a:avLst>
              <a:gd name="adj" fmla="val 50000"/>
            </a:avLst>
          </a:prstGeom>
          <a:solidFill>
            <a:srgbClr val="1B2A4A"/>
          </a:solidFill>
          <a:ln/>
        </p:spPr>
        <p:txBody>
          <a:bodyPr/>
          <a:lstStyle/>
          <a:p>
            <a:endParaRPr lang="en-IN"/>
          </a:p>
        </p:txBody>
      </p:sp>
      <p:sp>
        <p:nvSpPr>
          <p:cNvPr id="56" name="Text 46"/>
          <p:cNvSpPr txBox="1"/>
          <p:nvPr/>
        </p:nvSpPr>
        <p:spPr>
          <a:xfrm>
            <a:off x="9524848" y="5644461"/>
            <a:ext cx="1783080" cy="310896"/>
          </a:xfrm>
          <a:prstGeom prst="rect">
            <a:avLst/>
          </a:prstGeom>
          <a:noFill/>
          <a:ln/>
        </p:spPr>
        <p:txBody>
          <a:bodyPr wrap="square" rtlCol="0" anchor="ctr"/>
          <a:lstStyle/>
          <a:p>
            <a:pPr marL="0" indent="0" algn="ctr">
              <a:buNone/>
            </a:pPr>
            <a:r>
              <a:rPr lang="en-US" sz="1050" b="1" dirty="0">
                <a:solidFill>
                  <a:srgbClr val="E8D48A"/>
                </a:solidFill>
                <a:latin typeface="Courier New" pitchFamily="34" charset="0"/>
                <a:ea typeface="Courier New" pitchFamily="34" charset="-122"/>
                <a:cs typeface="Courier New" pitchFamily="34" charset="-120"/>
              </a:rPr>
              <a:t>AVG</a:t>
            </a:r>
            <a:r>
              <a:rPr lang="en-US" sz="1050" dirty="0">
                <a:solidFill>
                  <a:srgbClr val="FFFFFF"/>
                </a:solidFill>
                <a:latin typeface="Courier New" pitchFamily="34" charset="0"/>
                <a:ea typeface="Courier New" pitchFamily="34" charset="-122"/>
                <a:cs typeface="Courier New" pitchFamily="34" charset="-120"/>
              </a:rPr>
              <a:t>(Total_Amount)</a:t>
            </a:r>
            <a:endParaRPr lang="en-US" sz="1050" dirty="0"/>
          </a:p>
        </p:txBody>
      </p:sp>
      <p:sp>
        <p:nvSpPr>
          <p:cNvPr id="57" name="Text 47"/>
          <p:cNvSpPr txBox="1"/>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58" name="Text 48"/>
          <p:cNvSpPr txBox="1"/>
          <p:nvPr/>
        </p:nvSpPr>
        <p:spPr>
          <a:xfrm>
            <a:off x="10637215" y="6547104"/>
            <a:ext cx="1097280"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 / 16</a:t>
            </a:r>
            <a:endParaRPr lang="en-US" sz="9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par>
                                <p:cTn id="40" presetID="53" presetClass="entr" presetSubtype="16"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500" fill="hold"/>
                                        <p:tgtEl>
                                          <p:spTgt spid="11"/>
                                        </p:tgtEl>
                                        <p:attrNameLst>
                                          <p:attrName>ppt_w</p:attrName>
                                        </p:attrNameLst>
                                      </p:cBhvr>
                                      <p:tavLst>
                                        <p:tav tm="0">
                                          <p:val>
                                            <p:fltVal val="0"/>
                                          </p:val>
                                        </p:tav>
                                        <p:tav tm="100000">
                                          <p:val>
                                            <p:strVal val="#ppt_w"/>
                                          </p:val>
                                        </p:tav>
                                      </p:tavLst>
                                    </p:anim>
                                    <p:anim calcmode="lin" valueType="num">
                                      <p:cBhvr>
                                        <p:cTn id="43" dur="500" fill="hold"/>
                                        <p:tgtEl>
                                          <p:spTgt spid="11"/>
                                        </p:tgtEl>
                                        <p:attrNameLst>
                                          <p:attrName>ppt_h</p:attrName>
                                        </p:attrNameLst>
                                      </p:cBhvr>
                                      <p:tavLst>
                                        <p:tav tm="0">
                                          <p:val>
                                            <p:fltVal val="0"/>
                                          </p:val>
                                        </p:tav>
                                        <p:tav tm="100000">
                                          <p:val>
                                            <p:strVal val="#ppt_h"/>
                                          </p:val>
                                        </p:tav>
                                      </p:tavLst>
                                    </p:anim>
                                    <p:animEffect transition="in" filter="fade">
                                      <p:cBhvr>
                                        <p:cTn id="44" dur="500"/>
                                        <p:tgtEl>
                                          <p:spTgt spid="11"/>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p:cTn id="47" dur="500" fill="hold"/>
                                        <p:tgtEl>
                                          <p:spTgt spid="12"/>
                                        </p:tgtEl>
                                        <p:attrNameLst>
                                          <p:attrName>ppt_w</p:attrName>
                                        </p:attrNameLst>
                                      </p:cBhvr>
                                      <p:tavLst>
                                        <p:tav tm="0">
                                          <p:val>
                                            <p:fltVal val="0"/>
                                          </p:val>
                                        </p:tav>
                                        <p:tav tm="100000">
                                          <p:val>
                                            <p:strVal val="#ppt_w"/>
                                          </p:val>
                                        </p:tav>
                                      </p:tavLst>
                                    </p:anim>
                                    <p:anim calcmode="lin" valueType="num">
                                      <p:cBhvr>
                                        <p:cTn id="48" dur="500" fill="hold"/>
                                        <p:tgtEl>
                                          <p:spTgt spid="12"/>
                                        </p:tgtEl>
                                        <p:attrNameLst>
                                          <p:attrName>ppt_h</p:attrName>
                                        </p:attrNameLst>
                                      </p:cBhvr>
                                      <p:tavLst>
                                        <p:tav tm="0">
                                          <p:val>
                                            <p:fltVal val="0"/>
                                          </p:val>
                                        </p:tav>
                                        <p:tav tm="100000">
                                          <p:val>
                                            <p:strVal val="#ppt_h"/>
                                          </p:val>
                                        </p:tav>
                                      </p:tavLst>
                                    </p:anim>
                                    <p:animEffect transition="in" filter="fade">
                                      <p:cBhvr>
                                        <p:cTn id="49" dur="500"/>
                                        <p:tgtEl>
                                          <p:spTgt spid="1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p:cTn id="52" dur="500" fill="hold"/>
                                        <p:tgtEl>
                                          <p:spTgt spid="13"/>
                                        </p:tgtEl>
                                        <p:attrNameLst>
                                          <p:attrName>ppt_w</p:attrName>
                                        </p:attrNameLst>
                                      </p:cBhvr>
                                      <p:tavLst>
                                        <p:tav tm="0">
                                          <p:val>
                                            <p:fltVal val="0"/>
                                          </p:val>
                                        </p:tav>
                                        <p:tav tm="100000">
                                          <p:val>
                                            <p:strVal val="#ppt_w"/>
                                          </p:val>
                                        </p:tav>
                                      </p:tavLst>
                                    </p:anim>
                                    <p:anim calcmode="lin" valueType="num">
                                      <p:cBhvr>
                                        <p:cTn id="53" dur="500" fill="hold"/>
                                        <p:tgtEl>
                                          <p:spTgt spid="13"/>
                                        </p:tgtEl>
                                        <p:attrNameLst>
                                          <p:attrName>ppt_h</p:attrName>
                                        </p:attrNameLst>
                                      </p:cBhvr>
                                      <p:tavLst>
                                        <p:tav tm="0">
                                          <p:val>
                                            <p:fltVal val="0"/>
                                          </p:val>
                                        </p:tav>
                                        <p:tav tm="100000">
                                          <p:val>
                                            <p:strVal val="#ppt_h"/>
                                          </p:val>
                                        </p:tav>
                                      </p:tavLst>
                                    </p:anim>
                                    <p:animEffect transition="in" filter="fade">
                                      <p:cBhvr>
                                        <p:cTn id="54" dur="500"/>
                                        <p:tgtEl>
                                          <p:spTgt spid="13"/>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p:cTn id="57" dur="500" fill="hold"/>
                                        <p:tgtEl>
                                          <p:spTgt spid="14"/>
                                        </p:tgtEl>
                                        <p:attrNameLst>
                                          <p:attrName>ppt_w</p:attrName>
                                        </p:attrNameLst>
                                      </p:cBhvr>
                                      <p:tavLst>
                                        <p:tav tm="0">
                                          <p:val>
                                            <p:fltVal val="0"/>
                                          </p:val>
                                        </p:tav>
                                        <p:tav tm="100000">
                                          <p:val>
                                            <p:strVal val="#ppt_w"/>
                                          </p:val>
                                        </p:tav>
                                      </p:tavLst>
                                    </p:anim>
                                    <p:anim calcmode="lin" valueType="num">
                                      <p:cBhvr>
                                        <p:cTn id="58" dur="500" fill="hold"/>
                                        <p:tgtEl>
                                          <p:spTgt spid="14"/>
                                        </p:tgtEl>
                                        <p:attrNameLst>
                                          <p:attrName>ppt_h</p:attrName>
                                        </p:attrNameLst>
                                      </p:cBhvr>
                                      <p:tavLst>
                                        <p:tav tm="0">
                                          <p:val>
                                            <p:fltVal val="0"/>
                                          </p:val>
                                        </p:tav>
                                        <p:tav tm="100000">
                                          <p:val>
                                            <p:strVal val="#ppt_h"/>
                                          </p:val>
                                        </p:tav>
                                      </p:tavLst>
                                    </p:anim>
                                    <p:animEffect transition="in" filter="fade">
                                      <p:cBhvr>
                                        <p:cTn id="59" dur="500"/>
                                        <p:tgtEl>
                                          <p:spTgt spid="14"/>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p:cTn id="62" dur="500" fill="hold"/>
                                        <p:tgtEl>
                                          <p:spTgt spid="15"/>
                                        </p:tgtEl>
                                        <p:attrNameLst>
                                          <p:attrName>ppt_w</p:attrName>
                                        </p:attrNameLst>
                                      </p:cBhvr>
                                      <p:tavLst>
                                        <p:tav tm="0">
                                          <p:val>
                                            <p:fltVal val="0"/>
                                          </p:val>
                                        </p:tav>
                                        <p:tav tm="100000">
                                          <p:val>
                                            <p:strVal val="#ppt_w"/>
                                          </p:val>
                                        </p:tav>
                                      </p:tavLst>
                                    </p:anim>
                                    <p:anim calcmode="lin" valueType="num">
                                      <p:cBhvr>
                                        <p:cTn id="63" dur="500" fill="hold"/>
                                        <p:tgtEl>
                                          <p:spTgt spid="15"/>
                                        </p:tgtEl>
                                        <p:attrNameLst>
                                          <p:attrName>ppt_h</p:attrName>
                                        </p:attrNameLst>
                                      </p:cBhvr>
                                      <p:tavLst>
                                        <p:tav tm="0">
                                          <p:val>
                                            <p:fltVal val="0"/>
                                          </p:val>
                                        </p:tav>
                                        <p:tav tm="100000">
                                          <p:val>
                                            <p:strVal val="#ppt_h"/>
                                          </p:val>
                                        </p:tav>
                                      </p:tavLst>
                                    </p:anim>
                                    <p:animEffect transition="in" filter="fade">
                                      <p:cBhvr>
                                        <p:cTn id="64" dur="500"/>
                                        <p:tgtEl>
                                          <p:spTgt spid="15"/>
                                        </p:tgtEl>
                                      </p:cBhvr>
                                    </p:animEffect>
                                  </p:childTnLst>
                                </p:cTn>
                              </p:par>
                              <p:par>
                                <p:cTn id="65" presetID="53" presetClass="entr" presetSubtype="16"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p:cTn id="67" dur="500" fill="hold"/>
                                        <p:tgtEl>
                                          <p:spTgt spid="16"/>
                                        </p:tgtEl>
                                        <p:attrNameLst>
                                          <p:attrName>ppt_w</p:attrName>
                                        </p:attrNameLst>
                                      </p:cBhvr>
                                      <p:tavLst>
                                        <p:tav tm="0">
                                          <p:val>
                                            <p:fltVal val="0"/>
                                          </p:val>
                                        </p:tav>
                                        <p:tav tm="100000">
                                          <p:val>
                                            <p:strVal val="#ppt_w"/>
                                          </p:val>
                                        </p:tav>
                                      </p:tavLst>
                                    </p:anim>
                                    <p:anim calcmode="lin" valueType="num">
                                      <p:cBhvr>
                                        <p:cTn id="68" dur="500" fill="hold"/>
                                        <p:tgtEl>
                                          <p:spTgt spid="16"/>
                                        </p:tgtEl>
                                        <p:attrNameLst>
                                          <p:attrName>ppt_h</p:attrName>
                                        </p:attrNameLst>
                                      </p:cBhvr>
                                      <p:tavLst>
                                        <p:tav tm="0">
                                          <p:val>
                                            <p:fltVal val="0"/>
                                          </p:val>
                                        </p:tav>
                                        <p:tav tm="100000">
                                          <p:val>
                                            <p:strVal val="#ppt_h"/>
                                          </p:val>
                                        </p:tav>
                                      </p:tavLst>
                                    </p:anim>
                                    <p:animEffect transition="in" filter="fade">
                                      <p:cBhvr>
                                        <p:cTn id="69" dur="500"/>
                                        <p:tgtEl>
                                          <p:spTgt spid="16"/>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p:cTn id="72" dur="500" fill="hold"/>
                                        <p:tgtEl>
                                          <p:spTgt spid="17"/>
                                        </p:tgtEl>
                                        <p:attrNameLst>
                                          <p:attrName>ppt_w</p:attrName>
                                        </p:attrNameLst>
                                      </p:cBhvr>
                                      <p:tavLst>
                                        <p:tav tm="0">
                                          <p:val>
                                            <p:fltVal val="0"/>
                                          </p:val>
                                        </p:tav>
                                        <p:tav tm="100000">
                                          <p:val>
                                            <p:strVal val="#ppt_w"/>
                                          </p:val>
                                        </p:tav>
                                      </p:tavLst>
                                    </p:anim>
                                    <p:anim calcmode="lin" valueType="num">
                                      <p:cBhvr>
                                        <p:cTn id="73" dur="500" fill="hold"/>
                                        <p:tgtEl>
                                          <p:spTgt spid="17"/>
                                        </p:tgtEl>
                                        <p:attrNameLst>
                                          <p:attrName>ppt_h</p:attrName>
                                        </p:attrNameLst>
                                      </p:cBhvr>
                                      <p:tavLst>
                                        <p:tav tm="0">
                                          <p:val>
                                            <p:fltVal val="0"/>
                                          </p:val>
                                        </p:tav>
                                        <p:tav tm="100000">
                                          <p:val>
                                            <p:strVal val="#ppt_h"/>
                                          </p:val>
                                        </p:tav>
                                      </p:tavLst>
                                    </p:anim>
                                    <p:animEffect transition="in" filter="fade">
                                      <p:cBhvr>
                                        <p:cTn id="74" dur="500"/>
                                        <p:tgtEl>
                                          <p:spTgt spid="17"/>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 calcmode="lin" valueType="num">
                                      <p:cBhvr>
                                        <p:cTn id="77" dur="500" fill="hold"/>
                                        <p:tgtEl>
                                          <p:spTgt spid="18"/>
                                        </p:tgtEl>
                                        <p:attrNameLst>
                                          <p:attrName>ppt_w</p:attrName>
                                        </p:attrNameLst>
                                      </p:cBhvr>
                                      <p:tavLst>
                                        <p:tav tm="0">
                                          <p:val>
                                            <p:fltVal val="0"/>
                                          </p:val>
                                        </p:tav>
                                        <p:tav tm="100000">
                                          <p:val>
                                            <p:strVal val="#ppt_w"/>
                                          </p:val>
                                        </p:tav>
                                      </p:tavLst>
                                    </p:anim>
                                    <p:anim calcmode="lin" valueType="num">
                                      <p:cBhvr>
                                        <p:cTn id="78" dur="500" fill="hold"/>
                                        <p:tgtEl>
                                          <p:spTgt spid="18"/>
                                        </p:tgtEl>
                                        <p:attrNameLst>
                                          <p:attrName>ppt_h</p:attrName>
                                        </p:attrNameLst>
                                      </p:cBhvr>
                                      <p:tavLst>
                                        <p:tav tm="0">
                                          <p:val>
                                            <p:fltVal val="0"/>
                                          </p:val>
                                        </p:tav>
                                        <p:tav tm="100000">
                                          <p:val>
                                            <p:strVal val="#ppt_h"/>
                                          </p:val>
                                        </p:tav>
                                      </p:tavLst>
                                    </p:anim>
                                    <p:animEffect transition="in" filter="fade">
                                      <p:cBhvr>
                                        <p:cTn id="79" dur="500"/>
                                        <p:tgtEl>
                                          <p:spTgt spid="18"/>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 calcmode="lin" valueType="num">
                                      <p:cBhvr>
                                        <p:cTn id="82" dur="500" fill="hold"/>
                                        <p:tgtEl>
                                          <p:spTgt spid="19"/>
                                        </p:tgtEl>
                                        <p:attrNameLst>
                                          <p:attrName>ppt_w</p:attrName>
                                        </p:attrNameLst>
                                      </p:cBhvr>
                                      <p:tavLst>
                                        <p:tav tm="0">
                                          <p:val>
                                            <p:fltVal val="0"/>
                                          </p:val>
                                        </p:tav>
                                        <p:tav tm="100000">
                                          <p:val>
                                            <p:strVal val="#ppt_w"/>
                                          </p:val>
                                        </p:tav>
                                      </p:tavLst>
                                    </p:anim>
                                    <p:anim calcmode="lin" valueType="num">
                                      <p:cBhvr>
                                        <p:cTn id="83" dur="500" fill="hold"/>
                                        <p:tgtEl>
                                          <p:spTgt spid="19"/>
                                        </p:tgtEl>
                                        <p:attrNameLst>
                                          <p:attrName>ppt_h</p:attrName>
                                        </p:attrNameLst>
                                      </p:cBhvr>
                                      <p:tavLst>
                                        <p:tav tm="0">
                                          <p:val>
                                            <p:fltVal val="0"/>
                                          </p:val>
                                        </p:tav>
                                        <p:tav tm="100000">
                                          <p:val>
                                            <p:strVal val="#ppt_h"/>
                                          </p:val>
                                        </p:tav>
                                      </p:tavLst>
                                    </p:anim>
                                    <p:animEffect transition="in" filter="fade">
                                      <p:cBhvr>
                                        <p:cTn id="84" dur="500"/>
                                        <p:tgtEl>
                                          <p:spTgt spid="19"/>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 calcmode="lin" valueType="num">
                                      <p:cBhvr>
                                        <p:cTn id="87" dur="500" fill="hold"/>
                                        <p:tgtEl>
                                          <p:spTgt spid="20"/>
                                        </p:tgtEl>
                                        <p:attrNameLst>
                                          <p:attrName>ppt_w</p:attrName>
                                        </p:attrNameLst>
                                      </p:cBhvr>
                                      <p:tavLst>
                                        <p:tav tm="0">
                                          <p:val>
                                            <p:fltVal val="0"/>
                                          </p:val>
                                        </p:tav>
                                        <p:tav tm="100000">
                                          <p:val>
                                            <p:strVal val="#ppt_w"/>
                                          </p:val>
                                        </p:tav>
                                      </p:tavLst>
                                    </p:anim>
                                    <p:anim calcmode="lin" valueType="num">
                                      <p:cBhvr>
                                        <p:cTn id="88" dur="500" fill="hold"/>
                                        <p:tgtEl>
                                          <p:spTgt spid="20"/>
                                        </p:tgtEl>
                                        <p:attrNameLst>
                                          <p:attrName>ppt_h</p:attrName>
                                        </p:attrNameLst>
                                      </p:cBhvr>
                                      <p:tavLst>
                                        <p:tav tm="0">
                                          <p:val>
                                            <p:fltVal val="0"/>
                                          </p:val>
                                        </p:tav>
                                        <p:tav tm="100000">
                                          <p:val>
                                            <p:strVal val="#ppt_h"/>
                                          </p:val>
                                        </p:tav>
                                      </p:tavLst>
                                    </p:anim>
                                    <p:animEffect transition="in" filter="fade">
                                      <p:cBhvr>
                                        <p:cTn id="89" dur="500"/>
                                        <p:tgtEl>
                                          <p:spTgt spid="20"/>
                                        </p:tgtEl>
                                      </p:cBhvr>
                                    </p:animEffect>
                                  </p:childTnLst>
                                </p:cTn>
                              </p:par>
                              <p:par>
                                <p:cTn id="90" presetID="53" presetClass="entr" presetSubtype="16" fill="hold" nodeType="withEffect">
                                  <p:stCondLst>
                                    <p:cond delay="0"/>
                                  </p:stCondLst>
                                  <p:childTnLst>
                                    <p:set>
                                      <p:cBhvr>
                                        <p:cTn id="91" dur="1" fill="hold">
                                          <p:stCondLst>
                                            <p:cond delay="0"/>
                                          </p:stCondLst>
                                        </p:cTn>
                                        <p:tgtEl>
                                          <p:spTgt spid="21"/>
                                        </p:tgtEl>
                                        <p:attrNameLst>
                                          <p:attrName>style.visibility</p:attrName>
                                        </p:attrNameLst>
                                      </p:cBhvr>
                                      <p:to>
                                        <p:strVal val="visible"/>
                                      </p:to>
                                    </p:set>
                                    <p:anim calcmode="lin" valueType="num">
                                      <p:cBhvr>
                                        <p:cTn id="92" dur="500" fill="hold"/>
                                        <p:tgtEl>
                                          <p:spTgt spid="21"/>
                                        </p:tgtEl>
                                        <p:attrNameLst>
                                          <p:attrName>ppt_w</p:attrName>
                                        </p:attrNameLst>
                                      </p:cBhvr>
                                      <p:tavLst>
                                        <p:tav tm="0">
                                          <p:val>
                                            <p:fltVal val="0"/>
                                          </p:val>
                                        </p:tav>
                                        <p:tav tm="100000">
                                          <p:val>
                                            <p:strVal val="#ppt_w"/>
                                          </p:val>
                                        </p:tav>
                                      </p:tavLst>
                                    </p:anim>
                                    <p:anim calcmode="lin" valueType="num">
                                      <p:cBhvr>
                                        <p:cTn id="93" dur="500" fill="hold"/>
                                        <p:tgtEl>
                                          <p:spTgt spid="21"/>
                                        </p:tgtEl>
                                        <p:attrNameLst>
                                          <p:attrName>ppt_h</p:attrName>
                                        </p:attrNameLst>
                                      </p:cBhvr>
                                      <p:tavLst>
                                        <p:tav tm="0">
                                          <p:val>
                                            <p:fltVal val="0"/>
                                          </p:val>
                                        </p:tav>
                                        <p:tav tm="100000">
                                          <p:val>
                                            <p:strVal val="#ppt_h"/>
                                          </p:val>
                                        </p:tav>
                                      </p:tavLst>
                                    </p:anim>
                                    <p:animEffect transition="in" filter="fade">
                                      <p:cBhvr>
                                        <p:cTn id="94" dur="500"/>
                                        <p:tgtEl>
                                          <p:spTgt spid="21"/>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 calcmode="lin" valueType="num">
                                      <p:cBhvr>
                                        <p:cTn id="97" dur="500" fill="hold"/>
                                        <p:tgtEl>
                                          <p:spTgt spid="22"/>
                                        </p:tgtEl>
                                        <p:attrNameLst>
                                          <p:attrName>ppt_w</p:attrName>
                                        </p:attrNameLst>
                                      </p:cBhvr>
                                      <p:tavLst>
                                        <p:tav tm="0">
                                          <p:val>
                                            <p:fltVal val="0"/>
                                          </p:val>
                                        </p:tav>
                                        <p:tav tm="100000">
                                          <p:val>
                                            <p:strVal val="#ppt_w"/>
                                          </p:val>
                                        </p:tav>
                                      </p:tavLst>
                                    </p:anim>
                                    <p:anim calcmode="lin" valueType="num">
                                      <p:cBhvr>
                                        <p:cTn id="98" dur="500" fill="hold"/>
                                        <p:tgtEl>
                                          <p:spTgt spid="22"/>
                                        </p:tgtEl>
                                        <p:attrNameLst>
                                          <p:attrName>ppt_h</p:attrName>
                                        </p:attrNameLst>
                                      </p:cBhvr>
                                      <p:tavLst>
                                        <p:tav tm="0">
                                          <p:val>
                                            <p:fltVal val="0"/>
                                          </p:val>
                                        </p:tav>
                                        <p:tav tm="100000">
                                          <p:val>
                                            <p:strVal val="#ppt_h"/>
                                          </p:val>
                                        </p:tav>
                                      </p:tavLst>
                                    </p:anim>
                                    <p:animEffect transition="in" filter="fade">
                                      <p:cBhvr>
                                        <p:cTn id="99" dur="500"/>
                                        <p:tgtEl>
                                          <p:spTgt spid="22"/>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23"/>
                                        </p:tgtEl>
                                        <p:attrNameLst>
                                          <p:attrName>style.visibility</p:attrName>
                                        </p:attrNameLst>
                                      </p:cBhvr>
                                      <p:to>
                                        <p:strVal val="visible"/>
                                      </p:to>
                                    </p:set>
                                    <p:anim calcmode="lin" valueType="num">
                                      <p:cBhvr>
                                        <p:cTn id="102" dur="500" fill="hold"/>
                                        <p:tgtEl>
                                          <p:spTgt spid="23"/>
                                        </p:tgtEl>
                                        <p:attrNameLst>
                                          <p:attrName>ppt_w</p:attrName>
                                        </p:attrNameLst>
                                      </p:cBhvr>
                                      <p:tavLst>
                                        <p:tav tm="0">
                                          <p:val>
                                            <p:fltVal val="0"/>
                                          </p:val>
                                        </p:tav>
                                        <p:tav tm="100000">
                                          <p:val>
                                            <p:strVal val="#ppt_w"/>
                                          </p:val>
                                        </p:tav>
                                      </p:tavLst>
                                    </p:anim>
                                    <p:anim calcmode="lin" valueType="num">
                                      <p:cBhvr>
                                        <p:cTn id="103" dur="500" fill="hold"/>
                                        <p:tgtEl>
                                          <p:spTgt spid="23"/>
                                        </p:tgtEl>
                                        <p:attrNameLst>
                                          <p:attrName>ppt_h</p:attrName>
                                        </p:attrNameLst>
                                      </p:cBhvr>
                                      <p:tavLst>
                                        <p:tav tm="0">
                                          <p:val>
                                            <p:fltVal val="0"/>
                                          </p:val>
                                        </p:tav>
                                        <p:tav tm="100000">
                                          <p:val>
                                            <p:strVal val="#ppt_h"/>
                                          </p:val>
                                        </p:tav>
                                      </p:tavLst>
                                    </p:anim>
                                    <p:animEffect transition="in" filter="fade">
                                      <p:cBhvr>
                                        <p:cTn id="104" dur="500"/>
                                        <p:tgtEl>
                                          <p:spTgt spid="23"/>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24"/>
                                        </p:tgtEl>
                                        <p:attrNameLst>
                                          <p:attrName>style.visibility</p:attrName>
                                        </p:attrNameLst>
                                      </p:cBhvr>
                                      <p:to>
                                        <p:strVal val="visible"/>
                                      </p:to>
                                    </p:set>
                                    <p:anim calcmode="lin" valueType="num">
                                      <p:cBhvr>
                                        <p:cTn id="107" dur="500" fill="hold"/>
                                        <p:tgtEl>
                                          <p:spTgt spid="24"/>
                                        </p:tgtEl>
                                        <p:attrNameLst>
                                          <p:attrName>ppt_w</p:attrName>
                                        </p:attrNameLst>
                                      </p:cBhvr>
                                      <p:tavLst>
                                        <p:tav tm="0">
                                          <p:val>
                                            <p:fltVal val="0"/>
                                          </p:val>
                                        </p:tav>
                                        <p:tav tm="100000">
                                          <p:val>
                                            <p:strVal val="#ppt_w"/>
                                          </p:val>
                                        </p:tav>
                                      </p:tavLst>
                                    </p:anim>
                                    <p:anim calcmode="lin" valueType="num">
                                      <p:cBhvr>
                                        <p:cTn id="108" dur="500" fill="hold"/>
                                        <p:tgtEl>
                                          <p:spTgt spid="24"/>
                                        </p:tgtEl>
                                        <p:attrNameLst>
                                          <p:attrName>ppt_h</p:attrName>
                                        </p:attrNameLst>
                                      </p:cBhvr>
                                      <p:tavLst>
                                        <p:tav tm="0">
                                          <p:val>
                                            <p:fltVal val="0"/>
                                          </p:val>
                                        </p:tav>
                                        <p:tav tm="100000">
                                          <p:val>
                                            <p:strVal val="#ppt_h"/>
                                          </p:val>
                                        </p:tav>
                                      </p:tavLst>
                                    </p:anim>
                                    <p:animEffect transition="in" filter="fade">
                                      <p:cBhvr>
                                        <p:cTn id="109" dur="500"/>
                                        <p:tgtEl>
                                          <p:spTgt spid="24"/>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25"/>
                                        </p:tgtEl>
                                        <p:attrNameLst>
                                          <p:attrName>style.visibility</p:attrName>
                                        </p:attrNameLst>
                                      </p:cBhvr>
                                      <p:to>
                                        <p:strVal val="visible"/>
                                      </p:to>
                                    </p:set>
                                    <p:anim calcmode="lin" valueType="num">
                                      <p:cBhvr>
                                        <p:cTn id="112" dur="500" fill="hold"/>
                                        <p:tgtEl>
                                          <p:spTgt spid="25"/>
                                        </p:tgtEl>
                                        <p:attrNameLst>
                                          <p:attrName>ppt_w</p:attrName>
                                        </p:attrNameLst>
                                      </p:cBhvr>
                                      <p:tavLst>
                                        <p:tav tm="0">
                                          <p:val>
                                            <p:fltVal val="0"/>
                                          </p:val>
                                        </p:tav>
                                        <p:tav tm="100000">
                                          <p:val>
                                            <p:strVal val="#ppt_w"/>
                                          </p:val>
                                        </p:tav>
                                      </p:tavLst>
                                    </p:anim>
                                    <p:anim calcmode="lin" valueType="num">
                                      <p:cBhvr>
                                        <p:cTn id="113" dur="500" fill="hold"/>
                                        <p:tgtEl>
                                          <p:spTgt spid="25"/>
                                        </p:tgtEl>
                                        <p:attrNameLst>
                                          <p:attrName>ppt_h</p:attrName>
                                        </p:attrNameLst>
                                      </p:cBhvr>
                                      <p:tavLst>
                                        <p:tav tm="0">
                                          <p:val>
                                            <p:fltVal val="0"/>
                                          </p:val>
                                        </p:tav>
                                        <p:tav tm="100000">
                                          <p:val>
                                            <p:strVal val="#ppt_h"/>
                                          </p:val>
                                        </p:tav>
                                      </p:tavLst>
                                    </p:anim>
                                    <p:animEffect transition="in" filter="fade">
                                      <p:cBhvr>
                                        <p:cTn id="114" dur="500"/>
                                        <p:tgtEl>
                                          <p:spTgt spid="25"/>
                                        </p:tgtEl>
                                      </p:cBhvr>
                                    </p:animEffect>
                                  </p:childTnLst>
                                </p:cTn>
                              </p:par>
                              <p:par>
                                <p:cTn id="115" presetID="53" presetClass="entr" presetSubtype="16"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anim calcmode="lin" valueType="num">
                                      <p:cBhvr>
                                        <p:cTn id="117" dur="500" fill="hold"/>
                                        <p:tgtEl>
                                          <p:spTgt spid="26"/>
                                        </p:tgtEl>
                                        <p:attrNameLst>
                                          <p:attrName>ppt_w</p:attrName>
                                        </p:attrNameLst>
                                      </p:cBhvr>
                                      <p:tavLst>
                                        <p:tav tm="0">
                                          <p:val>
                                            <p:fltVal val="0"/>
                                          </p:val>
                                        </p:tav>
                                        <p:tav tm="100000">
                                          <p:val>
                                            <p:strVal val="#ppt_w"/>
                                          </p:val>
                                        </p:tav>
                                      </p:tavLst>
                                    </p:anim>
                                    <p:anim calcmode="lin" valueType="num">
                                      <p:cBhvr>
                                        <p:cTn id="118" dur="500" fill="hold"/>
                                        <p:tgtEl>
                                          <p:spTgt spid="26"/>
                                        </p:tgtEl>
                                        <p:attrNameLst>
                                          <p:attrName>ppt_h</p:attrName>
                                        </p:attrNameLst>
                                      </p:cBhvr>
                                      <p:tavLst>
                                        <p:tav tm="0">
                                          <p:val>
                                            <p:fltVal val="0"/>
                                          </p:val>
                                        </p:tav>
                                        <p:tav tm="100000">
                                          <p:val>
                                            <p:strVal val="#ppt_h"/>
                                          </p:val>
                                        </p:tav>
                                      </p:tavLst>
                                    </p:anim>
                                    <p:animEffect transition="in" filter="fade">
                                      <p:cBhvr>
                                        <p:cTn id="119" dur="500"/>
                                        <p:tgtEl>
                                          <p:spTgt spid="26"/>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27"/>
                                        </p:tgtEl>
                                        <p:attrNameLst>
                                          <p:attrName>style.visibility</p:attrName>
                                        </p:attrNameLst>
                                      </p:cBhvr>
                                      <p:to>
                                        <p:strVal val="visible"/>
                                      </p:to>
                                    </p:set>
                                    <p:anim calcmode="lin" valueType="num">
                                      <p:cBhvr>
                                        <p:cTn id="122" dur="500" fill="hold"/>
                                        <p:tgtEl>
                                          <p:spTgt spid="27"/>
                                        </p:tgtEl>
                                        <p:attrNameLst>
                                          <p:attrName>ppt_w</p:attrName>
                                        </p:attrNameLst>
                                      </p:cBhvr>
                                      <p:tavLst>
                                        <p:tav tm="0">
                                          <p:val>
                                            <p:fltVal val="0"/>
                                          </p:val>
                                        </p:tav>
                                        <p:tav tm="100000">
                                          <p:val>
                                            <p:strVal val="#ppt_w"/>
                                          </p:val>
                                        </p:tav>
                                      </p:tavLst>
                                    </p:anim>
                                    <p:anim calcmode="lin" valueType="num">
                                      <p:cBhvr>
                                        <p:cTn id="123" dur="500" fill="hold"/>
                                        <p:tgtEl>
                                          <p:spTgt spid="27"/>
                                        </p:tgtEl>
                                        <p:attrNameLst>
                                          <p:attrName>ppt_h</p:attrName>
                                        </p:attrNameLst>
                                      </p:cBhvr>
                                      <p:tavLst>
                                        <p:tav tm="0">
                                          <p:val>
                                            <p:fltVal val="0"/>
                                          </p:val>
                                        </p:tav>
                                        <p:tav tm="100000">
                                          <p:val>
                                            <p:strVal val="#ppt_h"/>
                                          </p:val>
                                        </p:tav>
                                      </p:tavLst>
                                    </p:anim>
                                    <p:animEffect transition="in" filter="fade">
                                      <p:cBhvr>
                                        <p:cTn id="124" dur="500"/>
                                        <p:tgtEl>
                                          <p:spTgt spid="27"/>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28"/>
                                        </p:tgtEl>
                                        <p:attrNameLst>
                                          <p:attrName>style.visibility</p:attrName>
                                        </p:attrNameLst>
                                      </p:cBhvr>
                                      <p:to>
                                        <p:strVal val="visible"/>
                                      </p:to>
                                    </p:set>
                                    <p:anim calcmode="lin" valueType="num">
                                      <p:cBhvr>
                                        <p:cTn id="127" dur="500" fill="hold"/>
                                        <p:tgtEl>
                                          <p:spTgt spid="28"/>
                                        </p:tgtEl>
                                        <p:attrNameLst>
                                          <p:attrName>ppt_w</p:attrName>
                                        </p:attrNameLst>
                                      </p:cBhvr>
                                      <p:tavLst>
                                        <p:tav tm="0">
                                          <p:val>
                                            <p:fltVal val="0"/>
                                          </p:val>
                                        </p:tav>
                                        <p:tav tm="100000">
                                          <p:val>
                                            <p:strVal val="#ppt_w"/>
                                          </p:val>
                                        </p:tav>
                                      </p:tavLst>
                                    </p:anim>
                                    <p:anim calcmode="lin" valueType="num">
                                      <p:cBhvr>
                                        <p:cTn id="128" dur="500" fill="hold"/>
                                        <p:tgtEl>
                                          <p:spTgt spid="28"/>
                                        </p:tgtEl>
                                        <p:attrNameLst>
                                          <p:attrName>ppt_h</p:attrName>
                                        </p:attrNameLst>
                                      </p:cBhvr>
                                      <p:tavLst>
                                        <p:tav tm="0">
                                          <p:val>
                                            <p:fltVal val="0"/>
                                          </p:val>
                                        </p:tav>
                                        <p:tav tm="100000">
                                          <p:val>
                                            <p:strVal val="#ppt_h"/>
                                          </p:val>
                                        </p:tav>
                                      </p:tavLst>
                                    </p:anim>
                                    <p:animEffect transition="in" filter="fade">
                                      <p:cBhvr>
                                        <p:cTn id="129" dur="500"/>
                                        <p:tgtEl>
                                          <p:spTgt spid="28"/>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 calcmode="lin" valueType="num">
                                      <p:cBhvr>
                                        <p:cTn id="132" dur="500" fill="hold"/>
                                        <p:tgtEl>
                                          <p:spTgt spid="29"/>
                                        </p:tgtEl>
                                        <p:attrNameLst>
                                          <p:attrName>ppt_w</p:attrName>
                                        </p:attrNameLst>
                                      </p:cBhvr>
                                      <p:tavLst>
                                        <p:tav tm="0">
                                          <p:val>
                                            <p:fltVal val="0"/>
                                          </p:val>
                                        </p:tav>
                                        <p:tav tm="100000">
                                          <p:val>
                                            <p:strVal val="#ppt_w"/>
                                          </p:val>
                                        </p:tav>
                                      </p:tavLst>
                                    </p:anim>
                                    <p:anim calcmode="lin" valueType="num">
                                      <p:cBhvr>
                                        <p:cTn id="133" dur="500" fill="hold"/>
                                        <p:tgtEl>
                                          <p:spTgt spid="29"/>
                                        </p:tgtEl>
                                        <p:attrNameLst>
                                          <p:attrName>ppt_h</p:attrName>
                                        </p:attrNameLst>
                                      </p:cBhvr>
                                      <p:tavLst>
                                        <p:tav tm="0">
                                          <p:val>
                                            <p:fltVal val="0"/>
                                          </p:val>
                                        </p:tav>
                                        <p:tav tm="100000">
                                          <p:val>
                                            <p:strVal val="#ppt_h"/>
                                          </p:val>
                                        </p:tav>
                                      </p:tavLst>
                                    </p:anim>
                                    <p:animEffect transition="in" filter="fade">
                                      <p:cBhvr>
                                        <p:cTn id="134" dur="500"/>
                                        <p:tgtEl>
                                          <p:spTgt spid="29"/>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30"/>
                                        </p:tgtEl>
                                        <p:attrNameLst>
                                          <p:attrName>style.visibility</p:attrName>
                                        </p:attrNameLst>
                                      </p:cBhvr>
                                      <p:to>
                                        <p:strVal val="visible"/>
                                      </p:to>
                                    </p:set>
                                    <p:anim calcmode="lin" valueType="num">
                                      <p:cBhvr>
                                        <p:cTn id="137" dur="500" fill="hold"/>
                                        <p:tgtEl>
                                          <p:spTgt spid="30"/>
                                        </p:tgtEl>
                                        <p:attrNameLst>
                                          <p:attrName>ppt_w</p:attrName>
                                        </p:attrNameLst>
                                      </p:cBhvr>
                                      <p:tavLst>
                                        <p:tav tm="0">
                                          <p:val>
                                            <p:fltVal val="0"/>
                                          </p:val>
                                        </p:tav>
                                        <p:tav tm="100000">
                                          <p:val>
                                            <p:strVal val="#ppt_w"/>
                                          </p:val>
                                        </p:tav>
                                      </p:tavLst>
                                    </p:anim>
                                    <p:anim calcmode="lin" valueType="num">
                                      <p:cBhvr>
                                        <p:cTn id="138" dur="500" fill="hold"/>
                                        <p:tgtEl>
                                          <p:spTgt spid="30"/>
                                        </p:tgtEl>
                                        <p:attrNameLst>
                                          <p:attrName>ppt_h</p:attrName>
                                        </p:attrNameLst>
                                      </p:cBhvr>
                                      <p:tavLst>
                                        <p:tav tm="0">
                                          <p:val>
                                            <p:fltVal val="0"/>
                                          </p:val>
                                        </p:tav>
                                        <p:tav tm="100000">
                                          <p:val>
                                            <p:strVal val="#ppt_h"/>
                                          </p:val>
                                        </p:tav>
                                      </p:tavLst>
                                    </p:anim>
                                    <p:animEffect transition="in" filter="fade">
                                      <p:cBhvr>
                                        <p:cTn id="139" dur="500"/>
                                        <p:tgtEl>
                                          <p:spTgt spid="30"/>
                                        </p:tgtEl>
                                      </p:cBhvr>
                                    </p:animEffect>
                                  </p:childTnLst>
                                </p:cTn>
                              </p:par>
                              <p:par>
                                <p:cTn id="140" presetID="53" presetClass="entr" presetSubtype="16" fill="hold" nodeType="withEffect">
                                  <p:stCondLst>
                                    <p:cond delay="0"/>
                                  </p:stCondLst>
                                  <p:childTnLst>
                                    <p:set>
                                      <p:cBhvr>
                                        <p:cTn id="141" dur="1" fill="hold">
                                          <p:stCondLst>
                                            <p:cond delay="0"/>
                                          </p:stCondLst>
                                        </p:cTn>
                                        <p:tgtEl>
                                          <p:spTgt spid="31"/>
                                        </p:tgtEl>
                                        <p:attrNameLst>
                                          <p:attrName>style.visibility</p:attrName>
                                        </p:attrNameLst>
                                      </p:cBhvr>
                                      <p:to>
                                        <p:strVal val="visible"/>
                                      </p:to>
                                    </p:set>
                                    <p:anim calcmode="lin" valueType="num">
                                      <p:cBhvr>
                                        <p:cTn id="142" dur="500" fill="hold"/>
                                        <p:tgtEl>
                                          <p:spTgt spid="31"/>
                                        </p:tgtEl>
                                        <p:attrNameLst>
                                          <p:attrName>ppt_w</p:attrName>
                                        </p:attrNameLst>
                                      </p:cBhvr>
                                      <p:tavLst>
                                        <p:tav tm="0">
                                          <p:val>
                                            <p:fltVal val="0"/>
                                          </p:val>
                                        </p:tav>
                                        <p:tav tm="100000">
                                          <p:val>
                                            <p:strVal val="#ppt_w"/>
                                          </p:val>
                                        </p:tav>
                                      </p:tavLst>
                                    </p:anim>
                                    <p:anim calcmode="lin" valueType="num">
                                      <p:cBhvr>
                                        <p:cTn id="143" dur="500" fill="hold"/>
                                        <p:tgtEl>
                                          <p:spTgt spid="31"/>
                                        </p:tgtEl>
                                        <p:attrNameLst>
                                          <p:attrName>ppt_h</p:attrName>
                                        </p:attrNameLst>
                                      </p:cBhvr>
                                      <p:tavLst>
                                        <p:tav tm="0">
                                          <p:val>
                                            <p:fltVal val="0"/>
                                          </p:val>
                                        </p:tav>
                                        <p:tav tm="100000">
                                          <p:val>
                                            <p:strVal val="#ppt_h"/>
                                          </p:val>
                                        </p:tav>
                                      </p:tavLst>
                                    </p:anim>
                                    <p:animEffect transition="in" filter="fade">
                                      <p:cBhvr>
                                        <p:cTn id="144" dur="500"/>
                                        <p:tgtEl>
                                          <p:spTgt spid="31"/>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32"/>
                                        </p:tgtEl>
                                        <p:attrNameLst>
                                          <p:attrName>style.visibility</p:attrName>
                                        </p:attrNameLst>
                                      </p:cBhvr>
                                      <p:to>
                                        <p:strVal val="visible"/>
                                      </p:to>
                                    </p:set>
                                    <p:anim calcmode="lin" valueType="num">
                                      <p:cBhvr>
                                        <p:cTn id="147" dur="500" fill="hold"/>
                                        <p:tgtEl>
                                          <p:spTgt spid="32"/>
                                        </p:tgtEl>
                                        <p:attrNameLst>
                                          <p:attrName>ppt_w</p:attrName>
                                        </p:attrNameLst>
                                      </p:cBhvr>
                                      <p:tavLst>
                                        <p:tav tm="0">
                                          <p:val>
                                            <p:fltVal val="0"/>
                                          </p:val>
                                        </p:tav>
                                        <p:tav tm="100000">
                                          <p:val>
                                            <p:strVal val="#ppt_w"/>
                                          </p:val>
                                        </p:tav>
                                      </p:tavLst>
                                    </p:anim>
                                    <p:anim calcmode="lin" valueType="num">
                                      <p:cBhvr>
                                        <p:cTn id="148" dur="500" fill="hold"/>
                                        <p:tgtEl>
                                          <p:spTgt spid="32"/>
                                        </p:tgtEl>
                                        <p:attrNameLst>
                                          <p:attrName>ppt_h</p:attrName>
                                        </p:attrNameLst>
                                      </p:cBhvr>
                                      <p:tavLst>
                                        <p:tav tm="0">
                                          <p:val>
                                            <p:fltVal val="0"/>
                                          </p:val>
                                        </p:tav>
                                        <p:tav tm="100000">
                                          <p:val>
                                            <p:strVal val="#ppt_h"/>
                                          </p:val>
                                        </p:tav>
                                      </p:tavLst>
                                    </p:anim>
                                    <p:animEffect transition="in" filter="fade">
                                      <p:cBhvr>
                                        <p:cTn id="149" dur="500"/>
                                        <p:tgtEl>
                                          <p:spTgt spid="32"/>
                                        </p:tgtEl>
                                      </p:cBhvr>
                                    </p:animEffect>
                                  </p:childTnLst>
                                </p:cTn>
                              </p:par>
                              <p:par>
                                <p:cTn id="150" presetID="53" presetClass="entr" presetSubtype="16" fill="hold" grpId="0" nodeType="withEffect">
                                  <p:stCondLst>
                                    <p:cond delay="0"/>
                                  </p:stCondLst>
                                  <p:childTnLst>
                                    <p:set>
                                      <p:cBhvr>
                                        <p:cTn id="151" dur="1" fill="hold">
                                          <p:stCondLst>
                                            <p:cond delay="0"/>
                                          </p:stCondLst>
                                        </p:cTn>
                                        <p:tgtEl>
                                          <p:spTgt spid="33"/>
                                        </p:tgtEl>
                                        <p:attrNameLst>
                                          <p:attrName>style.visibility</p:attrName>
                                        </p:attrNameLst>
                                      </p:cBhvr>
                                      <p:to>
                                        <p:strVal val="visible"/>
                                      </p:to>
                                    </p:set>
                                    <p:anim calcmode="lin" valueType="num">
                                      <p:cBhvr>
                                        <p:cTn id="152" dur="500" fill="hold"/>
                                        <p:tgtEl>
                                          <p:spTgt spid="33"/>
                                        </p:tgtEl>
                                        <p:attrNameLst>
                                          <p:attrName>ppt_w</p:attrName>
                                        </p:attrNameLst>
                                      </p:cBhvr>
                                      <p:tavLst>
                                        <p:tav tm="0">
                                          <p:val>
                                            <p:fltVal val="0"/>
                                          </p:val>
                                        </p:tav>
                                        <p:tav tm="100000">
                                          <p:val>
                                            <p:strVal val="#ppt_w"/>
                                          </p:val>
                                        </p:tav>
                                      </p:tavLst>
                                    </p:anim>
                                    <p:anim calcmode="lin" valueType="num">
                                      <p:cBhvr>
                                        <p:cTn id="153" dur="500" fill="hold"/>
                                        <p:tgtEl>
                                          <p:spTgt spid="33"/>
                                        </p:tgtEl>
                                        <p:attrNameLst>
                                          <p:attrName>ppt_h</p:attrName>
                                        </p:attrNameLst>
                                      </p:cBhvr>
                                      <p:tavLst>
                                        <p:tav tm="0">
                                          <p:val>
                                            <p:fltVal val="0"/>
                                          </p:val>
                                        </p:tav>
                                        <p:tav tm="100000">
                                          <p:val>
                                            <p:strVal val="#ppt_h"/>
                                          </p:val>
                                        </p:tav>
                                      </p:tavLst>
                                    </p:anim>
                                    <p:animEffect transition="in" filter="fade">
                                      <p:cBhvr>
                                        <p:cTn id="154" dur="500"/>
                                        <p:tgtEl>
                                          <p:spTgt spid="33"/>
                                        </p:tgtEl>
                                      </p:cBhvr>
                                    </p:animEffect>
                                  </p:childTnLst>
                                </p:cTn>
                              </p:par>
                              <p:par>
                                <p:cTn id="155" presetID="53" presetClass="entr" presetSubtype="16" fill="hold" grpId="0" nodeType="withEffect">
                                  <p:stCondLst>
                                    <p:cond delay="0"/>
                                  </p:stCondLst>
                                  <p:childTnLst>
                                    <p:set>
                                      <p:cBhvr>
                                        <p:cTn id="156" dur="1" fill="hold">
                                          <p:stCondLst>
                                            <p:cond delay="0"/>
                                          </p:stCondLst>
                                        </p:cTn>
                                        <p:tgtEl>
                                          <p:spTgt spid="34"/>
                                        </p:tgtEl>
                                        <p:attrNameLst>
                                          <p:attrName>style.visibility</p:attrName>
                                        </p:attrNameLst>
                                      </p:cBhvr>
                                      <p:to>
                                        <p:strVal val="visible"/>
                                      </p:to>
                                    </p:set>
                                    <p:anim calcmode="lin" valueType="num">
                                      <p:cBhvr>
                                        <p:cTn id="157" dur="500" fill="hold"/>
                                        <p:tgtEl>
                                          <p:spTgt spid="34"/>
                                        </p:tgtEl>
                                        <p:attrNameLst>
                                          <p:attrName>ppt_w</p:attrName>
                                        </p:attrNameLst>
                                      </p:cBhvr>
                                      <p:tavLst>
                                        <p:tav tm="0">
                                          <p:val>
                                            <p:fltVal val="0"/>
                                          </p:val>
                                        </p:tav>
                                        <p:tav tm="100000">
                                          <p:val>
                                            <p:strVal val="#ppt_w"/>
                                          </p:val>
                                        </p:tav>
                                      </p:tavLst>
                                    </p:anim>
                                    <p:anim calcmode="lin" valueType="num">
                                      <p:cBhvr>
                                        <p:cTn id="158" dur="500" fill="hold"/>
                                        <p:tgtEl>
                                          <p:spTgt spid="34"/>
                                        </p:tgtEl>
                                        <p:attrNameLst>
                                          <p:attrName>ppt_h</p:attrName>
                                        </p:attrNameLst>
                                      </p:cBhvr>
                                      <p:tavLst>
                                        <p:tav tm="0">
                                          <p:val>
                                            <p:fltVal val="0"/>
                                          </p:val>
                                        </p:tav>
                                        <p:tav tm="100000">
                                          <p:val>
                                            <p:strVal val="#ppt_h"/>
                                          </p:val>
                                        </p:tav>
                                      </p:tavLst>
                                    </p:anim>
                                    <p:animEffect transition="in" filter="fade">
                                      <p:cBhvr>
                                        <p:cTn id="159" dur="500"/>
                                        <p:tgtEl>
                                          <p:spTgt spid="34"/>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35"/>
                                        </p:tgtEl>
                                        <p:attrNameLst>
                                          <p:attrName>style.visibility</p:attrName>
                                        </p:attrNameLst>
                                      </p:cBhvr>
                                      <p:to>
                                        <p:strVal val="visible"/>
                                      </p:to>
                                    </p:set>
                                    <p:anim calcmode="lin" valueType="num">
                                      <p:cBhvr>
                                        <p:cTn id="162" dur="500" fill="hold"/>
                                        <p:tgtEl>
                                          <p:spTgt spid="35"/>
                                        </p:tgtEl>
                                        <p:attrNameLst>
                                          <p:attrName>ppt_w</p:attrName>
                                        </p:attrNameLst>
                                      </p:cBhvr>
                                      <p:tavLst>
                                        <p:tav tm="0">
                                          <p:val>
                                            <p:fltVal val="0"/>
                                          </p:val>
                                        </p:tav>
                                        <p:tav tm="100000">
                                          <p:val>
                                            <p:strVal val="#ppt_w"/>
                                          </p:val>
                                        </p:tav>
                                      </p:tavLst>
                                    </p:anim>
                                    <p:anim calcmode="lin" valueType="num">
                                      <p:cBhvr>
                                        <p:cTn id="163" dur="500" fill="hold"/>
                                        <p:tgtEl>
                                          <p:spTgt spid="35"/>
                                        </p:tgtEl>
                                        <p:attrNameLst>
                                          <p:attrName>ppt_h</p:attrName>
                                        </p:attrNameLst>
                                      </p:cBhvr>
                                      <p:tavLst>
                                        <p:tav tm="0">
                                          <p:val>
                                            <p:fltVal val="0"/>
                                          </p:val>
                                        </p:tav>
                                        <p:tav tm="100000">
                                          <p:val>
                                            <p:strVal val="#ppt_h"/>
                                          </p:val>
                                        </p:tav>
                                      </p:tavLst>
                                    </p:anim>
                                    <p:animEffect transition="in" filter="fade">
                                      <p:cBhvr>
                                        <p:cTn id="164" dur="500"/>
                                        <p:tgtEl>
                                          <p:spTgt spid="35"/>
                                        </p:tgtEl>
                                      </p:cBhvr>
                                    </p:animEffect>
                                  </p:childTnLst>
                                </p:cTn>
                              </p:par>
                              <p:par>
                                <p:cTn id="165" presetID="53" presetClass="entr" presetSubtype="16" fill="hold" nodeType="withEffect">
                                  <p:stCondLst>
                                    <p:cond delay="0"/>
                                  </p:stCondLst>
                                  <p:childTnLst>
                                    <p:set>
                                      <p:cBhvr>
                                        <p:cTn id="166" dur="1" fill="hold">
                                          <p:stCondLst>
                                            <p:cond delay="0"/>
                                          </p:stCondLst>
                                        </p:cTn>
                                        <p:tgtEl>
                                          <p:spTgt spid="36"/>
                                        </p:tgtEl>
                                        <p:attrNameLst>
                                          <p:attrName>style.visibility</p:attrName>
                                        </p:attrNameLst>
                                      </p:cBhvr>
                                      <p:to>
                                        <p:strVal val="visible"/>
                                      </p:to>
                                    </p:set>
                                    <p:anim calcmode="lin" valueType="num">
                                      <p:cBhvr>
                                        <p:cTn id="167" dur="500" fill="hold"/>
                                        <p:tgtEl>
                                          <p:spTgt spid="36"/>
                                        </p:tgtEl>
                                        <p:attrNameLst>
                                          <p:attrName>ppt_w</p:attrName>
                                        </p:attrNameLst>
                                      </p:cBhvr>
                                      <p:tavLst>
                                        <p:tav tm="0">
                                          <p:val>
                                            <p:fltVal val="0"/>
                                          </p:val>
                                        </p:tav>
                                        <p:tav tm="100000">
                                          <p:val>
                                            <p:strVal val="#ppt_w"/>
                                          </p:val>
                                        </p:tav>
                                      </p:tavLst>
                                    </p:anim>
                                    <p:anim calcmode="lin" valueType="num">
                                      <p:cBhvr>
                                        <p:cTn id="168" dur="500" fill="hold"/>
                                        <p:tgtEl>
                                          <p:spTgt spid="36"/>
                                        </p:tgtEl>
                                        <p:attrNameLst>
                                          <p:attrName>ppt_h</p:attrName>
                                        </p:attrNameLst>
                                      </p:cBhvr>
                                      <p:tavLst>
                                        <p:tav tm="0">
                                          <p:val>
                                            <p:fltVal val="0"/>
                                          </p:val>
                                        </p:tav>
                                        <p:tav tm="100000">
                                          <p:val>
                                            <p:strVal val="#ppt_h"/>
                                          </p:val>
                                        </p:tav>
                                      </p:tavLst>
                                    </p:anim>
                                    <p:animEffect transition="in" filter="fade">
                                      <p:cBhvr>
                                        <p:cTn id="169" dur="500"/>
                                        <p:tgtEl>
                                          <p:spTgt spid="36"/>
                                        </p:tgtEl>
                                      </p:cBhvr>
                                    </p:animEffect>
                                  </p:childTnLst>
                                </p:cTn>
                              </p:par>
                              <p:par>
                                <p:cTn id="170" presetID="53" presetClass="entr" presetSubtype="16" fill="hold" grpId="0" nodeType="withEffect">
                                  <p:stCondLst>
                                    <p:cond delay="0"/>
                                  </p:stCondLst>
                                  <p:childTnLst>
                                    <p:set>
                                      <p:cBhvr>
                                        <p:cTn id="171" dur="1" fill="hold">
                                          <p:stCondLst>
                                            <p:cond delay="0"/>
                                          </p:stCondLst>
                                        </p:cTn>
                                        <p:tgtEl>
                                          <p:spTgt spid="37"/>
                                        </p:tgtEl>
                                        <p:attrNameLst>
                                          <p:attrName>style.visibility</p:attrName>
                                        </p:attrNameLst>
                                      </p:cBhvr>
                                      <p:to>
                                        <p:strVal val="visible"/>
                                      </p:to>
                                    </p:set>
                                    <p:anim calcmode="lin" valueType="num">
                                      <p:cBhvr>
                                        <p:cTn id="172" dur="500" fill="hold"/>
                                        <p:tgtEl>
                                          <p:spTgt spid="37"/>
                                        </p:tgtEl>
                                        <p:attrNameLst>
                                          <p:attrName>ppt_w</p:attrName>
                                        </p:attrNameLst>
                                      </p:cBhvr>
                                      <p:tavLst>
                                        <p:tav tm="0">
                                          <p:val>
                                            <p:fltVal val="0"/>
                                          </p:val>
                                        </p:tav>
                                        <p:tav tm="100000">
                                          <p:val>
                                            <p:strVal val="#ppt_w"/>
                                          </p:val>
                                        </p:tav>
                                      </p:tavLst>
                                    </p:anim>
                                    <p:anim calcmode="lin" valueType="num">
                                      <p:cBhvr>
                                        <p:cTn id="173" dur="500" fill="hold"/>
                                        <p:tgtEl>
                                          <p:spTgt spid="37"/>
                                        </p:tgtEl>
                                        <p:attrNameLst>
                                          <p:attrName>ppt_h</p:attrName>
                                        </p:attrNameLst>
                                      </p:cBhvr>
                                      <p:tavLst>
                                        <p:tav tm="0">
                                          <p:val>
                                            <p:fltVal val="0"/>
                                          </p:val>
                                        </p:tav>
                                        <p:tav tm="100000">
                                          <p:val>
                                            <p:strVal val="#ppt_h"/>
                                          </p:val>
                                        </p:tav>
                                      </p:tavLst>
                                    </p:anim>
                                    <p:animEffect transition="in" filter="fade">
                                      <p:cBhvr>
                                        <p:cTn id="174" dur="500"/>
                                        <p:tgtEl>
                                          <p:spTgt spid="37"/>
                                        </p:tgtEl>
                                      </p:cBhvr>
                                    </p:animEffect>
                                  </p:childTnLst>
                                </p:cTn>
                              </p:par>
                              <p:par>
                                <p:cTn id="175" presetID="53" presetClass="entr" presetSubtype="16" fill="hold" grpId="0" nodeType="withEffect">
                                  <p:stCondLst>
                                    <p:cond delay="0"/>
                                  </p:stCondLst>
                                  <p:childTnLst>
                                    <p:set>
                                      <p:cBhvr>
                                        <p:cTn id="176" dur="1" fill="hold">
                                          <p:stCondLst>
                                            <p:cond delay="0"/>
                                          </p:stCondLst>
                                        </p:cTn>
                                        <p:tgtEl>
                                          <p:spTgt spid="38"/>
                                        </p:tgtEl>
                                        <p:attrNameLst>
                                          <p:attrName>style.visibility</p:attrName>
                                        </p:attrNameLst>
                                      </p:cBhvr>
                                      <p:to>
                                        <p:strVal val="visible"/>
                                      </p:to>
                                    </p:set>
                                    <p:anim calcmode="lin" valueType="num">
                                      <p:cBhvr>
                                        <p:cTn id="177" dur="500" fill="hold"/>
                                        <p:tgtEl>
                                          <p:spTgt spid="38"/>
                                        </p:tgtEl>
                                        <p:attrNameLst>
                                          <p:attrName>ppt_w</p:attrName>
                                        </p:attrNameLst>
                                      </p:cBhvr>
                                      <p:tavLst>
                                        <p:tav tm="0">
                                          <p:val>
                                            <p:fltVal val="0"/>
                                          </p:val>
                                        </p:tav>
                                        <p:tav tm="100000">
                                          <p:val>
                                            <p:strVal val="#ppt_w"/>
                                          </p:val>
                                        </p:tav>
                                      </p:tavLst>
                                    </p:anim>
                                    <p:anim calcmode="lin" valueType="num">
                                      <p:cBhvr>
                                        <p:cTn id="178" dur="500" fill="hold"/>
                                        <p:tgtEl>
                                          <p:spTgt spid="38"/>
                                        </p:tgtEl>
                                        <p:attrNameLst>
                                          <p:attrName>ppt_h</p:attrName>
                                        </p:attrNameLst>
                                      </p:cBhvr>
                                      <p:tavLst>
                                        <p:tav tm="0">
                                          <p:val>
                                            <p:fltVal val="0"/>
                                          </p:val>
                                        </p:tav>
                                        <p:tav tm="100000">
                                          <p:val>
                                            <p:strVal val="#ppt_h"/>
                                          </p:val>
                                        </p:tav>
                                      </p:tavLst>
                                    </p:anim>
                                    <p:animEffect transition="in" filter="fade">
                                      <p:cBhvr>
                                        <p:cTn id="179" dur="500"/>
                                        <p:tgtEl>
                                          <p:spTgt spid="38"/>
                                        </p:tgtEl>
                                      </p:cBhvr>
                                    </p:animEffect>
                                  </p:childTnLst>
                                </p:cTn>
                              </p:par>
                              <p:par>
                                <p:cTn id="180" presetID="53" presetClass="entr" presetSubtype="16" fill="hold" grpId="0" nodeType="withEffect">
                                  <p:stCondLst>
                                    <p:cond delay="0"/>
                                  </p:stCondLst>
                                  <p:childTnLst>
                                    <p:set>
                                      <p:cBhvr>
                                        <p:cTn id="181" dur="1" fill="hold">
                                          <p:stCondLst>
                                            <p:cond delay="0"/>
                                          </p:stCondLst>
                                        </p:cTn>
                                        <p:tgtEl>
                                          <p:spTgt spid="39"/>
                                        </p:tgtEl>
                                        <p:attrNameLst>
                                          <p:attrName>style.visibility</p:attrName>
                                        </p:attrNameLst>
                                      </p:cBhvr>
                                      <p:to>
                                        <p:strVal val="visible"/>
                                      </p:to>
                                    </p:set>
                                    <p:anim calcmode="lin" valueType="num">
                                      <p:cBhvr>
                                        <p:cTn id="182" dur="500" fill="hold"/>
                                        <p:tgtEl>
                                          <p:spTgt spid="39"/>
                                        </p:tgtEl>
                                        <p:attrNameLst>
                                          <p:attrName>ppt_w</p:attrName>
                                        </p:attrNameLst>
                                      </p:cBhvr>
                                      <p:tavLst>
                                        <p:tav tm="0">
                                          <p:val>
                                            <p:fltVal val="0"/>
                                          </p:val>
                                        </p:tav>
                                        <p:tav tm="100000">
                                          <p:val>
                                            <p:strVal val="#ppt_w"/>
                                          </p:val>
                                        </p:tav>
                                      </p:tavLst>
                                    </p:anim>
                                    <p:anim calcmode="lin" valueType="num">
                                      <p:cBhvr>
                                        <p:cTn id="183" dur="500" fill="hold"/>
                                        <p:tgtEl>
                                          <p:spTgt spid="39"/>
                                        </p:tgtEl>
                                        <p:attrNameLst>
                                          <p:attrName>ppt_h</p:attrName>
                                        </p:attrNameLst>
                                      </p:cBhvr>
                                      <p:tavLst>
                                        <p:tav tm="0">
                                          <p:val>
                                            <p:fltVal val="0"/>
                                          </p:val>
                                        </p:tav>
                                        <p:tav tm="100000">
                                          <p:val>
                                            <p:strVal val="#ppt_h"/>
                                          </p:val>
                                        </p:tav>
                                      </p:tavLst>
                                    </p:anim>
                                    <p:animEffect transition="in" filter="fade">
                                      <p:cBhvr>
                                        <p:cTn id="184" dur="500"/>
                                        <p:tgtEl>
                                          <p:spTgt spid="39"/>
                                        </p:tgtEl>
                                      </p:cBhvr>
                                    </p:animEffect>
                                  </p:childTnLst>
                                </p:cTn>
                              </p:par>
                              <p:par>
                                <p:cTn id="185" presetID="53" presetClass="entr" presetSubtype="16" fill="hold" grpId="0" nodeType="withEffect">
                                  <p:stCondLst>
                                    <p:cond delay="0"/>
                                  </p:stCondLst>
                                  <p:childTnLst>
                                    <p:set>
                                      <p:cBhvr>
                                        <p:cTn id="186" dur="1" fill="hold">
                                          <p:stCondLst>
                                            <p:cond delay="0"/>
                                          </p:stCondLst>
                                        </p:cTn>
                                        <p:tgtEl>
                                          <p:spTgt spid="40"/>
                                        </p:tgtEl>
                                        <p:attrNameLst>
                                          <p:attrName>style.visibility</p:attrName>
                                        </p:attrNameLst>
                                      </p:cBhvr>
                                      <p:to>
                                        <p:strVal val="visible"/>
                                      </p:to>
                                    </p:set>
                                    <p:anim calcmode="lin" valueType="num">
                                      <p:cBhvr>
                                        <p:cTn id="187" dur="500" fill="hold"/>
                                        <p:tgtEl>
                                          <p:spTgt spid="40"/>
                                        </p:tgtEl>
                                        <p:attrNameLst>
                                          <p:attrName>ppt_w</p:attrName>
                                        </p:attrNameLst>
                                      </p:cBhvr>
                                      <p:tavLst>
                                        <p:tav tm="0">
                                          <p:val>
                                            <p:fltVal val="0"/>
                                          </p:val>
                                        </p:tav>
                                        <p:tav tm="100000">
                                          <p:val>
                                            <p:strVal val="#ppt_w"/>
                                          </p:val>
                                        </p:tav>
                                      </p:tavLst>
                                    </p:anim>
                                    <p:anim calcmode="lin" valueType="num">
                                      <p:cBhvr>
                                        <p:cTn id="188" dur="500" fill="hold"/>
                                        <p:tgtEl>
                                          <p:spTgt spid="40"/>
                                        </p:tgtEl>
                                        <p:attrNameLst>
                                          <p:attrName>ppt_h</p:attrName>
                                        </p:attrNameLst>
                                      </p:cBhvr>
                                      <p:tavLst>
                                        <p:tav tm="0">
                                          <p:val>
                                            <p:fltVal val="0"/>
                                          </p:val>
                                        </p:tav>
                                        <p:tav tm="100000">
                                          <p:val>
                                            <p:strVal val="#ppt_h"/>
                                          </p:val>
                                        </p:tav>
                                      </p:tavLst>
                                    </p:anim>
                                    <p:animEffect transition="in" filter="fade">
                                      <p:cBhvr>
                                        <p:cTn id="189" dur="500"/>
                                        <p:tgtEl>
                                          <p:spTgt spid="40"/>
                                        </p:tgtEl>
                                      </p:cBhvr>
                                    </p:animEffect>
                                  </p:childTnLst>
                                </p:cTn>
                              </p:par>
                              <p:par>
                                <p:cTn id="190" presetID="53" presetClass="entr" presetSubtype="16" fill="hold" nodeType="withEffect">
                                  <p:stCondLst>
                                    <p:cond delay="0"/>
                                  </p:stCondLst>
                                  <p:childTnLst>
                                    <p:set>
                                      <p:cBhvr>
                                        <p:cTn id="191" dur="1" fill="hold">
                                          <p:stCondLst>
                                            <p:cond delay="0"/>
                                          </p:stCondLst>
                                        </p:cTn>
                                        <p:tgtEl>
                                          <p:spTgt spid="41"/>
                                        </p:tgtEl>
                                        <p:attrNameLst>
                                          <p:attrName>style.visibility</p:attrName>
                                        </p:attrNameLst>
                                      </p:cBhvr>
                                      <p:to>
                                        <p:strVal val="visible"/>
                                      </p:to>
                                    </p:set>
                                    <p:anim calcmode="lin" valueType="num">
                                      <p:cBhvr>
                                        <p:cTn id="192" dur="500" fill="hold"/>
                                        <p:tgtEl>
                                          <p:spTgt spid="41"/>
                                        </p:tgtEl>
                                        <p:attrNameLst>
                                          <p:attrName>ppt_w</p:attrName>
                                        </p:attrNameLst>
                                      </p:cBhvr>
                                      <p:tavLst>
                                        <p:tav tm="0">
                                          <p:val>
                                            <p:fltVal val="0"/>
                                          </p:val>
                                        </p:tav>
                                        <p:tav tm="100000">
                                          <p:val>
                                            <p:strVal val="#ppt_w"/>
                                          </p:val>
                                        </p:tav>
                                      </p:tavLst>
                                    </p:anim>
                                    <p:anim calcmode="lin" valueType="num">
                                      <p:cBhvr>
                                        <p:cTn id="193" dur="500" fill="hold"/>
                                        <p:tgtEl>
                                          <p:spTgt spid="41"/>
                                        </p:tgtEl>
                                        <p:attrNameLst>
                                          <p:attrName>ppt_h</p:attrName>
                                        </p:attrNameLst>
                                      </p:cBhvr>
                                      <p:tavLst>
                                        <p:tav tm="0">
                                          <p:val>
                                            <p:fltVal val="0"/>
                                          </p:val>
                                        </p:tav>
                                        <p:tav tm="100000">
                                          <p:val>
                                            <p:strVal val="#ppt_h"/>
                                          </p:val>
                                        </p:tav>
                                      </p:tavLst>
                                    </p:anim>
                                    <p:animEffect transition="in" filter="fade">
                                      <p:cBhvr>
                                        <p:cTn id="194" dur="500"/>
                                        <p:tgtEl>
                                          <p:spTgt spid="41"/>
                                        </p:tgtEl>
                                      </p:cBhvr>
                                    </p:animEffect>
                                  </p:childTnLst>
                                </p:cTn>
                              </p:par>
                              <p:par>
                                <p:cTn id="195" presetID="53" presetClass="entr" presetSubtype="16" fill="hold" grpId="0" nodeType="withEffect">
                                  <p:stCondLst>
                                    <p:cond delay="0"/>
                                  </p:stCondLst>
                                  <p:childTnLst>
                                    <p:set>
                                      <p:cBhvr>
                                        <p:cTn id="196" dur="1" fill="hold">
                                          <p:stCondLst>
                                            <p:cond delay="0"/>
                                          </p:stCondLst>
                                        </p:cTn>
                                        <p:tgtEl>
                                          <p:spTgt spid="42"/>
                                        </p:tgtEl>
                                        <p:attrNameLst>
                                          <p:attrName>style.visibility</p:attrName>
                                        </p:attrNameLst>
                                      </p:cBhvr>
                                      <p:to>
                                        <p:strVal val="visible"/>
                                      </p:to>
                                    </p:set>
                                    <p:anim calcmode="lin" valueType="num">
                                      <p:cBhvr>
                                        <p:cTn id="197" dur="500" fill="hold"/>
                                        <p:tgtEl>
                                          <p:spTgt spid="42"/>
                                        </p:tgtEl>
                                        <p:attrNameLst>
                                          <p:attrName>ppt_w</p:attrName>
                                        </p:attrNameLst>
                                      </p:cBhvr>
                                      <p:tavLst>
                                        <p:tav tm="0">
                                          <p:val>
                                            <p:fltVal val="0"/>
                                          </p:val>
                                        </p:tav>
                                        <p:tav tm="100000">
                                          <p:val>
                                            <p:strVal val="#ppt_w"/>
                                          </p:val>
                                        </p:tav>
                                      </p:tavLst>
                                    </p:anim>
                                    <p:anim calcmode="lin" valueType="num">
                                      <p:cBhvr>
                                        <p:cTn id="198" dur="500" fill="hold"/>
                                        <p:tgtEl>
                                          <p:spTgt spid="42"/>
                                        </p:tgtEl>
                                        <p:attrNameLst>
                                          <p:attrName>ppt_h</p:attrName>
                                        </p:attrNameLst>
                                      </p:cBhvr>
                                      <p:tavLst>
                                        <p:tav tm="0">
                                          <p:val>
                                            <p:fltVal val="0"/>
                                          </p:val>
                                        </p:tav>
                                        <p:tav tm="100000">
                                          <p:val>
                                            <p:strVal val="#ppt_h"/>
                                          </p:val>
                                        </p:tav>
                                      </p:tavLst>
                                    </p:anim>
                                    <p:animEffect transition="in" filter="fade">
                                      <p:cBhvr>
                                        <p:cTn id="199" dur="500"/>
                                        <p:tgtEl>
                                          <p:spTgt spid="42"/>
                                        </p:tgtEl>
                                      </p:cBhvr>
                                    </p:animEffect>
                                  </p:childTnLst>
                                </p:cTn>
                              </p:par>
                              <p:par>
                                <p:cTn id="200" presetID="53" presetClass="entr" presetSubtype="16" fill="hold" grpId="0" nodeType="withEffect">
                                  <p:stCondLst>
                                    <p:cond delay="0"/>
                                  </p:stCondLst>
                                  <p:childTnLst>
                                    <p:set>
                                      <p:cBhvr>
                                        <p:cTn id="201" dur="1" fill="hold">
                                          <p:stCondLst>
                                            <p:cond delay="0"/>
                                          </p:stCondLst>
                                        </p:cTn>
                                        <p:tgtEl>
                                          <p:spTgt spid="43"/>
                                        </p:tgtEl>
                                        <p:attrNameLst>
                                          <p:attrName>style.visibility</p:attrName>
                                        </p:attrNameLst>
                                      </p:cBhvr>
                                      <p:to>
                                        <p:strVal val="visible"/>
                                      </p:to>
                                    </p:set>
                                    <p:anim calcmode="lin" valueType="num">
                                      <p:cBhvr>
                                        <p:cTn id="202" dur="500" fill="hold"/>
                                        <p:tgtEl>
                                          <p:spTgt spid="43"/>
                                        </p:tgtEl>
                                        <p:attrNameLst>
                                          <p:attrName>ppt_w</p:attrName>
                                        </p:attrNameLst>
                                      </p:cBhvr>
                                      <p:tavLst>
                                        <p:tav tm="0">
                                          <p:val>
                                            <p:fltVal val="0"/>
                                          </p:val>
                                        </p:tav>
                                        <p:tav tm="100000">
                                          <p:val>
                                            <p:strVal val="#ppt_w"/>
                                          </p:val>
                                        </p:tav>
                                      </p:tavLst>
                                    </p:anim>
                                    <p:anim calcmode="lin" valueType="num">
                                      <p:cBhvr>
                                        <p:cTn id="203" dur="500" fill="hold"/>
                                        <p:tgtEl>
                                          <p:spTgt spid="43"/>
                                        </p:tgtEl>
                                        <p:attrNameLst>
                                          <p:attrName>ppt_h</p:attrName>
                                        </p:attrNameLst>
                                      </p:cBhvr>
                                      <p:tavLst>
                                        <p:tav tm="0">
                                          <p:val>
                                            <p:fltVal val="0"/>
                                          </p:val>
                                        </p:tav>
                                        <p:tav tm="100000">
                                          <p:val>
                                            <p:strVal val="#ppt_h"/>
                                          </p:val>
                                        </p:tav>
                                      </p:tavLst>
                                    </p:anim>
                                    <p:animEffect transition="in" filter="fade">
                                      <p:cBhvr>
                                        <p:cTn id="204" dur="500"/>
                                        <p:tgtEl>
                                          <p:spTgt spid="43"/>
                                        </p:tgtEl>
                                      </p:cBhvr>
                                    </p:animEffect>
                                  </p:childTnLst>
                                </p:cTn>
                              </p:par>
                            </p:childTnLst>
                          </p:cTn>
                        </p:par>
                      </p:childTnLst>
                    </p:cTn>
                  </p:par>
                  <p:par>
                    <p:cTn id="205" fill="hold">
                      <p:stCondLst>
                        <p:cond delay="indefinite"/>
                      </p:stCondLst>
                      <p:childTnLst>
                        <p:par>
                          <p:cTn id="206" fill="hold">
                            <p:stCondLst>
                              <p:cond delay="0"/>
                            </p:stCondLst>
                            <p:childTnLst>
                              <p:par>
                                <p:cTn id="207" presetID="10" presetClass="entr" presetSubtype="0" fill="hold" grpId="0" nodeType="clickEffect">
                                  <p:stCondLst>
                                    <p:cond delay="0"/>
                                  </p:stCondLst>
                                  <p:childTnLst>
                                    <p:set>
                                      <p:cBhvr>
                                        <p:cTn id="208" dur="1" fill="hold">
                                          <p:stCondLst>
                                            <p:cond delay="0"/>
                                          </p:stCondLst>
                                        </p:cTn>
                                        <p:tgtEl>
                                          <p:spTgt spid="44"/>
                                        </p:tgtEl>
                                        <p:attrNameLst>
                                          <p:attrName>style.visibility</p:attrName>
                                        </p:attrNameLst>
                                      </p:cBhvr>
                                      <p:to>
                                        <p:strVal val="visible"/>
                                      </p:to>
                                    </p:set>
                                    <p:animEffect transition="in" filter="fade">
                                      <p:cBhvr>
                                        <p:cTn id="209" dur="500"/>
                                        <p:tgtEl>
                                          <p:spTgt spid="44"/>
                                        </p:tgtEl>
                                      </p:cBhvr>
                                    </p:animEffect>
                                  </p:childTnLst>
                                </p:cTn>
                              </p:par>
                            </p:childTnLst>
                          </p:cTn>
                        </p:par>
                      </p:childTnLst>
                    </p:cTn>
                  </p:par>
                  <p:par>
                    <p:cTn id="210" fill="hold">
                      <p:stCondLst>
                        <p:cond delay="indefinite"/>
                      </p:stCondLst>
                      <p:childTnLst>
                        <p:par>
                          <p:cTn id="211" fill="hold">
                            <p:stCondLst>
                              <p:cond delay="0"/>
                            </p:stCondLst>
                            <p:childTnLst>
                              <p:par>
                                <p:cTn id="212" presetID="22" presetClass="entr" presetSubtype="8" fill="hold" grpId="0" nodeType="clickEffect">
                                  <p:stCondLst>
                                    <p:cond delay="0"/>
                                  </p:stCondLst>
                                  <p:childTnLst>
                                    <p:set>
                                      <p:cBhvr>
                                        <p:cTn id="213" dur="1" fill="hold">
                                          <p:stCondLst>
                                            <p:cond delay="0"/>
                                          </p:stCondLst>
                                        </p:cTn>
                                        <p:tgtEl>
                                          <p:spTgt spid="45"/>
                                        </p:tgtEl>
                                        <p:attrNameLst>
                                          <p:attrName>style.visibility</p:attrName>
                                        </p:attrNameLst>
                                      </p:cBhvr>
                                      <p:to>
                                        <p:strVal val="visible"/>
                                      </p:to>
                                    </p:set>
                                    <p:animEffect transition="in" filter="wipe(left)">
                                      <p:cBhvr>
                                        <p:cTn id="214" dur="500"/>
                                        <p:tgtEl>
                                          <p:spTgt spid="45"/>
                                        </p:tgtEl>
                                      </p:cBhvr>
                                    </p:animEffect>
                                  </p:childTnLst>
                                </p:cTn>
                              </p:par>
                              <p:par>
                                <p:cTn id="215" presetID="22" presetClass="entr" presetSubtype="8" fill="hold" grpId="0" nodeType="withEffect">
                                  <p:stCondLst>
                                    <p:cond delay="0"/>
                                  </p:stCondLst>
                                  <p:childTnLst>
                                    <p:set>
                                      <p:cBhvr>
                                        <p:cTn id="216" dur="1" fill="hold">
                                          <p:stCondLst>
                                            <p:cond delay="0"/>
                                          </p:stCondLst>
                                        </p:cTn>
                                        <p:tgtEl>
                                          <p:spTgt spid="46"/>
                                        </p:tgtEl>
                                        <p:attrNameLst>
                                          <p:attrName>style.visibility</p:attrName>
                                        </p:attrNameLst>
                                      </p:cBhvr>
                                      <p:to>
                                        <p:strVal val="visible"/>
                                      </p:to>
                                    </p:set>
                                    <p:animEffect transition="in" filter="wipe(left)">
                                      <p:cBhvr>
                                        <p:cTn id="217" dur="500"/>
                                        <p:tgtEl>
                                          <p:spTgt spid="46"/>
                                        </p:tgtEl>
                                      </p:cBhvr>
                                    </p:animEffect>
                                  </p:childTnLst>
                                </p:cTn>
                              </p:par>
                              <p:par>
                                <p:cTn id="218" presetID="22" presetClass="entr" presetSubtype="8" fill="hold" grpId="0" nodeType="withEffect">
                                  <p:stCondLst>
                                    <p:cond delay="0"/>
                                  </p:stCondLst>
                                  <p:childTnLst>
                                    <p:set>
                                      <p:cBhvr>
                                        <p:cTn id="219" dur="1" fill="hold">
                                          <p:stCondLst>
                                            <p:cond delay="0"/>
                                          </p:stCondLst>
                                        </p:cTn>
                                        <p:tgtEl>
                                          <p:spTgt spid="47"/>
                                        </p:tgtEl>
                                        <p:attrNameLst>
                                          <p:attrName>style.visibility</p:attrName>
                                        </p:attrNameLst>
                                      </p:cBhvr>
                                      <p:to>
                                        <p:strVal val="visible"/>
                                      </p:to>
                                    </p:set>
                                    <p:animEffect transition="in" filter="wipe(left)">
                                      <p:cBhvr>
                                        <p:cTn id="220" dur="500"/>
                                        <p:tgtEl>
                                          <p:spTgt spid="47"/>
                                        </p:tgtEl>
                                      </p:cBhvr>
                                    </p:animEffect>
                                  </p:childTnLst>
                                </p:cTn>
                              </p:par>
                              <p:par>
                                <p:cTn id="221" presetID="22" presetClass="entr" presetSubtype="8" fill="hold" grpId="0" nodeType="withEffect">
                                  <p:stCondLst>
                                    <p:cond delay="0"/>
                                  </p:stCondLst>
                                  <p:childTnLst>
                                    <p:set>
                                      <p:cBhvr>
                                        <p:cTn id="222" dur="1" fill="hold">
                                          <p:stCondLst>
                                            <p:cond delay="0"/>
                                          </p:stCondLst>
                                        </p:cTn>
                                        <p:tgtEl>
                                          <p:spTgt spid="48"/>
                                        </p:tgtEl>
                                        <p:attrNameLst>
                                          <p:attrName>style.visibility</p:attrName>
                                        </p:attrNameLst>
                                      </p:cBhvr>
                                      <p:to>
                                        <p:strVal val="visible"/>
                                      </p:to>
                                    </p:set>
                                    <p:animEffect transition="in" filter="wipe(left)">
                                      <p:cBhvr>
                                        <p:cTn id="223" dur="500"/>
                                        <p:tgtEl>
                                          <p:spTgt spid="48"/>
                                        </p:tgtEl>
                                      </p:cBhvr>
                                    </p:animEffect>
                                  </p:childTnLst>
                                </p:cTn>
                              </p:par>
                              <p:par>
                                <p:cTn id="224" presetID="22" presetClass="entr" presetSubtype="8" fill="hold" grpId="0" nodeType="withEffect">
                                  <p:stCondLst>
                                    <p:cond delay="0"/>
                                  </p:stCondLst>
                                  <p:childTnLst>
                                    <p:set>
                                      <p:cBhvr>
                                        <p:cTn id="225" dur="1" fill="hold">
                                          <p:stCondLst>
                                            <p:cond delay="0"/>
                                          </p:stCondLst>
                                        </p:cTn>
                                        <p:tgtEl>
                                          <p:spTgt spid="49"/>
                                        </p:tgtEl>
                                        <p:attrNameLst>
                                          <p:attrName>style.visibility</p:attrName>
                                        </p:attrNameLst>
                                      </p:cBhvr>
                                      <p:to>
                                        <p:strVal val="visible"/>
                                      </p:to>
                                    </p:set>
                                    <p:animEffect transition="in" filter="wipe(left)">
                                      <p:cBhvr>
                                        <p:cTn id="226" dur="500"/>
                                        <p:tgtEl>
                                          <p:spTgt spid="49"/>
                                        </p:tgtEl>
                                      </p:cBhvr>
                                    </p:animEffect>
                                  </p:childTnLst>
                                </p:cTn>
                              </p:par>
                              <p:par>
                                <p:cTn id="227" presetID="22" presetClass="entr" presetSubtype="8" fill="hold" grpId="0" nodeType="withEffect">
                                  <p:stCondLst>
                                    <p:cond delay="0"/>
                                  </p:stCondLst>
                                  <p:childTnLst>
                                    <p:set>
                                      <p:cBhvr>
                                        <p:cTn id="228" dur="1" fill="hold">
                                          <p:stCondLst>
                                            <p:cond delay="0"/>
                                          </p:stCondLst>
                                        </p:cTn>
                                        <p:tgtEl>
                                          <p:spTgt spid="50"/>
                                        </p:tgtEl>
                                        <p:attrNameLst>
                                          <p:attrName>style.visibility</p:attrName>
                                        </p:attrNameLst>
                                      </p:cBhvr>
                                      <p:to>
                                        <p:strVal val="visible"/>
                                      </p:to>
                                    </p:set>
                                    <p:animEffect transition="in" filter="wipe(left)">
                                      <p:cBhvr>
                                        <p:cTn id="229" dur="500"/>
                                        <p:tgtEl>
                                          <p:spTgt spid="50"/>
                                        </p:tgtEl>
                                      </p:cBhvr>
                                    </p:animEffect>
                                  </p:childTnLst>
                                </p:cTn>
                              </p:par>
                              <p:par>
                                <p:cTn id="230" presetID="22" presetClass="entr" presetSubtype="8" fill="hold" grpId="0" nodeType="withEffect">
                                  <p:stCondLst>
                                    <p:cond delay="0"/>
                                  </p:stCondLst>
                                  <p:childTnLst>
                                    <p:set>
                                      <p:cBhvr>
                                        <p:cTn id="231" dur="1" fill="hold">
                                          <p:stCondLst>
                                            <p:cond delay="0"/>
                                          </p:stCondLst>
                                        </p:cTn>
                                        <p:tgtEl>
                                          <p:spTgt spid="51"/>
                                        </p:tgtEl>
                                        <p:attrNameLst>
                                          <p:attrName>style.visibility</p:attrName>
                                        </p:attrNameLst>
                                      </p:cBhvr>
                                      <p:to>
                                        <p:strVal val="visible"/>
                                      </p:to>
                                    </p:set>
                                    <p:animEffect transition="in" filter="wipe(left)">
                                      <p:cBhvr>
                                        <p:cTn id="232" dur="500"/>
                                        <p:tgtEl>
                                          <p:spTgt spid="51"/>
                                        </p:tgtEl>
                                      </p:cBhvr>
                                    </p:animEffect>
                                  </p:childTnLst>
                                </p:cTn>
                              </p:par>
                              <p:par>
                                <p:cTn id="233" presetID="22" presetClass="entr" presetSubtype="8" fill="hold" grpId="0" nodeType="withEffect">
                                  <p:stCondLst>
                                    <p:cond delay="0"/>
                                  </p:stCondLst>
                                  <p:childTnLst>
                                    <p:set>
                                      <p:cBhvr>
                                        <p:cTn id="234" dur="1" fill="hold">
                                          <p:stCondLst>
                                            <p:cond delay="0"/>
                                          </p:stCondLst>
                                        </p:cTn>
                                        <p:tgtEl>
                                          <p:spTgt spid="52"/>
                                        </p:tgtEl>
                                        <p:attrNameLst>
                                          <p:attrName>style.visibility</p:attrName>
                                        </p:attrNameLst>
                                      </p:cBhvr>
                                      <p:to>
                                        <p:strVal val="visible"/>
                                      </p:to>
                                    </p:set>
                                    <p:animEffect transition="in" filter="wipe(left)">
                                      <p:cBhvr>
                                        <p:cTn id="235" dur="500"/>
                                        <p:tgtEl>
                                          <p:spTgt spid="52"/>
                                        </p:tgtEl>
                                      </p:cBhvr>
                                    </p:animEffect>
                                  </p:childTnLst>
                                </p:cTn>
                              </p:par>
                              <p:par>
                                <p:cTn id="236" presetID="22" presetClass="entr" presetSubtype="8" fill="hold" grpId="0" nodeType="withEffect">
                                  <p:stCondLst>
                                    <p:cond delay="0"/>
                                  </p:stCondLst>
                                  <p:childTnLst>
                                    <p:set>
                                      <p:cBhvr>
                                        <p:cTn id="237" dur="1" fill="hold">
                                          <p:stCondLst>
                                            <p:cond delay="0"/>
                                          </p:stCondLst>
                                        </p:cTn>
                                        <p:tgtEl>
                                          <p:spTgt spid="53"/>
                                        </p:tgtEl>
                                        <p:attrNameLst>
                                          <p:attrName>style.visibility</p:attrName>
                                        </p:attrNameLst>
                                      </p:cBhvr>
                                      <p:to>
                                        <p:strVal val="visible"/>
                                      </p:to>
                                    </p:set>
                                    <p:animEffect transition="in" filter="wipe(left)">
                                      <p:cBhvr>
                                        <p:cTn id="238" dur="500"/>
                                        <p:tgtEl>
                                          <p:spTgt spid="53"/>
                                        </p:tgtEl>
                                      </p:cBhvr>
                                    </p:animEffect>
                                  </p:childTnLst>
                                </p:cTn>
                              </p:par>
                              <p:par>
                                <p:cTn id="239" presetID="22" presetClass="entr" presetSubtype="8" fill="hold" grpId="0" nodeType="withEffect">
                                  <p:stCondLst>
                                    <p:cond delay="0"/>
                                  </p:stCondLst>
                                  <p:childTnLst>
                                    <p:set>
                                      <p:cBhvr>
                                        <p:cTn id="240" dur="1" fill="hold">
                                          <p:stCondLst>
                                            <p:cond delay="0"/>
                                          </p:stCondLst>
                                        </p:cTn>
                                        <p:tgtEl>
                                          <p:spTgt spid="54"/>
                                        </p:tgtEl>
                                        <p:attrNameLst>
                                          <p:attrName>style.visibility</p:attrName>
                                        </p:attrNameLst>
                                      </p:cBhvr>
                                      <p:to>
                                        <p:strVal val="visible"/>
                                      </p:to>
                                    </p:set>
                                    <p:animEffect transition="in" filter="wipe(left)">
                                      <p:cBhvr>
                                        <p:cTn id="241" dur="500"/>
                                        <p:tgtEl>
                                          <p:spTgt spid="54"/>
                                        </p:tgtEl>
                                      </p:cBhvr>
                                    </p:animEffect>
                                  </p:childTnLst>
                                </p:cTn>
                              </p:par>
                              <p:par>
                                <p:cTn id="242" presetID="22" presetClass="entr" presetSubtype="8" fill="hold" grpId="0" nodeType="withEffect">
                                  <p:stCondLst>
                                    <p:cond delay="0"/>
                                  </p:stCondLst>
                                  <p:childTnLst>
                                    <p:set>
                                      <p:cBhvr>
                                        <p:cTn id="243" dur="1" fill="hold">
                                          <p:stCondLst>
                                            <p:cond delay="0"/>
                                          </p:stCondLst>
                                        </p:cTn>
                                        <p:tgtEl>
                                          <p:spTgt spid="55"/>
                                        </p:tgtEl>
                                        <p:attrNameLst>
                                          <p:attrName>style.visibility</p:attrName>
                                        </p:attrNameLst>
                                      </p:cBhvr>
                                      <p:to>
                                        <p:strVal val="visible"/>
                                      </p:to>
                                    </p:set>
                                    <p:animEffect transition="in" filter="wipe(left)">
                                      <p:cBhvr>
                                        <p:cTn id="244" dur="500"/>
                                        <p:tgtEl>
                                          <p:spTgt spid="55"/>
                                        </p:tgtEl>
                                      </p:cBhvr>
                                    </p:animEffect>
                                  </p:childTnLst>
                                </p:cTn>
                              </p:par>
                              <p:par>
                                <p:cTn id="245" presetID="22" presetClass="entr" presetSubtype="8" fill="hold" grpId="0" nodeType="withEffect">
                                  <p:stCondLst>
                                    <p:cond delay="0"/>
                                  </p:stCondLst>
                                  <p:childTnLst>
                                    <p:set>
                                      <p:cBhvr>
                                        <p:cTn id="246" dur="1" fill="hold">
                                          <p:stCondLst>
                                            <p:cond delay="0"/>
                                          </p:stCondLst>
                                        </p:cTn>
                                        <p:tgtEl>
                                          <p:spTgt spid="56"/>
                                        </p:tgtEl>
                                        <p:attrNameLst>
                                          <p:attrName>style.visibility</p:attrName>
                                        </p:attrNameLst>
                                      </p:cBhvr>
                                      <p:to>
                                        <p:strVal val="visible"/>
                                      </p:to>
                                    </p:set>
                                    <p:animEffect transition="in" filter="wipe(left)">
                                      <p:cBhvr>
                                        <p:cTn id="24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7" grpId="0" animBg="1"/>
      <p:bldP spid="38" grpId="0" animBg="1"/>
      <p:bldP spid="39" grpId="0" animBg="1"/>
      <p:bldP spid="40"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0" name="Rectangle: Rounded Corners 39">
            <a:extLst>
              <a:ext uri="{FF2B5EF4-FFF2-40B4-BE49-F238E27FC236}">
                <a16:creationId xmlns:a16="http://schemas.microsoft.com/office/drawing/2014/main" id="{A8511B09-F98D-ABAF-BB19-5BA62D221853}"/>
              </a:ext>
            </a:extLst>
          </p:cNvPr>
          <p:cNvSpPr/>
          <p:nvPr/>
        </p:nvSpPr>
        <p:spPr>
          <a:xfrm>
            <a:off x="457200" y="4912220"/>
            <a:ext cx="11386420" cy="1595989"/>
          </a:xfrm>
          <a:prstGeom prst="roundRect">
            <a:avLst>
              <a:gd name="adj" fmla="val 5336"/>
            </a:avLst>
          </a:prstGeom>
          <a:solidFill>
            <a:srgbClr val="E7EAF2"/>
          </a:solidFill>
          <a:ln w="9525">
            <a:solidFill>
              <a:schemeClr val="tx1"/>
            </a:solidFill>
            <a:prstDash val="lgDash"/>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2" name="Text 0"/>
          <p:cNvSpPr txBox="1"/>
          <p:nvPr/>
        </p:nvSpPr>
        <p:spPr>
          <a:xfrm>
            <a:off x="457200" y="365760"/>
            <a:ext cx="11277295" cy="27432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SALES ANALYSIS</a:t>
            </a:r>
            <a:endParaRPr lang="en-US" sz="1200" dirty="0"/>
          </a:p>
        </p:txBody>
      </p:sp>
      <p:sp>
        <p:nvSpPr>
          <p:cNvPr id="3" name="Text 1"/>
          <p:cNvSpPr txBox="1"/>
          <p:nvPr/>
        </p:nvSpPr>
        <p:spPr>
          <a:xfrm>
            <a:off x="457200" y="621792"/>
            <a:ext cx="11277295" cy="548640"/>
          </a:xfrm>
          <a:prstGeom prst="rect">
            <a:avLst/>
          </a:prstGeom>
          <a:noFill/>
          <a:ln/>
        </p:spPr>
        <p:txBody>
          <a:bodyPr wrap="square" rtlCol="0" anchor="ctr"/>
          <a:lstStyle/>
          <a:p>
            <a:pPr marL="0" indent="0">
              <a:buNone/>
            </a:pPr>
            <a:r>
              <a:rPr lang="en-US" sz="2900" b="1" dirty="0">
                <a:solidFill>
                  <a:srgbClr val="1B2A4A"/>
                </a:solidFill>
                <a:latin typeface="Cambria" pitchFamily="34" charset="0"/>
                <a:ea typeface="Cambria" pitchFamily="34" charset="-122"/>
                <a:cs typeface="Cambria" pitchFamily="34" charset="-120"/>
              </a:rPr>
              <a:t>Sales Performance Analysis</a:t>
            </a:r>
            <a:endParaRPr lang="en-US" sz="2900" dirty="0"/>
          </a:p>
        </p:txBody>
      </p:sp>
      <p:sp>
        <p:nvSpPr>
          <p:cNvPr id="4" name="Shape 2"/>
          <p:cNvSpPr/>
          <p:nvPr/>
        </p:nvSpPr>
        <p:spPr>
          <a:xfrm>
            <a:off x="457200" y="1132646"/>
            <a:ext cx="11386420" cy="713232"/>
          </a:xfrm>
          <a:prstGeom prst="roundRect">
            <a:avLst>
              <a:gd name="adj" fmla="val 10256"/>
            </a:avLst>
          </a:prstGeom>
          <a:solidFill>
            <a:srgbClr val="E7EAF2"/>
          </a:solidFill>
          <a:ln/>
        </p:spPr>
        <p:txBody>
          <a:bodyPr/>
          <a:lstStyle/>
          <a:p>
            <a:endParaRPr lang="en-IN"/>
          </a:p>
        </p:txBody>
      </p:sp>
      <p:sp>
        <p:nvSpPr>
          <p:cNvPr id="5" name="Shape 3"/>
          <p:cNvSpPr/>
          <p:nvPr/>
        </p:nvSpPr>
        <p:spPr>
          <a:xfrm>
            <a:off x="658368" y="1288529"/>
            <a:ext cx="420624" cy="420624"/>
          </a:xfrm>
          <a:prstGeom prst="ellipse">
            <a:avLst/>
          </a:prstGeom>
          <a:solidFill>
            <a:srgbClr val="1B2A4A"/>
          </a:solidFill>
          <a:ln/>
        </p:spPr>
        <p:txBody>
          <a:bodyPr/>
          <a:lstStyle/>
          <a:p>
            <a:endParaRPr lang="en-IN"/>
          </a:p>
        </p:txBody>
      </p:sp>
      <p:pic>
        <p:nvPicPr>
          <p:cNvPr id="6" name="Image 0" descr="/home/claude/bookverse/icons/question.png"/>
          <p:cNvPicPr>
            <a:picLocks noChangeAspect="1"/>
          </p:cNvPicPr>
          <p:nvPr/>
        </p:nvPicPr>
        <p:blipFill>
          <a:blip r:embed="rId3"/>
          <a:stretch>
            <a:fillRect/>
          </a:stretch>
        </p:blipFill>
        <p:spPr>
          <a:xfrm>
            <a:off x="725668" y="1355829"/>
            <a:ext cx="286024" cy="286024"/>
          </a:xfrm>
          <a:prstGeom prst="rect">
            <a:avLst/>
          </a:prstGeom>
        </p:spPr>
      </p:pic>
      <p:sp>
        <p:nvSpPr>
          <p:cNvPr id="7" name="Text 4"/>
          <p:cNvSpPr txBox="1"/>
          <p:nvPr/>
        </p:nvSpPr>
        <p:spPr>
          <a:xfrm>
            <a:off x="1280160" y="1215377"/>
            <a:ext cx="10225735" cy="506840"/>
          </a:xfrm>
          <a:prstGeom prst="rect">
            <a:avLst/>
          </a:prstGeom>
          <a:noFill/>
          <a:ln/>
        </p:spPr>
        <p:txBody>
          <a:bodyPr wrap="square" rtlCol="0" anchor="ctr"/>
          <a:lstStyle/>
          <a:p>
            <a:pPr marL="0" indent="0">
              <a:buNone/>
            </a:pPr>
            <a:r>
              <a:rPr lang="en-US" sz="1250" i="1" dirty="0">
                <a:solidFill>
                  <a:srgbClr val="1B2A4A"/>
                </a:solidFill>
                <a:latin typeface="Calibri" pitchFamily="34" charset="0"/>
                <a:ea typeface="Calibri" pitchFamily="34" charset="-122"/>
                <a:cs typeface="Calibri" pitchFamily="34" charset="-120"/>
              </a:rPr>
              <a:t>“The Sales team wants to understand overall sales performance and identify the books, authors, and genres that contribute most to revenue.”</a:t>
            </a:r>
            <a:endParaRPr lang="en-US" sz="1250" dirty="0"/>
          </a:p>
        </p:txBody>
      </p:sp>
      <p:sp>
        <p:nvSpPr>
          <p:cNvPr id="8" name="Text 5"/>
          <p:cNvSpPr txBox="1"/>
          <p:nvPr/>
        </p:nvSpPr>
        <p:spPr>
          <a:xfrm>
            <a:off x="457200" y="1961748"/>
            <a:ext cx="5410048" cy="274320"/>
          </a:xfrm>
          <a:prstGeom prst="rect">
            <a:avLst/>
          </a:prstGeom>
          <a:noFill/>
          <a:ln/>
        </p:spPr>
        <p:txBody>
          <a:bodyPr wrap="square" rtlCol="0" anchor="ctr"/>
          <a:lstStyle/>
          <a:p>
            <a:pPr marL="0" indent="0">
              <a:buNone/>
            </a:pPr>
            <a:r>
              <a:rPr lang="en-US" sz="1150" b="1" kern="0" spc="100" dirty="0">
                <a:solidFill>
                  <a:srgbClr val="1B2A4A"/>
                </a:solidFill>
                <a:latin typeface="Calibri" pitchFamily="34" charset="0"/>
                <a:ea typeface="Calibri" pitchFamily="34" charset="-122"/>
                <a:cs typeface="Calibri" pitchFamily="34" charset="-120"/>
              </a:rPr>
              <a:t>WORKBENCH ANALYSIS COVERS</a:t>
            </a:r>
            <a:endParaRPr lang="en-US" sz="1150" dirty="0"/>
          </a:p>
        </p:txBody>
      </p:sp>
      <p:sp>
        <p:nvSpPr>
          <p:cNvPr id="10" name="Shape 7"/>
          <p:cNvSpPr/>
          <p:nvPr/>
        </p:nvSpPr>
        <p:spPr>
          <a:xfrm>
            <a:off x="457200" y="2298987"/>
            <a:ext cx="5299166" cy="2409208"/>
          </a:xfrm>
          <a:prstGeom prst="roundRect">
            <a:avLst>
              <a:gd name="adj" fmla="val 3478"/>
            </a:avLst>
          </a:prstGeom>
          <a:solidFill>
            <a:srgbClr val="121D33"/>
          </a:solidFill>
          <a:ln/>
        </p:spPr>
        <p:txBody>
          <a:bodyPr/>
          <a:lstStyle/>
          <a:p>
            <a:endParaRPr lang="en-IN"/>
          </a:p>
        </p:txBody>
      </p:sp>
      <p:sp>
        <p:nvSpPr>
          <p:cNvPr id="11" name="Text 8"/>
          <p:cNvSpPr txBox="1"/>
          <p:nvPr/>
        </p:nvSpPr>
        <p:spPr>
          <a:xfrm>
            <a:off x="640080" y="2388059"/>
            <a:ext cx="5044288" cy="256032"/>
          </a:xfrm>
          <a:prstGeom prst="rect">
            <a:avLst/>
          </a:prstGeom>
          <a:noFill/>
          <a:ln/>
        </p:spPr>
        <p:txBody>
          <a:bodyPr wrap="square" rtlCol="0" anchor="ctr"/>
          <a:lstStyle/>
          <a:p>
            <a:pPr marL="0" indent="0">
              <a:buNone/>
            </a:pPr>
            <a:r>
              <a:rPr lang="en-US" sz="1050" b="1" kern="0" spc="100" dirty="0">
                <a:solidFill>
                  <a:srgbClr val="C9A227"/>
                </a:solidFill>
                <a:latin typeface="Calibri" pitchFamily="34" charset="0"/>
                <a:ea typeface="Calibri" pitchFamily="34" charset="-122"/>
                <a:cs typeface="Calibri" pitchFamily="34" charset="-120"/>
              </a:rPr>
              <a:t>REPRESENTATIVE QUERY - GENRE + REVENUE</a:t>
            </a:r>
            <a:endParaRPr lang="en-US" sz="1050" dirty="0"/>
          </a:p>
        </p:txBody>
      </p:sp>
      <p:sp>
        <p:nvSpPr>
          <p:cNvPr id="12" name="Text 9"/>
          <p:cNvSpPr txBox="1"/>
          <p:nvPr/>
        </p:nvSpPr>
        <p:spPr>
          <a:xfrm>
            <a:off x="640080" y="2644091"/>
            <a:ext cx="5044288" cy="1609344"/>
          </a:xfrm>
          <a:prstGeom prst="rect">
            <a:avLst/>
          </a:prstGeom>
          <a:noFill/>
          <a:ln/>
        </p:spPr>
        <p:txBody>
          <a:bodyPr wrap="square" rtlCol="0" anchor="t"/>
          <a:lstStyle/>
          <a:p>
            <a:pPr marL="0" indent="0">
              <a:lnSpc>
                <a:spcPct val="106000"/>
              </a:lnSpc>
              <a:buNone/>
            </a:pPr>
            <a:r>
              <a:rPr lang="en-US" sz="1250" b="1" dirty="0">
                <a:solidFill>
                  <a:srgbClr val="E8D48A"/>
                </a:solidFill>
                <a:latin typeface="Courier New" pitchFamily="34" charset="0"/>
                <a:ea typeface="Courier New" pitchFamily="34" charset="-122"/>
                <a:cs typeface="Courier New" pitchFamily="34" charset="-120"/>
              </a:rPr>
              <a:t>SELECT</a:t>
            </a:r>
            <a:endParaRPr lang="en-US" sz="1250" dirty="0"/>
          </a:p>
          <a:p>
            <a:pPr marL="0" indent="0">
              <a:lnSpc>
                <a:spcPct val="106000"/>
              </a:lnSpc>
              <a:buNone/>
            </a:pPr>
            <a:r>
              <a:rPr lang="en-US" sz="1250" dirty="0">
                <a:solidFill>
                  <a:srgbClr val="FFFFFF"/>
                </a:solidFill>
                <a:latin typeface="Courier New" pitchFamily="34" charset="0"/>
                <a:ea typeface="Courier New" pitchFamily="34" charset="-122"/>
                <a:cs typeface="Courier New" pitchFamily="34" charset="-120"/>
              </a:rPr>
              <a:t>    b.Genre,</a:t>
            </a:r>
            <a:endParaRPr lang="en-US" sz="1250" dirty="0"/>
          </a:p>
          <a:p>
            <a:pPr marL="0" indent="0">
              <a:lnSpc>
                <a:spcPct val="106000"/>
              </a:lnSpc>
              <a:buNone/>
            </a:pPr>
            <a:r>
              <a:rPr lang="en-US" sz="1250" dirty="0">
                <a:solidFill>
                  <a:srgbClr val="FFFFFF"/>
                </a:solidFill>
                <a:latin typeface="Courier New" pitchFamily="34" charset="0"/>
                <a:ea typeface="Courier New" pitchFamily="34" charset="-122"/>
                <a:cs typeface="Courier New" pitchFamily="34" charset="-120"/>
              </a:rPr>
              <a:t>    </a:t>
            </a:r>
            <a:r>
              <a:rPr lang="en-US" sz="1250" b="1" dirty="0">
                <a:solidFill>
                  <a:srgbClr val="E8D48A"/>
                </a:solidFill>
                <a:latin typeface="Courier New" pitchFamily="34" charset="0"/>
                <a:ea typeface="Courier New" pitchFamily="34" charset="-122"/>
                <a:cs typeface="Courier New" pitchFamily="34" charset="-120"/>
              </a:rPr>
              <a:t>SUM</a:t>
            </a:r>
            <a:r>
              <a:rPr lang="en-US" sz="1250" dirty="0">
                <a:solidFill>
                  <a:srgbClr val="FFFFFF"/>
                </a:solidFill>
                <a:latin typeface="Courier New" pitchFamily="34" charset="0"/>
                <a:ea typeface="Courier New" pitchFamily="34" charset="-122"/>
                <a:cs typeface="Courier New" pitchFamily="34" charset="-120"/>
              </a:rPr>
              <a:t>(o.Quantity) </a:t>
            </a:r>
            <a:r>
              <a:rPr lang="en-US" sz="1250" b="1" dirty="0">
                <a:solidFill>
                  <a:srgbClr val="E8D48A"/>
                </a:solidFill>
                <a:latin typeface="Courier New" pitchFamily="34" charset="0"/>
                <a:ea typeface="Courier New" pitchFamily="34" charset="-122"/>
                <a:cs typeface="Courier New" pitchFamily="34" charset="-120"/>
              </a:rPr>
              <a:t>AS</a:t>
            </a:r>
            <a:r>
              <a:rPr lang="en-US" sz="1250" dirty="0">
                <a:solidFill>
                  <a:srgbClr val="FFFFFF"/>
                </a:solidFill>
                <a:latin typeface="Courier New" pitchFamily="34" charset="0"/>
                <a:ea typeface="Courier New" pitchFamily="34" charset="-122"/>
                <a:cs typeface="Courier New" pitchFamily="34" charset="-120"/>
              </a:rPr>
              <a:t> Units_Sold,</a:t>
            </a:r>
            <a:endParaRPr lang="en-US" sz="1250" dirty="0"/>
          </a:p>
          <a:p>
            <a:pPr marL="0" indent="0">
              <a:lnSpc>
                <a:spcPct val="106000"/>
              </a:lnSpc>
              <a:buNone/>
            </a:pPr>
            <a:r>
              <a:rPr lang="en-US" sz="1250" dirty="0">
                <a:solidFill>
                  <a:srgbClr val="FFFFFF"/>
                </a:solidFill>
                <a:latin typeface="Courier New" pitchFamily="34" charset="0"/>
                <a:ea typeface="Courier New" pitchFamily="34" charset="-122"/>
                <a:cs typeface="Courier New" pitchFamily="34" charset="-120"/>
              </a:rPr>
              <a:t>    </a:t>
            </a:r>
            <a:r>
              <a:rPr lang="en-US" sz="1250" b="1" dirty="0">
                <a:solidFill>
                  <a:srgbClr val="E8D48A"/>
                </a:solidFill>
                <a:latin typeface="Courier New" pitchFamily="34" charset="0"/>
                <a:ea typeface="Courier New" pitchFamily="34" charset="-122"/>
                <a:cs typeface="Courier New" pitchFamily="34" charset="-120"/>
              </a:rPr>
              <a:t>ROUND</a:t>
            </a:r>
            <a:r>
              <a:rPr lang="en-US" sz="1250" dirty="0">
                <a:solidFill>
                  <a:srgbClr val="FFFFFF"/>
                </a:solidFill>
                <a:latin typeface="Courier New" pitchFamily="34" charset="0"/>
                <a:ea typeface="Courier New" pitchFamily="34" charset="-122"/>
                <a:cs typeface="Courier New" pitchFamily="34" charset="-120"/>
              </a:rPr>
              <a:t>(</a:t>
            </a:r>
            <a:r>
              <a:rPr lang="en-US" sz="1250" b="1" dirty="0">
                <a:solidFill>
                  <a:srgbClr val="E8D48A"/>
                </a:solidFill>
                <a:latin typeface="Courier New" pitchFamily="34" charset="0"/>
                <a:ea typeface="Courier New" pitchFamily="34" charset="-122"/>
                <a:cs typeface="Courier New" pitchFamily="34" charset="-120"/>
              </a:rPr>
              <a:t>SUM</a:t>
            </a:r>
            <a:r>
              <a:rPr lang="en-US" sz="1250" dirty="0">
                <a:solidFill>
                  <a:srgbClr val="FFFFFF"/>
                </a:solidFill>
                <a:latin typeface="Courier New" pitchFamily="34" charset="0"/>
                <a:ea typeface="Courier New" pitchFamily="34" charset="-122"/>
                <a:cs typeface="Courier New" pitchFamily="34" charset="-120"/>
              </a:rPr>
              <a:t>(o.Total_Amount), 2) </a:t>
            </a:r>
            <a:r>
              <a:rPr lang="en-US" sz="1250" b="1" dirty="0">
                <a:solidFill>
                  <a:srgbClr val="E8D48A"/>
                </a:solidFill>
                <a:latin typeface="Courier New" pitchFamily="34" charset="0"/>
                <a:ea typeface="Courier New" pitchFamily="34" charset="-122"/>
                <a:cs typeface="Courier New" pitchFamily="34" charset="-120"/>
              </a:rPr>
              <a:t>AS</a:t>
            </a:r>
            <a:r>
              <a:rPr lang="en-US" sz="1250" dirty="0">
                <a:solidFill>
                  <a:srgbClr val="FFFFFF"/>
                </a:solidFill>
                <a:latin typeface="Courier New" pitchFamily="34" charset="0"/>
                <a:ea typeface="Courier New" pitchFamily="34" charset="-122"/>
                <a:cs typeface="Courier New" pitchFamily="34" charset="-120"/>
              </a:rPr>
              <a:t> Revenue</a:t>
            </a:r>
            <a:endParaRPr lang="en-US" sz="1250" dirty="0"/>
          </a:p>
          <a:p>
            <a:pPr marL="0" indent="0">
              <a:lnSpc>
                <a:spcPct val="106000"/>
              </a:lnSpc>
              <a:buNone/>
            </a:pPr>
            <a:r>
              <a:rPr lang="en-US" sz="1250" b="1" dirty="0">
                <a:solidFill>
                  <a:srgbClr val="E8D48A"/>
                </a:solidFill>
                <a:latin typeface="Courier New" pitchFamily="34" charset="0"/>
                <a:ea typeface="Courier New" pitchFamily="34" charset="-122"/>
                <a:cs typeface="Courier New" pitchFamily="34" charset="-120"/>
              </a:rPr>
              <a:t>FROM</a:t>
            </a:r>
            <a:r>
              <a:rPr lang="en-US" sz="1250" dirty="0">
                <a:solidFill>
                  <a:srgbClr val="FFFFFF"/>
                </a:solidFill>
                <a:latin typeface="Courier New" pitchFamily="34" charset="0"/>
                <a:ea typeface="Courier New" pitchFamily="34" charset="-122"/>
                <a:cs typeface="Courier New" pitchFamily="34" charset="-120"/>
              </a:rPr>
              <a:t> Books b</a:t>
            </a:r>
            <a:endParaRPr lang="en-US" sz="1250" dirty="0"/>
          </a:p>
          <a:p>
            <a:pPr marL="0" indent="0">
              <a:lnSpc>
                <a:spcPct val="106000"/>
              </a:lnSpc>
              <a:buNone/>
            </a:pPr>
            <a:r>
              <a:rPr lang="en-US" sz="1250" b="1" dirty="0">
                <a:solidFill>
                  <a:srgbClr val="E8D48A"/>
                </a:solidFill>
                <a:latin typeface="Courier New" pitchFamily="34" charset="0"/>
                <a:ea typeface="Courier New" pitchFamily="34" charset="-122"/>
                <a:cs typeface="Courier New" pitchFamily="34" charset="-120"/>
              </a:rPr>
              <a:t>JOIN</a:t>
            </a:r>
            <a:r>
              <a:rPr lang="en-US" sz="1250" dirty="0">
                <a:solidFill>
                  <a:srgbClr val="FFFFFF"/>
                </a:solidFill>
                <a:latin typeface="Courier New" pitchFamily="34" charset="0"/>
                <a:ea typeface="Courier New" pitchFamily="34" charset="-122"/>
                <a:cs typeface="Courier New" pitchFamily="34" charset="-120"/>
              </a:rPr>
              <a:t> Orders o</a:t>
            </a:r>
            <a:endParaRPr lang="en-US" sz="1250" dirty="0"/>
          </a:p>
          <a:p>
            <a:pPr marL="0" indent="0">
              <a:lnSpc>
                <a:spcPct val="106000"/>
              </a:lnSpc>
              <a:buNone/>
            </a:pPr>
            <a:r>
              <a:rPr lang="en-US" sz="1250" dirty="0">
                <a:solidFill>
                  <a:srgbClr val="FFFFFF"/>
                </a:solidFill>
                <a:latin typeface="Courier New" pitchFamily="34" charset="0"/>
                <a:ea typeface="Courier New" pitchFamily="34" charset="-122"/>
                <a:cs typeface="Courier New" pitchFamily="34" charset="-120"/>
              </a:rPr>
              <a:t>    </a:t>
            </a:r>
            <a:r>
              <a:rPr lang="en-US" sz="1250" b="1" dirty="0">
                <a:solidFill>
                  <a:srgbClr val="E8D48A"/>
                </a:solidFill>
                <a:latin typeface="Courier New" pitchFamily="34" charset="0"/>
                <a:ea typeface="Courier New" pitchFamily="34" charset="-122"/>
                <a:cs typeface="Courier New" pitchFamily="34" charset="-120"/>
              </a:rPr>
              <a:t>ON</a:t>
            </a:r>
            <a:r>
              <a:rPr lang="en-US" sz="1250" dirty="0">
                <a:solidFill>
                  <a:srgbClr val="FFFFFF"/>
                </a:solidFill>
                <a:latin typeface="Courier New" pitchFamily="34" charset="0"/>
                <a:ea typeface="Courier New" pitchFamily="34" charset="-122"/>
                <a:cs typeface="Courier New" pitchFamily="34" charset="-120"/>
              </a:rPr>
              <a:t> b.Book_ID = o.Book_ID</a:t>
            </a:r>
            <a:endParaRPr lang="en-US" sz="1250" dirty="0"/>
          </a:p>
          <a:p>
            <a:pPr marL="0" indent="0">
              <a:lnSpc>
                <a:spcPct val="106000"/>
              </a:lnSpc>
              <a:buNone/>
            </a:pPr>
            <a:r>
              <a:rPr lang="en-US" sz="1250" b="1" dirty="0">
                <a:solidFill>
                  <a:srgbClr val="E8D48A"/>
                </a:solidFill>
                <a:latin typeface="Courier New" pitchFamily="34" charset="0"/>
                <a:ea typeface="Courier New" pitchFamily="34" charset="-122"/>
                <a:cs typeface="Courier New" pitchFamily="34" charset="-120"/>
              </a:rPr>
              <a:t>GROUP</a:t>
            </a:r>
            <a:r>
              <a:rPr lang="en-US" sz="1250" dirty="0">
                <a:solidFill>
                  <a:srgbClr val="FFFFFF"/>
                </a:solidFill>
                <a:latin typeface="Courier New" pitchFamily="34" charset="0"/>
                <a:ea typeface="Courier New" pitchFamily="34" charset="-122"/>
                <a:cs typeface="Courier New" pitchFamily="34" charset="-120"/>
              </a:rPr>
              <a:t> </a:t>
            </a:r>
            <a:r>
              <a:rPr lang="en-US" sz="1250" b="1" dirty="0">
                <a:solidFill>
                  <a:srgbClr val="E8D48A"/>
                </a:solidFill>
                <a:latin typeface="Courier New" pitchFamily="34" charset="0"/>
                <a:ea typeface="Courier New" pitchFamily="34" charset="-122"/>
                <a:cs typeface="Courier New" pitchFamily="34" charset="-120"/>
              </a:rPr>
              <a:t>BY</a:t>
            </a:r>
            <a:r>
              <a:rPr lang="en-US" sz="1250" dirty="0">
                <a:solidFill>
                  <a:srgbClr val="FFFFFF"/>
                </a:solidFill>
                <a:latin typeface="Courier New" pitchFamily="34" charset="0"/>
                <a:ea typeface="Courier New" pitchFamily="34" charset="-122"/>
                <a:cs typeface="Courier New" pitchFamily="34" charset="-120"/>
              </a:rPr>
              <a:t> b.Genre</a:t>
            </a:r>
            <a:endParaRPr lang="en-US" sz="1250" dirty="0"/>
          </a:p>
          <a:p>
            <a:pPr marL="0" indent="0">
              <a:lnSpc>
                <a:spcPct val="106000"/>
              </a:lnSpc>
              <a:buNone/>
            </a:pPr>
            <a:r>
              <a:rPr lang="en-US" sz="1250" b="1" dirty="0">
                <a:solidFill>
                  <a:srgbClr val="E8D48A"/>
                </a:solidFill>
                <a:latin typeface="Courier New" pitchFamily="34" charset="0"/>
                <a:ea typeface="Courier New" pitchFamily="34" charset="-122"/>
                <a:cs typeface="Courier New" pitchFamily="34" charset="-120"/>
              </a:rPr>
              <a:t>ORDER</a:t>
            </a:r>
            <a:r>
              <a:rPr lang="en-US" sz="1250" dirty="0">
                <a:solidFill>
                  <a:srgbClr val="FFFFFF"/>
                </a:solidFill>
                <a:latin typeface="Courier New" pitchFamily="34" charset="0"/>
                <a:ea typeface="Courier New" pitchFamily="34" charset="-122"/>
                <a:cs typeface="Courier New" pitchFamily="34" charset="-120"/>
              </a:rPr>
              <a:t> </a:t>
            </a:r>
            <a:r>
              <a:rPr lang="en-US" sz="1250" b="1" dirty="0">
                <a:solidFill>
                  <a:srgbClr val="E8D48A"/>
                </a:solidFill>
                <a:latin typeface="Courier New" pitchFamily="34" charset="0"/>
                <a:ea typeface="Courier New" pitchFamily="34" charset="-122"/>
                <a:cs typeface="Courier New" pitchFamily="34" charset="-120"/>
              </a:rPr>
              <a:t>BY</a:t>
            </a:r>
            <a:r>
              <a:rPr lang="en-US" sz="1250" dirty="0">
                <a:solidFill>
                  <a:srgbClr val="FFFFFF"/>
                </a:solidFill>
                <a:latin typeface="Courier New" pitchFamily="34" charset="0"/>
                <a:ea typeface="Courier New" pitchFamily="34" charset="-122"/>
                <a:cs typeface="Courier New" pitchFamily="34" charset="-120"/>
              </a:rPr>
              <a:t> Revenue </a:t>
            </a:r>
            <a:r>
              <a:rPr lang="en-US" sz="1250" b="1" dirty="0">
                <a:solidFill>
                  <a:srgbClr val="E8D48A"/>
                </a:solidFill>
                <a:latin typeface="Courier New" pitchFamily="34" charset="0"/>
                <a:ea typeface="Courier New" pitchFamily="34" charset="-122"/>
                <a:cs typeface="Courier New" pitchFamily="34" charset="-120"/>
              </a:rPr>
              <a:t>DESC</a:t>
            </a:r>
            <a:r>
              <a:rPr lang="en-US" sz="1250" dirty="0">
                <a:solidFill>
                  <a:srgbClr val="FFFFFF"/>
                </a:solidFill>
                <a:latin typeface="Courier New" pitchFamily="34" charset="0"/>
                <a:ea typeface="Courier New" pitchFamily="34" charset="-122"/>
                <a:cs typeface="Courier New" pitchFamily="34" charset="-120"/>
              </a:rPr>
              <a:t>;</a:t>
            </a:r>
            <a:endParaRPr lang="en-US" sz="1250" dirty="0"/>
          </a:p>
        </p:txBody>
      </p:sp>
      <p:sp>
        <p:nvSpPr>
          <p:cNvPr id="36" name="Text 33"/>
          <p:cNvSpPr txBox="1"/>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37" name="Text 34"/>
          <p:cNvSpPr txBox="1"/>
          <p:nvPr/>
        </p:nvSpPr>
        <p:spPr>
          <a:xfrm>
            <a:off x="10637215" y="6547104"/>
            <a:ext cx="1097280"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 / 16</a:t>
            </a:r>
            <a:endParaRPr lang="en-US" sz="900" dirty="0"/>
          </a:p>
        </p:txBody>
      </p:sp>
      <p:pic>
        <p:nvPicPr>
          <p:cNvPr id="39" name="Picture 38">
            <a:extLst>
              <a:ext uri="{FF2B5EF4-FFF2-40B4-BE49-F238E27FC236}">
                <a16:creationId xmlns:a16="http://schemas.microsoft.com/office/drawing/2014/main" id="{D791D311-4779-F137-C0BF-48A260DF0348}"/>
              </a:ext>
            </a:extLst>
          </p:cNvPr>
          <p:cNvPicPr>
            <a:picLocks noChangeAspect="1"/>
          </p:cNvPicPr>
          <p:nvPr/>
        </p:nvPicPr>
        <p:blipFill>
          <a:blip r:embed="rId4"/>
          <a:stretch>
            <a:fillRect/>
          </a:stretch>
        </p:blipFill>
        <p:spPr>
          <a:xfrm>
            <a:off x="6719582" y="2049903"/>
            <a:ext cx="5014913" cy="2538127"/>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0" name="TextBox 19">
            <a:extLst>
              <a:ext uri="{FF2B5EF4-FFF2-40B4-BE49-F238E27FC236}">
                <a16:creationId xmlns:a16="http://schemas.microsoft.com/office/drawing/2014/main" id="{6B8DACCC-72EB-A883-5D29-4D20C679F834}"/>
              </a:ext>
            </a:extLst>
          </p:cNvPr>
          <p:cNvSpPr txBox="1"/>
          <p:nvPr/>
        </p:nvSpPr>
        <p:spPr>
          <a:xfrm>
            <a:off x="725668" y="5177856"/>
            <a:ext cx="11023669" cy="1208023"/>
          </a:xfrm>
          <a:prstGeom prst="rect">
            <a:avLst/>
          </a:prstGeom>
          <a:noFill/>
        </p:spPr>
        <p:txBody>
          <a:bodyPr wrap="square" rtlCol="0">
            <a:spAutoFit/>
          </a:bodyPr>
          <a:lstStyle/>
          <a:p>
            <a:pPr marL="285750" indent="-285750" algn="just">
              <a:buFont typeface="Arial" panose="020B0604020202020204" pitchFamily="34" charset="0"/>
              <a:buChar char="•"/>
            </a:pPr>
            <a:r>
              <a:rPr lang="en-US" sz="1450" b="1" dirty="0">
                <a:solidFill>
                  <a:srgbClr val="1B2A4A"/>
                </a:solidFill>
                <a:latin typeface="Cambria" panose="02040503050406030204" pitchFamily="18" charset="0"/>
                <a:ea typeface="Cambria" panose="02040503050406030204" pitchFamily="18" charset="0"/>
              </a:rPr>
              <a:t>Romance is the highest revenue generator ($12,907.58)</a:t>
            </a:r>
            <a:r>
              <a:rPr lang="en-US" sz="1450" dirty="0">
                <a:solidFill>
                  <a:srgbClr val="1B2A4A"/>
                </a:solidFill>
                <a:latin typeface="Cambria" panose="02040503050406030204" pitchFamily="18" charset="0"/>
                <a:ea typeface="Cambria" panose="02040503050406030204" pitchFamily="18" charset="0"/>
              </a:rPr>
              <a:t> </a:t>
            </a:r>
            <a:r>
              <a:rPr lang="en-US" sz="1450" dirty="0"/>
              <a:t>despite selling fewer units than Mystery. This points to a higher average item value or stronger pricing power in this genre.</a:t>
            </a:r>
          </a:p>
          <a:p>
            <a:pPr algn="just"/>
            <a:endParaRPr lang="en-US" sz="1450" dirty="0"/>
          </a:p>
          <a:p>
            <a:pPr marL="285750" indent="-285750" algn="just">
              <a:buFont typeface="Arial" panose="020B0604020202020204" pitchFamily="34" charset="0"/>
              <a:buChar char="•"/>
            </a:pPr>
            <a:r>
              <a:rPr lang="en-US" sz="1450" b="1" dirty="0">
                <a:solidFill>
                  <a:srgbClr val="1B2A4A"/>
                </a:solidFill>
                <a:latin typeface="Cambria" panose="02040503050406030204" pitchFamily="18" charset="0"/>
                <a:ea typeface="Cambria" panose="02040503050406030204" pitchFamily="18" charset="0"/>
              </a:rPr>
              <a:t>Mystery yields the highest volume (487 units)</a:t>
            </a:r>
            <a:r>
              <a:rPr lang="en-US" sz="1450" dirty="0">
                <a:solidFill>
                  <a:srgbClr val="1B2A4A"/>
                </a:solidFill>
                <a:latin typeface="Cambria" panose="02040503050406030204" pitchFamily="18" charset="0"/>
                <a:ea typeface="Cambria" panose="02040503050406030204" pitchFamily="18" charset="0"/>
              </a:rPr>
              <a:t> </a:t>
            </a:r>
            <a:r>
              <a:rPr lang="en-US" sz="1450" dirty="0"/>
              <a:t>but ranks second in total revenue due to a lower average price point per book.</a:t>
            </a:r>
          </a:p>
          <a:p>
            <a:pPr algn="just"/>
            <a:endParaRPr lang="en-IN" sz="145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0-#ppt_w/2"/>
                                          </p:val>
                                        </p:tav>
                                        <p:tav tm="100000">
                                          <p:val>
                                            <p:strVal val="#ppt_x"/>
                                          </p:val>
                                        </p:tav>
                                      </p:tavLst>
                                    </p:anim>
                                    <p:anim calcmode="lin" valueType="num">
                                      <p:cBhvr additive="base">
                                        <p:cTn id="27" dur="500" fill="hold"/>
                                        <p:tgtEl>
                                          <p:spTgt spid="10"/>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0-#ppt_w/2"/>
                                          </p:val>
                                        </p:tav>
                                        <p:tav tm="100000">
                                          <p:val>
                                            <p:strVal val="#ppt_x"/>
                                          </p:val>
                                        </p:tav>
                                      </p:tavLst>
                                    </p:anim>
                                    <p:anim calcmode="lin" valueType="num">
                                      <p:cBhvr additive="base">
                                        <p:cTn id="31" dur="500" fill="hold"/>
                                        <p:tgtEl>
                                          <p:spTgt spid="11"/>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fill="hold"/>
                                        <p:tgtEl>
                                          <p:spTgt spid="12"/>
                                        </p:tgtEl>
                                        <p:attrNameLst>
                                          <p:attrName>ppt_x</p:attrName>
                                        </p:attrNameLst>
                                      </p:cBhvr>
                                      <p:tavLst>
                                        <p:tav tm="0">
                                          <p:val>
                                            <p:strVal val="0-#ppt_w/2"/>
                                          </p:val>
                                        </p:tav>
                                        <p:tav tm="100000">
                                          <p:val>
                                            <p:strVal val="#ppt_x"/>
                                          </p:val>
                                        </p:tav>
                                      </p:tavLst>
                                    </p:anim>
                                    <p:anim calcmode="lin" valueType="num">
                                      <p:cBhvr additive="base">
                                        <p:cTn id="35"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39"/>
                                        </p:tgtEl>
                                        <p:attrNameLst>
                                          <p:attrName>style.visibility</p:attrName>
                                        </p:attrNameLst>
                                      </p:cBhvr>
                                      <p:to>
                                        <p:strVal val="visible"/>
                                      </p:to>
                                    </p:set>
                                    <p:anim calcmode="lin" valueType="num">
                                      <p:cBhvr>
                                        <p:cTn id="40" dur="500" fill="hold"/>
                                        <p:tgtEl>
                                          <p:spTgt spid="39"/>
                                        </p:tgtEl>
                                        <p:attrNameLst>
                                          <p:attrName>ppt_w</p:attrName>
                                        </p:attrNameLst>
                                      </p:cBhvr>
                                      <p:tavLst>
                                        <p:tav tm="0">
                                          <p:val>
                                            <p:fltVal val="0"/>
                                          </p:val>
                                        </p:tav>
                                        <p:tav tm="100000">
                                          <p:val>
                                            <p:strVal val="#ppt_w"/>
                                          </p:val>
                                        </p:tav>
                                      </p:tavLst>
                                    </p:anim>
                                    <p:anim calcmode="lin" valueType="num">
                                      <p:cBhvr>
                                        <p:cTn id="41" dur="500" fill="hold"/>
                                        <p:tgtEl>
                                          <p:spTgt spid="39"/>
                                        </p:tgtEl>
                                        <p:attrNameLst>
                                          <p:attrName>ppt_h</p:attrName>
                                        </p:attrNameLst>
                                      </p:cBhvr>
                                      <p:tavLst>
                                        <p:tav tm="0">
                                          <p:val>
                                            <p:fltVal val="0"/>
                                          </p:val>
                                        </p:tav>
                                        <p:tav tm="100000">
                                          <p:val>
                                            <p:strVal val="#ppt_h"/>
                                          </p:val>
                                        </p:tav>
                                      </p:tavLst>
                                    </p:anim>
                                    <p:animEffect transition="in" filter="fade">
                                      <p:cBhvr>
                                        <p:cTn id="42" dur="5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1000"/>
                                        <p:tgtEl>
                                          <p:spTgt spid="40"/>
                                        </p:tgtEl>
                                      </p:cBhvr>
                                    </p:animEffect>
                                    <p:anim calcmode="lin" valueType="num">
                                      <p:cBhvr>
                                        <p:cTn id="48" dur="1000" fill="hold"/>
                                        <p:tgtEl>
                                          <p:spTgt spid="40"/>
                                        </p:tgtEl>
                                        <p:attrNameLst>
                                          <p:attrName>ppt_x</p:attrName>
                                        </p:attrNameLst>
                                      </p:cBhvr>
                                      <p:tavLst>
                                        <p:tav tm="0">
                                          <p:val>
                                            <p:strVal val="#ppt_x"/>
                                          </p:val>
                                        </p:tav>
                                        <p:tav tm="100000">
                                          <p:val>
                                            <p:strVal val="#ppt_x"/>
                                          </p:val>
                                        </p:tav>
                                      </p:tavLst>
                                    </p:anim>
                                    <p:anim calcmode="lin" valueType="num">
                                      <p:cBhvr>
                                        <p:cTn id="49" dur="1000" fill="hold"/>
                                        <p:tgtEl>
                                          <p:spTgt spid="4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1000"/>
                                        <p:tgtEl>
                                          <p:spTgt spid="20"/>
                                        </p:tgtEl>
                                      </p:cBhvr>
                                    </p:animEffect>
                                    <p:anim calcmode="lin" valueType="num">
                                      <p:cBhvr>
                                        <p:cTn id="53" dur="1000" fill="hold"/>
                                        <p:tgtEl>
                                          <p:spTgt spid="20"/>
                                        </p:tgtEl>
                                        <p:attrNameLst>
                                          <p:attrName>ppt_x</p:attrName>
                                        </p:attrNameLst>
                                      </p:cBhvr>
                                      <p:tavLst>
                                        <p:tav tm="0">
                                          <p:val>
                                            <p:strVal val="#ppt_x"/>
                                          </p:val>
                                        </p:tav>
                                        <p:tav tm="100000">
                                          <p:val>
                                            <p:strVal val="#ppt_x"/>
                                          </p:val>
                                        </p:tav>
                                      </p:tavLst>
                                    </p:anim>
                                    <p:anim calcmode="lin" valueType="num">
                                      <p:cBhvr>
                                        <p:cTn id="5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 grpId="0" animBg="1"/>
      <p:bldP spid="5" grpId="0" animBg="1"/>
      <p:bldP spid="7" grpId="0" animBg="1"/>
      <p:bldP spid="8" grpId="0" animBg="1"/>
      <p:bldP spid="10" grpId="0" animBg="1"/>
      <p:bldP spid="11" grpId="0" animBg="1"/>
      <p:bldP spid="12" grpId="0" animBg="1"/>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98820" y="54864"/>
            <a:ext cx="11277295" cy="548640"/>
          </a:xfrm>
          <a:prstGeom prst="rect">
            <a:avLst/>
          </a:prstGeom>
          <a:noFill/>
          <a:ln/>
        </p:spPr>
        <p:txBody>
          <a:bodyPr wrap="square" rtlCol="0" anchor="ctr"/>
          <a:lstStyle/>
          <a:p>
            <a:r>
              <a:rPr lang="en-US" sz="3200" b="1" dirty="0">
                <a:solidFill>
                  <a:srgbClr val="1B2A4A"/>
                </a:solidFill>
                <a:latin typeface="Cambria" panose="02040503050406030204" pitchFamily="18" charset="0"/>
                <a:ea typeface="Cambria" panose="02040503050406030204" pitchFamily="18" charset="0"/>
              </a:rPr>
              <a:t>Sales Analysis From Question to Insight</a:t>
            </a:r>
            <a:endParaRPr lang="en-US" sz="2900" b="1" dirty="0">
              <a:solidFill>
                <a:srgbClr val="1B2A4A"/>
              </a:solidFill>
              <a:latin typeface="Cambria" panose="02040503050406030204" pitchFamily="18" charset="0"/>
              <a:ea typeface="Cambria" panose="02040503050406030204" pitchFamily="18" charset="0"/>
            </a:endParaRPr>
          </a:p>
        </p:txBody>
      </p:sp>
      <p:sp>
        <p:nvSpPr>
          <p:cNvPr id="4" name="Shape 2"/>
          <p:cNvSpPr/>
          <p:nvPr/>
        </p:nvSpPr>
        <p:spPr>
          <a:xfrm>
            <a:off x="284922" y="629475"/>
            <a:ext cx="11622155" cy="658481"/>
          </a:xfrm>
          <a:prstGeom prst="roundRect">
            <a:avLst>
              <a:gd name="adj" fmla="val 5263"/>
            </a:avLst>
          </a:prstGeom>
          <a:solidFill>
            <a:srgbClr val="F1F1F5"/>
          </a:solidFill>
          <a:ln/>
          <a:effectLst>
            <a:outerShdw blurRad="76200" dist="25400" dir="5400000" algn="bl" rotWithShape="0">
              <a:srgbClr val="1B2A4A">
                <a:alpha val="12000"/>
              </a:srgbClr>
            </a:outerShdw>
          </a:effectLst>
        </p:spPr>
        <p:txBody>
          <a:bodyPr/>
          <a:lstStyle/>
          <a:p>
            <a:endParaRPr lang="en-IN"/>
          </a:p>
        </p:txBody>
      </p:sp>
      <p:sp>
        <p:nvSpPr>
          <p:cNvPr id="5" name="Shape 3"/>
          <p:cNvSpPr/>
          <p:nvPr/>
        </p:nvSpPr>
        <p:spPr>
          <a:xfrm>
            <a:off x="621790" y="757491"/>
            <a:ext cx="384048" cy="384048"/>
          </a:xfrm>
          <a:prstGeom prst="ellipse">
            <a:avLst/>
          </a:prstGeom>
          <a:solidFill>
            <a:srgbClr val="1B2A4A"/>
          </a:solidFill>
          <a:ln/>
        </p:spPr>
        <p:txBody>
          <a:bodyPr/>
          <a:lstStyle/>
          <a:p>
            <a:endParaRPr lang="en-IN"/>
          </a:p>
        </p:txBody>
      </p:sp>
      <p:pic>
        <p:nvPicPr>
          <p:cNvPr id="6" name="Image 0" descr="/home/claude/bookverse/icons/question.png"/>
          <p:cNvPicPr>
            <a:picLocks noChangeAspect="1"/>
          </p:cNvPicPr>
          <p:nvPr/>
        </p:nvPicPr>
        <p:blipFill>
          <a:blip r:embed="rId3"/>
          <a:stretch>
            <a:fillRect/>
          </a:stretch>
        </p:blipFill>
        <p:spPr>
          <a:xfrm>
            <a:off x="687078" y="822779"/>
            <a:ext cx="253472" cy="253472"/>
          </a:xfrm>
          <a:prstGeom prst="rect">
            <a:avLst/>
          </a:prstGeom>
        </p:spPr>
      </p:pic>
      <p:sp>
        <p:nvSpPr>
          <p:cNvPr id="7" name="Text 4"/>
          <p:cNvSpPr txBox="1"/>
          <p:nvPr/>
        </p:nvSpPr>
        <p:spPr>
          <a:xfrm>
            <a:off x="621790" y="757491"/>
            <a:ext cx="384048" cy="384048"/>
          </a:xfrm>
          <a:prstGeom prst="rect">
            <a:avLst/>
          </a:prstGeom>
          <a:noFill/>
          <a:ln/>
        </p:spPr>
        <p:txBody>
          <a:bodyPr wrap="square" rtlCol="0" anchor="ctr"/>
          <a:lstStyle/>
          <a:p>
            <a:pPr marL="0" indent="0" algn="ctr">
              <a:buNone/>
            </a:pPr>
            <a:r>
              <a:rPr lang="en-US" sz="1500" b="1" dirty="0">
                <a:solidFill>
                  <a:srgbClr val="C9A227"/>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165858" y="800355"/>
            <a:ext cx="10408615" cy="530352"/>
          </a:xfrm>
          <a:prstGeom prst="rect">
            <a:avLst/>
          </a:prstGeom>
          <a:noFill/>
          <a:ln/>
        </p:spPr>
        <p:txBody>
          <a:bodyPr wrap="square" rtlCol="0" anchor="t"/>
          <a:lstStyle/>
          <a:p>
            <a:pPr marL="0" indent="0">
              <a:lnSpc>
                <a:spcPct val="103000"/>
              </a:lnSpc>
              <a:buNone/>
            </a:pPr>
            <a:r>
              <a:rPr lang="en-US" sz="1350" b="1" i="1" dirty="0">
                <a:solidFill>
                  <a:srgbClr val="1B2A4A"/>
                </a:solidFill>
                <a:latin typeface="Calibri" pitchFamily="34" charset="0"/>
                <a:ea typeface="Calibri" pitchFamily="34" charset="-122"/>
                <a:cs typeface="Calibri" pitchFamily="34" charset="-120"/>
              </a:rPr>
              <a:t>“The Sales team wants to identify which books have sold the highest number of copies. Which table and columns would you need?”</a:t>
            </a:r>
            <a:endParaRPr lang="en-US" sz="1350" b="1" dirty="0"/>
          </a:p>
        </p:txBody>
      </p:sp>
      <p:sp>
        <p:nvSpPr>
          <p:cNvPr id="43" name="Text 38"/>
          <p:cNvSpPr txBox="1"/>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44" name="Text 39"/>
          <p:cNvSpPr txBox="1"/>
          <p:nvPr/>
        </p:nvSpPr>
        <p:spPr>
          <a:xfrm>
            <a:off x="10637215" y="6547104"/>
            <a:ext cx="1097280"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 / 19</a:t>
            </a:r>
            <a:endParaRPr lang="en-US" sz="900" dirty="0"/>
          </a:p>
        </p:txBody>
      </p:sp>
      <p:sp>
        <p:nvSpPr>
          <p:cNvPr id="47" name="Rectangle: Rounded Corners 46">
            <a:extLst>
              <a:ext uri="{FF2B5EF4-FFF2-40B4-BE49-F238E27FC236}">
                <a16:creationId xmlns:a16="http://schemas.microsoft.com/office/drawing/2014/main" id="{32E72BA7-A93B-CEF7-B3DE-820DABE2EC67}"/>
              </a:ext>
            </a:extLst>
          </p:cNvPr>
          <p:cNvSpPr/>
          <p:nvPr/>
        </p:nvSpPr>
        <p:spPr>
          <a:xfrm>
            <a:off x="284924" y="1811384"/>
            <a:ext cx="4842960" cy="3339090"/>
          </a:xfrm>
          <a:prstGeom prst="roundRect">
            <a:avLst>
              <a:gd name="adj" fmla="val 4013"/>
            </a:avLst>
          </a:prstGeom>
          <a:solidFill>
            <a:srgbClr val="121D33"/>
          </a:solidFill>
          <a:ln>
            <a:noFill/>
          </a:ln>
        </p:spPr>
        <p:txBody>
          <a:bodyPr/>
          <a:lstStyle/>
          <a:p>
            <a:endParaRPr lang="en-IN" dirty="0">
              <a:solidFill>
                <a:schemeClr val="tx1"/>
              </a:solidFill>
            </a:endParaRPr>
          </a:p>
        </p:txBody>
      </p:sp>
      <p:sp>
        <p:nvSpPr>
          <p:cNvPr id="48" name="TextBox 47">
            <a:extLst>
              <a:ext uri="{FF2B5EF4-FFF2-40B4-BE49-F238E27FC236}">
                <a16:creationId xmlns:a16="http://schemas.microsoft.com/office/drawing/2014/main" id="{22FAD2A1-E386-E163-BF60-1075AAE7F44B}"/>
              </a:ext>
            </a:extLst>
          </p:cNvPr>
          <p:cNvSpPr txBox="1"/>
          <p:nvPr/>
        </p:nvSpPr>
        <p:spPr>
          <a:xfrm>
            <a:off x="534706" y="2138876"/>
            <a:ext cx="4506091" cy="2977738"/>
          </a:xfrm>
          <a:prstGeom prst="rect">
            <a:avLst/>
          </a:prstGeom>
          <a:noFill/>
        </p:spPr>
        <p:txBody>
          <a:bodyPr wrap="square" rtlCol="0">
            <a:spAutoFit/>
          </a:bodyPr>
          <a:lstStyle/>
          <a:p>
            <a:r>
              <a:rPr lang="en-IN" sz="1250" b="1" dirty="0">
                <a:solidFill>
                  <a:srgbClr val="E8D48A"/>
                </a:solidFill>
                <a:latin typeface="Courier New" panose="02070309020205020404" pitchFamily="49" charset="0"/>
                <a:cs typeface="Courier New" panose="02070309020205020404" pitchFamily="49" charset="0"/>
              </a:rPr>
              <a:t>SELECT</a:t>
            </a:r>
          </a:p>
          <a:p>
            <a:r>
              <a:rPr lang="en-IN" sz="1250" dirty="0">
                <a:solidFill>
                  <a:schemeClr val="bg1"/>
                </a:solidFill>
                <a:latin typeface="Courier New" panose="02070309020205020404" pitchFamily="49" charset="0"/>
                <a:cs typeface="Courier New" panose="02070309020205020404" pitchFamily="49" charset="0"/>
              </a:rPr>
              <a:t>    b.Book_ID,</a:t>
            </a:r>
          </a:p>
          <a:p>
            <a:r>
              <a:rPr lang="en-IN" sz="1250" dirty="0">
                <a:solidFill>
                  <a:schemeClr val="bg1"/>
                </a:solidFill>
                <a:latin typeface="Courier New" panose="02070309020205020404" pitchFamily="49" charset="0"/>
                <a:cs typeface="Courier New" panose="02070309020205020404" pitchFamily="49" charset="0"/>
              </a:rPr>
              <a:t>    b.Title,</a:t>
            </a:r>
          </a:p>
          <a:p>
            <a:r>
              <a:rPr lang="en-IN" sz="1250" dirty="0">
                <a:solidFill>
                  <a:schemeClr val="bg1"/>
                </a:solidFill>
                <a:latin typeface="Courier New" panose="02070309020205020404" pitchFamily="49" charset="0"/>
                <a:cs typeface="Courier New" panose="02070309020205020404" pitchFamily="49" charset="0"/>
              </a:rPr>
              <a:t>    b.Author,</a:t>
            </a:r>
          </a:p>
          <a:p>
            <a:r>
              <a:rPr lang="en-IN" sz="1250" dirty="0">
                <a:solidFill>
                  <a:schemeClr val="bg1"/>
                </a:solidFill>
                <a:latin typeface="Courier New" panose="02070309020205020404" pitchFamily="49" charset="0"/>
                <a:cs typeface="Courier New" panose="02070309020205020404" pitchFamily="49" charset="0"/>
              </a:rPr>
              <a:t>   </a:t>
            </a:r>
            <a:r>
              <a:rPr lang="en-IN" sz="1250" b="1" dirty="0">
                <a:solidFill>
                  <a:schemeClr val="bg1"/>
                </a:solidFill>
                <a:latin typeface="Courier New" panose="02070309020205020404" pitchFamily="49" charset="0"/>
                <a:cs typeface="Courier New" panose="02070309020205020404" pitchFamily="49" charset="0"/>
              </a:rPr>
              <a:t> </a:t>
            </a:r>
            <a:r>
              <a:rPr lang="en-IN" sz="1250" b="1" dirty="0">
                <a:solidFill>
                  <a:srgbClr val="E8D48A"/>
                </a:solidFill>
                <a:latin typeface="Courier New" panose="02070309020205020404" pitchFamily="49" charset="0"/>
                <a:cs typeface="Courier New" panose="02070309020205020404" pitchFamily="49" charset="0"/>
              </a:rPr>
              <a:t>SUM</a:t>
            </a:r>
            <a:r>
              <a:rPr lang="en-IN" sz="1250" dirty="0">
                <a:solidFill>
                  <a:schemeClr val="bg1"/>
                </a:solidFill>
                <a:latin typeface="Courier New" panose="02070309020205020404" pitchFamily="49" charset="0"/>
                <a:cs typeface="Courier New" panose="02070309020205020404" pitchFamily="49" charset="0"/>
              </a:rPr>
              <a:t>(o.Quantity) </a:t>
            </a:r>
            <a:r>
              <a:rPr lang="en-IN" sz="1250" b="1" dirty="0">
                <a:solidFill>
                  <a:srgbClr val="E8D48A"/>
                </a:solidFill>
                <a:latin typeface="Courier New" panose="02070309020205020404" pitchFamily="49" charset="0"/>
                <a:cs typeface="Courier New" panose="02070309020205020404" pitchFamily="49" charset="0"/>
              </a:rPr>
              <a:t>AS</a:t>
            </a:r>
            <a:r>
              <a:rPr lang="en-IN" sz="1250" dirty="0">
                <a:solidFill>
                  <a:schemeClr val="bg1"/>
                </a:solidFill>
                <a:latin typeface="Courier New" panose="02070309020205020404" pitchFamily="49" charset="0"/>
                <a:cs typeface="Courier New" panose="02070309020205020404" pitchFamily="49" charset="0"/>
              </a:rPr>
              <a:t> Units_Sold,</a:t>
            </a:r>
          </a:p>
          <a:p>
            <a:r>
              <a:rPr lang="en-IN" sz="1250" dirty="0">
                <a:solidFill>
                  <a:schemeClr val="bg1"/>
                </a:solidFill>
                <a:latin typeface="Courier New" panose="02070309020205020404" pitchFamily="49" charset="0"/>
                <a:cs typeface="Courier New" panose="02070309020205020404" pitchFamily="49" charset="0"/>
              </a:rPr>
              <a:t>    ROUND(SUM(o.Total_Amount), 2) </a:t>
            </a:r>
            <a:r>
              <a:rPr lang="en-IN" sz="1250" b="1" dirty="0">
                <a:solidFill>
                  <a:srgbClr val="E8D48A"/>
                </a:solidFill>
                <a:latin typeface="Courier New" panose="02070309020205020404" pitchFamily="49" charset="0"/>
                <a:cs typeface="Courier New" panose="02070309020205020404" pitchFamily="49" charset="0"/>
              </a:rPr>
              <a:t>AS</a:t>
            </a:r>
            <a:r>
              <a:rPr lang="en-IN" sz="1250" dirty="0">
                <a:solidFill>
                  <a:schemeClr val="bg1"/>
                </a:solidFill>
                <a:latin typeface="Courier New" panose="02070309020205020404" pitchFamily="49" charset="0"/>
                <a:cs typeface="Courier New" panose="02070309020205020404" pitchFamily="49" charset="0"/>
              </a:rPr>
              <a:t> Revenue</a:t>
            </a:r>
          </a:p>
          <a:p>
            <a:r>
              <a:rPr lang="en-IN" sz="1250" b="1" dirty="0">
                <a:solidFill>
                  <a:srgbClr val="E8D48A"/>
                </a:solidFill>
                <a:latin typeface="Courier New" panose="02070309020205020404" pitchFamily="49" charset="0"/>
                <a:cs typeface="Courier New" panose="02070309020205020404" pitchFamily="49" charset="0"/>
              </a:rPr>
              <a:t>FROM</a:t>
            </a:r>
            <a:r>
              <a:rPr lang="en-IN" sz="1250" dirty="0">
                <a:solidFill>
                  <a:schemeClr val="bg1"/>
                </a:solidFill>
                <a:latin typeface="Courier New" panose="02070309020205020404" pitchFamily="49" charset="0"/>
                <a:cs typeface="Courier New" panose="02070309020205020404" pitchFamily="49" charset="0"/>
              </a:rPr>
              <a:t> Books b</a:t>
            </a:r>
          </a:p>
          <a:p>
            <a:r>
              <a:rPr lang="en-IN" sz="1250" b="1" dirty="0">
                <a:solidFill>
                  <a:srgbClr val="E8D48A"/>
                </a:solidFill>
                <a:latin typeface="Courier New" panose="02070309020205020404" pitchFamily="49" charset="0"/>
                <a:cs typeface="Courier New" panose="02070309020205020404" pitchFamily="49" charset="0"/>
              </a:rPr>
              <a:t>JOIN</a:t>
            </a:r>
            <a:r>
              <a:rPr lang="en-IN" sz="1250" dirty="0">
                <a:solidFill>
                  <a:schemeClr val="bg1"/>
                </a:solidFill>
                <a:latin typeface="Courier New" panose="02070309020205020404" pitchFamily="49" charset="0"/>
                <a:cs typeface="Courier New" panose="02070309020205020404" pitchFamily="49" charset="0"/>
              </a:rPr>
              <a:t> Orders o</a:t>
            </a:r>
          </a:p>
          <a:p>
            <a:r>
              <a:rPr lang="en-IN" sz="1250" dirty="0">
                <a:solidFill>
                  <a:schemeClr val="bg1"/>
                </a:solidFill>
                <a:latin typeface="Courier New" panose="02070309020205020404" pitchFamily="49" charset="0"/>
                <a:cs typeface="Courier New" panose="02070309020205020404" pitchFamily="49" charset="0"/>
              </a:rPr>
              <a:t>    </a:t>
            </a:r>
            <a:r>
              <a:rPr lang="en-IN" sz="1250" b="1" dirty="0">
                <a:solidFill>
                  <a:srgbClr val="E8D48A"/>
                </a:solidFill>
                <a:latin typeface="Courier New" panose="02070309020205020404" pitchFamily="49" charset="0"/>
                <a:cs typeface="Courier New" panose="02070309020205020404" pitchFamily="49" charset="0"/>
              </a:rPr>
              <a:t>ON</a:t>
            </a:r>
            <a:r>
              <a:rPr lang="en-IN" sz="1250" dirty="0">
                <a:solidFill>
                  <a:schemeClr val="bg1"/>
                </a:solidFill>
                <a:latin typeface="Courier New" panose="02070309020205020404" pitchFamily="49" charset="0"/>
                <a:cs typeface="Courier New" panose="02070309020205020404" pitchFamily="49" charset="0"/>
              </a:rPr>
              <a:t> b.Book_ID = o.Book_ID</a:t>
            </a:r>
          </a:p>
          <a:p>
            <a:r>
              <a:rPr lang="en-IN" sz="1250" b="1" dirty="0">
                <a:solidFill>
                  <a:srgbClr val="E8D48A"/>
                </a:solidFill>
                <a:latin typeface="Courier New" panose="02070309020205020404" pitchFamily="49" charset="0"/>
                <a:cs typeface="Courier New" panose="02070309020205020404" pitchFamily="49" charset="0"/>
              </a:rPr>
              <a:t>GROUP BY</a:t>
            </a:r>
          </a:p>
          <a:p>
            <a:r>
              <a:rPr lang="en-IN" sz="1250" dirty="0">
                <a:solidFill>
                  <a:schemeClr val="bg1"/>
                </a:solidFill>
                <a:latin typeface="Courier New" panose="02070309020205020404" pitchFamily="49" charset="0"/>
                <a:cs typeface="Courier New" panose="02070309020205020404" pitchFamily="49" charset="0"/>
              </a:rPr>
              <a:t>    b.Book_ID,</a:t>
            </a:r>
          </a:p>
          <a:p>
            <a:r>
              <a:rPr lang="en-IN" sz="1250" dirty="0">
                <a:solidFill>
                  <a:schemeClr val="bg1"/>
                </a:solidFill>
                <a:latin typeface="Courier New" panose="02070309020205020404" pitchFamily="49" charset="0"/>
                <a:cs typeface="Courier New" panose="02070309020205020404" pitchFamily="49" charset="0"/>
              </a:rPr>
              <a:t>    b.Title,</a:t>
            </a:r>
          </a:p>
          <a:p>
            <a:r>
              <a:rPr lang="en-IN" sz="1250" dirty="0">
                <a:solidFill>
                  <a:schemeClr val="bg1"/>
                </a:solidFill>
                <a:latin typeface="Courier New" panose="02070309020205020404" pitchFamily="49" charset="0"/>
                <a:cs typeface="Courier New" panose="02070309020205020404" pitchFamily="49" charset="0"/>
              </a:rPr>
              <a:t>    b.Author</a:t>
            </a:r>
          </a:p>
          <a:p>
            <a:r>
              <a:rPr lang="en-IN" sz="1250" b="1" dirty="0">
                <a:solidFill>
                  <a:srgbClr val="E8D48A"/>
                </a:solidFill>
                <a:latin typeface="Courier New" panose="02070309020205020404" pitchFamily="49" charset="0"/>
                <a:cs typeface="Courier New" panose="02070309020205020404" pitchFamily="49" charset="0"/>
              </a:rPr>
              <a:t>ORDER BY </a:t>
            </a:r>
            <a:r>
              <a:rPr lang="en-IN" sz="1250" dirty="0">
                <a:solidFill>
                  <a:schemeClr val="bg1"/>
                </a:solidFill>
                <a:latin typeface="Courier New" panose="02070309020205020404" pitchFamily="49" charset="0"/>
                <a:cs typeface="Courier New" panose="02070309020205020404" pitchFamily="49" charset="0"/>
              </a:rPr>
              <a:t>Revenue </a:t>
            </a:r>
            <a:r>
              <a:rPr lang="en-IN" sz="1250" b="1" dirty="0">
                <a:solidFill>
                  <a:srgbClr val="E8D48A"/>
                </a:solidFill>
                <a:latin typeface="Courier New" panose="02070309020205020404" pitchFamily="49" charset="0"/>
                <a:cs typeface="Courier New" panose="02070309020205020404" pitchFamily="49" charset="0"/>
              </a:rPr>
              <a:t>DESC</a:t>
            </a:r>
          </a:p>
          <a:p>
            <a:r>
              <a:rPr lang="en-IN" sz="1250" b="1" dirty="0">
                <a:solidFill>
                  <a:srgbClr val="E8D48A"/>
                </a:solidFill>
                <a:latin typeface="Courier New" panose="02070309020205020404" pitchFamily="49" charset="0"/>
                <a:cs typeface="Courier New" panose="02070309020205020404" pitchFamily="49" charset="0"/>
              </a:rPr>
              <a:t>LIMIT</a:t>
            </a:r>
            <a:r>
              <a:rPr lang="en-IN" sz="1250" b="1" dirty="0">
                <a:solidFill>
                  <a:srgbClr val="D6A300"/>
                </a:solidFill>
                <a:latin typeface="Courier New" panose="02070309020205020404" pitchFamily="49" charset="0"/>
                <a:cs typeface="Courier New" panose="02070309020205020404" pitchFamily="49" charset="0"/>
              </a:rPr>
              <a:t> </a:t>
            </a:r>
            <a:r>
              <a:rPr lang="en-IN" sz="1250" dirty="0">
                <a:solidFill>
                  <a:schemeClr val="bg1"/>
                </a:solidFill>
                <a:latin typeface="Courier New" panose="02070309020205020404" pitchFamily="49" charset="0"/>
                <a:cs typeface="Courier New" panose="02070309020205020404" pitchFamily="49" charset="0"/>
              </a:rPr>
              <a:t>10;</a:t>
            </a:r>
          </a:p>
        </p:txBody>
      </p:sp>
      <p:pic>
        <p:nvPicPr>
          <p:cNvPr id="50" name="Picture 49">
            <a:extLst>
              <a:ext uri="{FF2B5EF4-FFF2-40B4-BE49-F238E27FC236}">
                <a16:creationId xmlns:a16="http://schemas.microsoft.com/office/drawing/2014/main" id="{41C40206-2127-6848-6390-79AC25A3A20C}"/>
              </a:ext>
            </a:extLst>
          </p:cNvPr>
          <p:cNvPicPr>
            <a:picLocks noChangeAspect="1"/>
          </p:cNvPicPr>
          <p:nvPr/>
        </p:nvPicPr>
        <p:blipFill>
          <a:blip r:embed="rId4"/>
          <a:stretch>
            <a:fillRect/>
          </a:stretch>
        </p:blipFill>
        <p:spPr>
          <a:xfrm>
            <a:off x="5478011" y="1699324"/>
            <a:ext cx="6349556" cy="333909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51" name="TextBox 50">
            <a:extLst>
              <a:ext uri="{FF2B5EF4-FFF2-40B4-BE49-F238E27FC236}">
                <a16:creationId xmlns:a16="http://schemas.microsoft.com/office/drawing/2014/main" id="{3F4D03B5-7C48-EE2C-9BFC-C73FE9AB1FA1}"/>
              </a:ext>
            </a:extLst>
          </p:cNvPr>
          <p:cNvSpPr txBox="1"/>
          <p:nvPr/>
        </p:nvSpPr>
        <p:spPr>
          <a:xfrm>
            <a:off x="242305" y="1447104"/>
            <a:ext cx="3920392" cy="446276"/>
          </a:xfrm>
          <a:prstGeom prst="rect">
            <a:avLst/>
          </a:prstGeom>
          <a:noFill/>
        </p:spPr>
        <p:txBody>
          <a:bodyPr wrap="square" rtlCol="0">
            <a:spAutoFit/>
          </a:bodyPr>
          <a:lstStyle/>
          <a:p>
            <a:r>
              <a:rPr lang="en-US" sz="1150" b="1" kern="0" spc="100" dirty="0">
                <a:solidFill>
                  <a:srgbClr val="1B2A4A"/>
                </a:solidFill>
                <a:latin typeface="Calibri" pitchFamily="34" charset="0"/>
                <a:ea typeface="Calibri" pitchFamily="34" charset="-122"/>
                <a:cs typeface="Calibri" pitchFamily="34" charset="-120"/>
              </a:rPr>
              <a:t>WORKBENCH ANALYSIS COVERS</a:t>
            </a:r>
            <a:endParaRPr lang="en-US" sz="1150" dirty="0"/>
          </a:p>
          <a:p>
            <a:endParaRPr lang="en-IN" sz="1150" dirty="0"/>
          </a:p>
        </p:txBody>
      </p:sp>
      <p:sp>
        <p:nvSpPr>
          <p:cNvPr id="52" name="Rectangle: Rounded Corners 51">
            <a:extLst>
              <a:ext uri="{FF2B5EF4-FFF2-40B4-BE49-F238E27FC236}">
                <a16:creationId xmlns:a16="http://schemas.microsoft.com/office/drawing/2014/main" id="{2477EA40-5C3A-4C05-13B3-DC8C7A9D7285}"/>
              </a:ext>
            </a:extLst>
          </p:cNvPr>
          <p:cNvSpPr/>
          <p:nvPr/>
        </p:nvSpPr>
        <p:spPr>
          <a:xfrm>
            <a:off x="284923" y="5214076"/>
            <a:ext cx="11622156" cy="1269426"/>
          </a:xfrm>
          <a:prstGeom prst="roundRect">
            <a:avLst>
              <a:gd name="adj" fmla="val 6488"/>
            </a:avLst>
          </a:prstGeom>
          <a:solidFill>
            <a:srgbClr val="E7EAF2"/>
          </a:solidFill>
          <a:ln w="952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TextBox 55">
            <a:extLst>
              <a:ext uri="{FF2B5EF4-FFF2-40B4-BE49-F238E27FC236}">
                <a16:creationId xmlns:a16="http://schemas.microsoft.com/office/drawing/2014/main" id="{74D3C415-A101-14A6-0AB5-E7FAEF9A6B08}"/>
              </a:ext>
            </a:extLst>
          </p:cNvPr>
          <p:cNvSpPr txBox="1"/>
          <p:nvPr/>
        </p:nvSpPr>
        <p:spPr>
          <a:xfrm>
            <a:off x="457200" y="5223543"/>
            <a:ext cx="11370367" cy="1200329"/>
          </a:xfrm>
          <a:prstGeom prst="rect">
            <a:avLst/>
          </a:prstGeom>
          <a:noFill/>
        </p:spPr>
        <p:txBody>
          <a:bodyPr wrap="square" rtlCol="0">
            <a:spAutoFit/>
          </a:bodyPr>
          <a:lstStyle/>
          <a:p>
            <a:pPr lvl="0" algn="just" eaLnBrk="0" fontAlgn="base" hangingPunct="0">
              <a:spcBef>
                <a:spcPct val="0"/>
              </a:spcBef>
              <a:spcAft>
                <a:spcPct val="0"/>
              </a:spcAft>
              <a:buFontTx/>
              <a:buChar char="•"/>
            </a:pPr>
            <a:r>
              <a:rPr lang="en-US" altLang="en-US" sz="1200" b="1" dirty="0">
                <a:solidFill>
                  <a:srgbClr val="1B2A4A"/>
                </a:solidFill>
              </a:rPr>
              <a:t>Top Revenue Generator</a:t>
            </a:r>
            <a:r>
              <a:rPr lang="en-US" altLang="en-US" sz="1200" b="1" dirty="0"/>
              <a:t>:</a:t>
            </a:r>
            <a:r>
              <a:rPr lang="en-US" altLang="en-US" sz="1200" dirty="0"/>
              <a:t> </a:t>
            </a:r>
            <a:r>
              <a:rPr lang="en-US" altLang="en-US" sz="1200" b="1" dirty="0"/>
              <a:t>"</a:t>
            </a:r>
            <a:r>
              <a:rPr lang="en-US" altLang="en-US" sz="1200" dirty="0">
                <a:solidFill>
                  <a:srgbClr val="1B2A4A"/>
                </a:solidFill>
                <a:latin typeface="Cambria" panose="02040503050406030204" pitchFamily="18" charset="0"/>
                <a:ea typeface="Cambria" panose="02040503050406030204" pitchFamily="18" charset="0"/>
              </a:rPr>
              <a:t>Integrated secondary access</a:t>
            </a:r>
            <a:r>
              <a:rPr lang="en-US" altLang="en-US" sz="1200" b="1" dirty="0"/>
              <a:t>"</a:t>
            </a:r>
            <a:r>
              <a:rPr lang="en-US" altLang="en-US" sz="1200" dirty="0"/>
              <a:t> by Sheena Harris is the most successful book overall, generating </a:t>
            </a:r>
            <a:r>
              <a:rPr lang="en-US" altLang="en-US" sz="1200" dirty="0">
                <a:solidFill>
                  <a:srgbClr val="1B2A4A"/>
                </a:solidFill>
                <a:latin typeface="Cambria" panose="02040503050406030204" pitchFamily="18" charset="0"/>
                <a:ea typeface="Cambria" panose="02040503050406030204" pitchFamily="18" charset="0"/>
              </a:rPr>
              <a:t>$1,104.69 </a:t>
            </a:r>
            <a:r>
              <a:rPr lang="en-US" altLang="en-US" sz="1200" dirty="0">
                <a:latin typeface="Cambria" panose="02040503050406030204" pitchFamily="18" charset="0"/>
                <a:ea typeface="Cambria" panose="02040503050406030204" pitchFamily="18" charset="0"/>
              </a:rPr>
              <a:t>in revenue </a:t>
            </a:r>
            <a:r>
              <a:rPr lang="en-US" altLang="en-US" sz="1200" dirty="0"/>
              <a:t>and selling the highest volume with </a:t>
            </a:r>
            <a:r>
              <a:rPr lang="en-US" altLang="en-US" sz="1200" dirty="0">
                <a:solidFill>
                  <a:srgbClr val="1B2A4A"/>
                </a:solidFill>
                <a:latin typeface="Cambria" panose="02040503050406030204" pitchFamily="18" charset="0"/>
                <a:ea typeface="Cambria" panose="02040503050406030204" pitchFamily="18" charset="0"/>
              </a:rPr>
              <a:t>23 units sold</a:t>
            </a:r>
            <a:r>
              <a:rPr lang="en-US" altLang="en-US" sz="1200" dirty="0"/>
              <a:t>.</a:t>
            </a:r>
          </a:p>
          <a:p>
            <a:pPr lvl="0" algn="just" eaLnBrk="0" fontAlgn="base" hangingPunct="0">
              <a:spcBef>
                <a:spcPct val="0"/>
              </a:spcBef>
              <a:spcAft>
                <a:spcPct val="0"/>
              </a:spcAft>
              <a:buFontTx/>
              <a:buChar char="•"/>
            </a:pPr>
            <a:endParaRPr lang="en-US" altLang="en-US" sz="1200" dirty="0">
              <a:solidFill>
                <a:srgbClr val="1B2A4A"/>
              </a:solidFill>
            </a:endParaRPr>
          </a:p>
          <a:p>
            <a:pPr lvl="0" algn="just" eaLnBrk="0" fontAlgn="base" hangingPunct="0">
              <a:spcBef>
                <a:spcPct val="0"/>
              </a:spcBef>
              <a:spcAft>
                <a:spcPct val="0"/>
              </a:spcAft>
              <a:buFontTx/>
              <a:buChar char="•"/>
            </a:pPr>
            <a:r>
              <a:rPr lang="en-US" altLang="en-US" sz="1200" b="1" dirty="0">
                <a:solidFill>
                  <a:srgbClr val="1B2A4A"/>
                </a:solidFill>
              </a:rPr>
              <a:t>Most Efficient Revenue Earner</a:t>
            </a:r>
            <a:r>
              <a:rPr lang="en-US" altLang="en-US" sz="1200" b="1" dirty="0"/>
              <a:t>:</a:t>
            </a:r>
            <a:r>
              <a:rPr lang="en-US" altLang="en-US" sz="1200" dirty="0"/>
              <a:t> </a:t>
            </a:r>
            <a:r>
              <a:rPr lang="en-US" altLang="en-US" sz="1200" b="1" dirty="0"/>
              <a:t>"</a:t>
            </a:r>
            <a:r>
              <a:rPr lang="en-US" altLang="en-US" sz="1200" dirty="0">
                <a:solidFill>
                  <a:srgbClr val="1B2A4A"/>
                </a:solidFill>
                <a:latin typeface="Cambria" panose="02040503050406030204" pitchFamily="18" charset="0"/>
                <a:ea typeface="Cambria" panose="02040503050406030204" pitchFamily="18" charset="0"/>
              </a:rPr>
              <a:t>Robust tangible hardware</a:t>
            </a:r>
            <a:r>
              <a:rPr lang="en-US" altLang="en-US" sz="1200" b="1" dirty="0"/>
              <a:t>"</a:t>
            </a:r>
            <a:r>
              <a:rPr lang="en-US" altLang="en-US" sz="1200" dirty="0"/>
              <a:t> by Paul Miles shows strong pricing leverage. It generated </a:t>
            </a:r>
            <a:r>
              <a:rPr lang="en-US" altLang="en-US" sz="1200" dirty="0">
                <a:solidFill>
                  <a:srgbClr val="1B2A4A"/>
                </a:solidFill>
                <a:latin typeface="Cambria" panose="02040503050406030204" pitchFamily="18" charset="0"/>
                <a:ea typeface="Cambria" panose="02040503050406030204" pitchFamily="18" charset="0"/>
              </a:rPr>
              <a:t>$764.18 </a:t>
            </a:r>
            <a:r>
              <a:rPr lang="en-US" altLang="en-US" sz="1200" dirty="0"/>
              <a:t>with only </a:t>
            </a:r>
            <a:r>
              <a:rPr lang="en-US" altLang="en-US" sz="1200" dirty="0">
                <a:solidFill>
                  <a:srgbClr val="1B2A4A"/>
                </a:solidFill>
                <a:latin typeface="Cambria" panose="02040503050406030204" pitchFamily="18" charset="0"/>
                <a:ea typeface="Cambria" panose="02040503050406030204" pitchFamily="18" charset="0"/>
              </a:rPr>
              <a:t>19 units sold</a:t>
            </a:r>
            <a:r>
              <a:rPr lang="en-US" altLang="en-US" sz="1200" dirty="0"/>
              <a:t>, outperforming "</a:t>
            </a:r>
            <a:r>
              <a:rPr lang="en-US" altLang="en-US" sz="1200" dirty="0">
                <a:solidFill>
                  <a:srgbClr val="1B2A4A"/>
                </a:solidFill>
                <a:latin typeface="Cambria" panose="02040503050406030204" pitchFamily="18" charset="0"/>
                <a:ea typeface="Cambria" panose="02040503050406030204" pitchFamily="18" charset="0"/>
              </a:rPr>
              <a:t>Innovative empowering concept" ($813.60 from 18 units) </a:t>
            </a:r>
            <a:r>
              <a:rPr lang="en-US" altLang="en-US" sz="1200" dirty="0"/>
              <a:t>in raw volume but yielding higher revenue per book compared to others lower on the list like "</a:t>
            </a:r>
            <a:r>
              <a:rPr lang="en-US" altLang="en-US" sz="1200" dirty="0">
                <a:solidFill>
                  <a:srgbClr val="1B2A4A"/>
                </a:solidFill>
                <a:latin typeface="Cambria" panose="02040503050406030204" pitchFamily="18" charset="0"/>
                <a:ea typeface="Cambria" panose="02040503050406030204" pitchFamily="18" charset="0"/>
              </a:rPr>
              <a:t>Stand-alone content-based hub" ($698.60 from 14 units)</a:t>
            </a:r>
            <a:r>
              <a:rPr lang="en-US" altLang="en-US" sz="1200" dirty="0"/>
              <a:t>. </a:t>
            </a:r>
          </a:p>
        </p:txBody>
      </p:sp>
      <p:sp>
        <p:nvSpPr>
          <p:cNvPr id="2" name="TextBox 1">
            <a:extLst>
              <a:ext uri="{FF2B5EF4-FFF2-40B4-BE49-F238E27FC236}">
                <a16:creationId xmlns:a16="http://schemas.microsoft.com/office/drawing/2014/main" id="{8A5CEE95-4FB7-9DE8-0F78-8BD67D6D983E}"/>
              </a:ext>
            </a:extLst>
          </p:cNvPr>
          <p:cNvSpPr txBox="1"/>
          <p:nvPr/>
        </p:nvSpPr>
        <p:spPr>
          <a:xfrm>
            <a:off x="534706" y="1884960"/>
            <a:ext cx="3627991" cy="253916"/>
          </a:xfrm>
          <a:prstGeom prst="rect">
            <a:avLst/>
          </a:prstGeom>
          <a:noFill/>
        </p:spPr>
        <p:txBody>
          <a:bodyPr wrap="square" rtlCol="0">
            <a:spAutoFit/>
          </a:bodyPr>
          <a:lstStyle/>
          <a:p>
            <a:r>
              <a:rPr lang="en-US" sz="1050" b="1" kern="0" spc="100" dirty="0">
                <a:solidFill>
                  <a:srgbClr val="C9A227"/>
                </a:solidFill>
                <a:latin typeface="Calibri" pitchFamily="34" charset="0"/>
                <a:ea typeface="Calibri" pitchFamily="34" charset="-122"/>
                <a:cs typeface="Calibri" pitchFamily="34" charset="-120"/>
              </a:rPr>
              <a:t>REPRESENTATIVE QUERY - BOOK SALE</a:t>
            </a:r>
            <a:endParaRPr lang="en-US" sz="105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1+#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1+#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fade">
                                      <p:cBhvr>
                                        <p:cTn id="29" dur="500"/>
                                        <p:tgtEl>
                                          <p:spTgt spid="51"/>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47"/>
                                        </p:tgtEl>
                                        <p:attrNameLst>
                                          <p:attrName>style.visibility</p:attrName>
                                        </p:attrNameLst>
                                      </p:cBhvr>
                                      <p:to>
                                        <p:strVal val="visible"/>
                                      </p:to>
                                    </p:set>
                                    <p:anim calcmode="lin" valueType="num">
                                      <p:cBhvr additive="base">
                                        <p:cTn id="34" dur="500" fill="hold"/>
                                        <p:tgtEl>
                                          <p:spTgt spid="47"/>
                                        </p:tgtEl>
                                        <p:attrNameLst>
                                          <p:attrName>ppt_x</p:attrName>
                                        </p:attrNameLst>
                                      </p:cBhvr>
                                      <p:tavLst>
                                        <p:tav tm="0">
                                          <p:val>
                                            <p:strVal val="0-#ppt_w/2"/>
                                          </p:val>
                                        </p:tav>
                                        <p:tav tm="100000">
                                          <p:val>
                                            <p:strVal val="#ppt_x"/>
                                          </p:val>
                                        </p:tav>
                                      </p:tavLst>
                                    </p:anim>
                                    <p:anim calcmode="lin" valueType="num">
                                      <p:cBhvr additive="base">
                                        <p:cTn id="35" dur="500" fill="hold"/>
                                        <p:tgtEl>
                                          <p:spTgt spid="47"/>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0"/>
                                  </p:stCondLst>
                                  <p:childTnLst>
                                    <p:set>
                                      <p:cBhvr>
                                        <p:cTn id="37" dur="1" fill="hold">
                                          <p:stCondLst>
                                            <p:cond delay="0"/>
                                          </p:stCondLst>
                                        </p:cTn>
                                        <p:tgtEl>
                                          <p:spTgt spid="48"/>
                                        </p:tgtEl>
                                        <p:attrNameLst>
                                          <p:attrName>style.visibility</p:attrName>
                                        </p:attrNameLst>
                                      </p:cBhvr>
                                      <p:to>
                                        <p:strVal val="visible"/>
                                      </p:to>
                                    </p:set>
                                    <p:anim calcmode="lin" valueType="num">
                                      <p:cBhvr additive="base">
                                        <p:cTn id="38" dur="500" fill="hold"/>
                                        <p:tgtEl>
                                          <p:spTgt spid="48"/>
                                        </p:tgtEl>
                                        <p:attrNameLst>
                                          <p:attrName>ppt_x</p:attrName>
                                        </p:attrNameLst>
                                      </p:cBhvr>
                                      <p:tavLst>
                                        <p:tav tm="0">
                                          <p:val>
                                            <p:strVal val="0-#ppt_w/2"/>
                                          </p:val>
                                        </p:tav>
                                        <p:tav tm="100000">
                                          <p:val>
                                            <p:strVal val="#ppt_x"/>
                                          </p:val>
                                        </p:tav>
                                      </p:tavLst>
                                    </p:anim>
                                    <p:anim calcmode="lin" valueType="num">
                                      <p:cBhvr additive="base">
                                        <p:cTn id="39"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nodeType="clickEffect">
                                  <p:stCondLst>
                                    <p:cond delay="0"/>
                                  </p:stCondLst>
                                  <p:childTnLst>
                                    <p:set>
                                      <p:cBhvr>
                                        <p:cTn id="43" dur="1" fill="hold">
                                          <p:stCondLst>
                                            <p:cond delay="0"/>
                                          </p:stCondLst>
                                        </p:cTn>
                                        <p:tgtEl>
                                          <p:spTgt spid="50"/>
                                        </p:tgtEl>
                                        <p:attrNameLst>
                                          <p:attrName>style.visibility</p:attrName>
                                        </p:attrNameLst>
                                      </p:cBhvr>
                                      <p:to>
                                        <p:strVal val="visible"/>
                                      </p:to>
                                    </p:set>
                                    <p:anim calcmode="lin" valueType="num">
                                      <p:cBhvr additive="base">
                                        <p:cTn id="44" dur="500" fill="hold"/>
                                        <p:tgtEl>
                                          <p:spTgt spid="50"/>
                                        </p:tgtEl>
                                        <p:attrNameLst>
                                          <p:attrName>ppt_x</p:attrName>
                                        </p:attrNameLst>
                                      </p:cBhvr>
                                      <p:tavLst>
                                        <p:tav tm="0">
                                          <p:val>
                                            <p:strVal val="1+#ppt_w/2"/>
                                          </p:val>
                                        </p:tav>
                                        <p:tav tm="100000">
                                          <p:val>
                                            <p:strVal val="#ppt_x"/>
                                          </p:val>
                                        </p:tav>
                                      </p:tavLst>
                                    </p:anim>
                                    <p:anim calcmode="lin" valueType="num">
                                      <p:cBhvr additive="base">
                                        <p:cTn id="45" dur="500" fill="hold"/>
                                        <p:tgtEl>
                                          <p:spTgt spid="50"/>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52"/>
                                        </p:tgtEl>
                                        <p:attrNameLst>
                                          <p:attrName>style.visibility</p:attrName>
                                        </p:attrNameLst>
                                      </p:cBhvr>
                                      <p:to>
                                        <p:strVal val="visible"/>
                                      </p:to>
                                    </p:set>
                                    <p:anim calcmode="lin" valueType="num">
                                      <p:cBhvr>
                                        <p:cTn id="50" dur="500" fill="hold"/>
                                        <p:tgtEl>
                                          <p:spTgt spid="52"/>
                                        </p:tgtEl>
                                        <p:attrNameLst>
                                          <p:attrName>ppt_w</p:attrName>
                                        </p:attrNameLst>
                                      </p:cBhvr>
                                      <p:tavLst>
                                        <p:tav tm="0">
                                          <p:val>
                                            <p:fltVal val="0"/>
                                          </p:val>
                                        </p:tav>
                                        <p:tav tm="100000">
                                          <p:val>
                                            <p:strVal val="#ppt_w"/>
                                          </p:val>
                                        </p:tav>
                                      </p:tavLst>
                                    </p:anim>
                                    <p:anim calcmode="lin" valueType="num">
                                      <p:cBhvr>
                                        <p:cTn id="51" dur="500" fill="hold"/>
                                        <p:tgtEl>
                                          <p:spTgt spid="52"/>
                                        </p:tgtEl>
                                        <p:attrNameLst>
                                          <p:attrName>ppt_h</p:attrName>
                                        </p:attrNameLst>
                                      </p:cBhvr>
                                      <p:tavLst>
                                        <p:tav tm="0">
                                          <p:val>
                                            <p:fltVal val="0"/>
                                          </p:val>
                                        </p:tav>
                                        <p:tav tm="100000">
                                          <p:val>
                                            <p:strVal val="#ppt_h"/>
                                          </p:val>
                                        </p:tav>
                                      </p:tavLst>
                                    </p:anim>
                                    <p:animEffect transition="in" filter="fade">
                                      <p:cBhvr>
                                        <p:cTn id="52" dur="500"/>
                                        <p:tgtEl>
                                          <p:spTgt spid="52"/>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56"/>
                                        </p:tgtEl>
                                        <p:attrNameLst>
                                          <p:attrName>style.visibility</p:attrName>
                                        </p:attrNameLst>
                                      </p:cBhvr>
                                      <p:to>
                                        <p:strVal val="visible"/>
                                      </p:to>
                                    </p:set>
                                    <p:anim calcmode="lin" valueType="num">
                                      <p:cBhvr>
                                        <p:cTn id="55" dur="500" fill="hold"/>
                                        <p:tgtEl>
                                          <p:spTgt spid="56"/>
                                        </p:tgtEl>
                                        <p:attrNameLst>
                                          <p:attrName>ppt_w</p:attrName>
                                        </p:attrNameLst>
                                      </p:cBhvr>
                                      <p:tavLst>
                                        <p:tav tm="0">
                                          <p:val>
                                            <p:fltVal val="0"/>
                                          </p:val>
                                        </p:tav>
                                        <p:tav tm="100000">
                                          <p:val>
                                            <p:strVal val="#ppt_w"/>
                                          </p:val>
                                        </p:tav>
                                      </p:tavLst>
                                    </p:anim>
                                    <p:anim calcmode="lin" valueType="num">
                                      <p:cBhvr>
                                        <p:cTn id="56" dur="500" fill="hold"/>
                                        <p:tgtEl>
                                          <p:spTgt spid="56"/>
                                        </p:tgtEl>
                                        <p:attrNameLst>
                                          <p:attrName>ppt_h</p:attrName>
                                        </p:attrNameLst>
                                      </p:cBhvr>
                                      <p:tavLst>
                                        <p:tav tm="0">
                                          <p:val>
                                            <p:fltVal val="0"/>
                                          </p:val>
                                        </p:tav>
                                        <p:tav tm="100000">
                                          <p:val>
                                            <p:strVal val="#ppt_h"/>
                                          </p:val>
                                        </p:tav>
                                      </p:tavLst>
                                    </p:anim>
                                    <p:animEffect transition="in" filter="fade">
                                      <p:cBhvr>
                                        <p:cTn id="5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47" grpId="0" animBg="1"/>
      <p:bldP spid="48" grpId="0"/>
      <p:bldP spid="51" grpId="0"/>
      <p:bldP spid="52" grpId="0" animBg="1"/>
      <p:bldP spid="5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26"/>
          <p:cNvSpPr/>
          <p:nvPr/>
        </p:nvSpPr>
        <p:spPr>
          <a:xfrm>
            <a:off x="402336" y="448056"/>
            <a:ext cx="11277295" cy="784396"/>
          </a:xfrm>
          <a:prstGeom prst="roundRect">
            <a:avLst>
              <a:gd name="adj" fmla="val 5263"/>
            </a:avLst>
          </a:prstGeom>
          <a:solidFill>
            <a:srgbClr val="F1F1F5"/>
          </a:solidFill>
          <a:ln/>
          <a:effectLst>
            <a:outerShdw blurRad="76200" dist="25400" dir="5400000" algn="bl" rotWithShape="0">
              <a:srgbClr val="1B2A4A">
                <a:alpha val="12000"/>
              </a:srgbClr>
            </a:outerShdw>
          </a:effectLst>
        </p:spPr>
        <p:txBody>
          <a:bodyPr/>
          <a:lstStyle/>
          <a:p>
            <a:endParaRPr lang="en-IN"/>
          </a:p>
        </p:txBody>
      </p:sp>
      <p:sp>
        <p:nvSpPr>
          <p:cNvPr id="31" name="Shape 27"/>
          <p:cNvSpPr/>
          <p:nvPr/>
        </p:nvSpPr>
        <p:spPr>
          <a:xfrm>
            <a:off x="566928" y="576072"/>
            <a:ext cx="384048" cy="384048"/>
          </a:xfrm>
          <a:prstGeom prst="ellipse">
            <a:avLst/>
          </a:prstGeom>
          <a:solidFill>
            <a:srgbClr val="1B2A4A"/>
          </a:solidFill>
          <a:ln/>
        </p:spPr>
        <p:txBody>
          <a:bodyPr/>
          <a:lstStyle/>
          <a:p>
            <a:endParaRPr lang="en-IN"/>
          </a:p>
        </p:txBody>
      </p:sp>
      <p:pic>
        <p:nvPicPr>
          <p:cNvPr id="32" name="Image 2" descr="/home/claude/bookverse/icons/question.png"/>
          <p:cNvPicPr>
            <a:picLocks noChangeAspect="1"/>
          </p:cNvPicPr>
          <p:nvPr/>
        </p:nvPicPr>
        <p:blipFill>
          <a:blip r:embed="rId2"/>
          <a:stretch>
            <a:fillRect/>
          </a:stretch>
        </p:blipFill>
        <p:spPr>
          <a:xfrm>
            <a:off x="632216" y="641360"/>
            <a:ext cx="253472" cy="253472"/>
          </a:xfrm>
          <a:prstGeom prst="rect">
            <a:avLst/>
          </a:prstGeom>
        </p:spPr>
      </p:pic>
      <p:sp>
        <p:nvSpPr>
          <p:cNvPr id="33" name="Text 28"/>
          <p:cNvSpPr txBox="1"/>
          <p:nvPr/>
        </p:nvSpPr>
        <p:spPr>
          <a:xfrm>
            <a:off x="566928" y="576072"/>
            <a:ext cx="384048" cy="384048"/>
          </a:xfrm>
          <a:prstGeom prst="rect">
            <a:avLst/>
          </a:prstGeom>
          <a:noFill/>
          <a:ln/>
        </p:spPr>
        <p:txBody>
          <a:bodyPr wrap="square" rtlCol="0" anchor="ctr"/>
          <a:lstStyle/>
          <a:p>
            <a:pPr marL="0" indent="0" algn="ctr">
              <a:buNone/>
            </a:pPr>
            <a:r>
              <a:rPr lang="en-US" sz="1500" b="1" dirty="0">
                <a:solidFill>
                  <a:srgbClr val="C9A227"/>
                </a:solidFill>
                <a:latin typeface="Calibri" pitchFamily="34" charset="0"/>
                <a:ea typeface="Calibri" pitchFamily="34" charset="-122"/>
                <a:cs typeface="Calibri" pitchFamily="34" charset="-120"/>
              </a:rPr>
              <a:t>3</a:t>
            </a:r>
            <a:endParaRPr lang="en-US" sz="1500" dirty="0"/>
          </a:p>
        </p:txBody>
      </p:sp>
      <p:sp>
        <p:nvSpPr>
          <p:cNvPr id="34" name="Text 29"/>
          <p:cNvSpPr txBox="1"/>
          <p:nvPr/>
        </p:nvSpPr>
        <p:spPr>
          <a:xfrm>
            <a:off x="1088136" y="641360"/>
            <a:ext cx="10408615" cy="530352"/>
          </a:xfrm>
          <a:prstGeom prst="rect">
            <a:avLst/>
          </a:prstGeom>
          <a:noFill/>
          <a:ln/>
        </p:spPr>
        <p:txBody>
          <a:bodyPr wrap="square" rtlCol="0" anchor="t"/>
          <a:lstStyle/>
          <a:p>
            <a:pPr marL="0" indent="0">
              <a:lnSpc>
                <a:spcPct val="103000"/>
              </a:lnSpc>
              <a:buNone/>
            </a:pPr>
            <a:r>
              <a:rPr lang="en-US" sz="1350" b="1" i="1" dirty="0">
                <a:solidFill>
                  <a:srgbClr val="1B2A4A"/>
                </a:solidFill>
                <a:latin typeface="Calibri" pitchFamily="34" charset="0"/>
                <a:ea typeface="Calibri" pitchFamily="34" charset="-122"/>
                <a:cs typeface="Calibri" pitchFamily="34" charset="-120"/>
              </a:rPr>
              <a:t>“The Sales team wants to compare sales performance across different years and months. What information would you need?”</a:t>
            </a:r>
            <a:endParaRPr lang="en-US" sz="1350" b="1" dirty="0"/>
          </a:p>
        </p:txBody>
      </p:sp>
      <p:sp>
        <p:nvSpPr>
          <p:cNvPr id="2" name="Rectangle: Rounded Corners 1">
            <a:extLst>
              <a:ext uri="{FF2B5EF4-FFF2-40B4-BE49-F238E27FC236}">
                <a16:creationId xmlns:a16="http://schemas.microsoft.com/office/drawing/2014/main" id="{7ED20153-FE5E-1893-0FDD-D058371045EF}"/>
              </a:ext>
            </a:extLst>
          </p:cNvPr>
          <p:cNvSpPr/>
          <p:nvPr/>
        </p:nvSpPr>
        <p:spPr>
          <a:xfrm>
            <a:off x="445406" y="1852052"/>
            <a:ext cx="4693522" cy="3157270"/>
          </a:xfrm>
          <a:prstGeom prst="roundRect">
            <a:avLst>
              <a:gd name="adj" fmla="val 2381"/>
            </a:avLst>
          </a:prstGeom>
          <a:solidFill>
            <a:srgbClr val="121D33"/>
          </a:solidFill>
          <a:ln>
            <a:noFill/>
          </a:ln>
        </p:spPr>
        <p:txBody>
          <a:bodyPr/>
          <a:lstStyle/>
          <a:p>
            <a:endParaRPr lang="en-IN">
              <a:solidFill>
                <a:schemeClr val="tx1"/>
              </a:solidFill>
            </a:endParaRPr>
          </a:p>
        </p:txBody>
      </p:sp>
      <p:sp>
        <p:nvSpPr>
          <p:cNvPr id="3" name="TextBox 2">
            <a:extLst>
              <a:ext uri="{FF2B5EF4-FFF2-40B4-BE49-F238E27FC236}">
                <a16:creationId xmlns:a16="http://schemas.microsoft.com/office/drawing/2014/main" id="{3AC61B2F-373F-F925-9579-4CE31B647501}"/>
              </a:ext>
            </a:extLst>
          </p:cNvPr>
          <p:cNvSpPr txBox="1"/>
          <p:nvPr/>
        </p:nvSpPr>
        <p:spPr>
          <a:xfrm>
            <a:off x="402336" y="1405776"/>
            <a:ext cx="3444107" cy="446276"/>
          </a:xfrm>
          <a:prstGeom prst="rect">
            <a:avLst/>
          </a:prstGeom>
          <a:noFill/>
        </p:spPr>
        <p:txBody>
          <a:bodyPr wrap="square" rtlCol="0">
            <a:spAutoFit/>
          </a:bodyPr>
          <a:lstStyle/>
          <a:p>
            <a:r>
              <a:rPr lang="en-US" sz="1150" b="1" dirty="0">
                <a:solidFill>
                  <a:srgbClr val="1B2A4A"/>
                </a:solidFill>
              </a:rPr>
              <a:t>WORKBENCH ANALYSIS COVERS</a:t>
            </a:r>
            <a:endParaRPr lang="en-IN" sz="1150" dirty="0">
              <a:solidFill>
                <a:srgbClr val="1B2A4A"/>
              </a:solidFill>
            </a:endParaRPr>
          </a:p>
          <a:p>
            <a:endParaRPr lang="en-IN" sz="1150" dirty="0">
              <a:solidFill>
                <a:srgbClr val="1B2A4A"/>
              </a:solidFill>
            </a:endParaRPr>
          </a:p>
        </p:txBody>
      </p:sp>
      <p:sp>
        <p:nvSpPr>
          <p:cNvPr id="4" name="TextBox 3">
            <a:extLst>
              <a:ext uri="{FF2B5EF4-FFF2-40B4-BE49-F238E27FC236}">
                <a16:creationId xmlns:a16="http://schemas.microsoft.com/office/drawing/2014/main" id="{7ACD1214-E193-FFE7-5444-37B53883F61A}"/>
              </a:ext>
            </a:extLst>
          </p:cNvPr>
          <p:cNvSpPr txBox="1"/>
          <p:nvPr/>
        </p:nvSpPr>
        <p:spPr>
          <a:xfrm>
            <a:off x="485079" y="2258033"/>
            <a:ext cx="4572000" cy="2593018"/>
          </a:xfrm>
          <a:prstGeom prst="rect">
            <a:avLst/>
          </a:prstGeom>
          <a:noFill/>
        </p:spPr>
        <p:txBody>
          <a:bodyPr wrap="square" rtlCol="0">
            <a:spAutoFit/>
          </a:bodyPr>
          <a:lstStyle/>
          <a:p>
            <a:r>
              <a:rPr lang="en-US" sz="1250" b="1" dirty="0">
                <a:solidFill>
                  <a:srgbClr val="E8D48A"/>
                </a:solidFill>
                <a:latin typeface="Courier New" panose="02070309020205020404" pitchFamily="49" charset="0"/>
                <a:cs typeface="Courier New" panose="02070309020205020404" pitchFamily="49" charset="0"/>
              </a:rPr>
              <a:t>SELECT</a:t>
            </a:r>
          </a:p>
          <a:p>
            <a:r>
              <a:rPr lang="en-US" sz="1250" dirty="0">
                <a:solidFill>
                  <a:schemeClr val="bg1"/>
                </a:solidFill>
                <a:latin typeface="Courier New" panose="02070309020205020404" pitchFamily="49" charset="0"/>
                <a:cs typeface="Courier New" panose="02070309020205020404" pitchFamily="49" charset="0"/>
              </a:rPr>
              <a:t>    YEAR(Order_Date)</a:t>
            </a:r>
            <a:r>
              <a:rPr lang="en-US" sz="1250" b="1" dirty="0">
                <a:solidFill>
                  <a:srgbClr val="E8D48A"/>
                </a:solidFill>
                <a:latin typeface="Courier New" panose="02070309020205020404" pitchFamily="49" charset="0"/>
                <a:cs typeface="Courier New" panose="02070309020205020404" pitchFamily="49" charset="0"/>
              </a:rPr>
              <a:t> AS </a:t>
            </a:r>
            <a:r>
              <a:rPr lang="en-US" sz="1250" dirty="0">
                <a:solidFill>
                  <a:schemeClr val="bg1"/>
                </a:solidFill>
                <a:latin typeface="Courier New" panose="02070309020205020404" pitchFamily="49" charset="0"/>
                <a:cs typeface="Courier New" panose="02070309020205020404" pitchFamily="49" charset="0"/>
              </a:rPr>
              <a:t>Sales_Year,</a:t>
            </a:r>
          </a:p>
          <a:p>
            <a:r>
              <a:rPr lang="en-US" sz="1250" dirty="0">
                <a:solidFill>
                  <a:schemeClr val="bg1"/>
                </a:solidFill>
                <a:latin typeface="Courier New" panose="02070309020205020404" pitchFamily="49" charset="0"/>
                <a:cs typeface="Courier New" panose="02070309020205020404" pitchFamily="49" charset="0"/>
              </a:rPr>
              <a:t>    MONTH(Order_Date)</a:t>
            </a:r>
            <a:r>
              <a:rPr lang="en-US" sz="1250" b="1" dirty="0">
                <a:solidFill>
                  <a:srgbClr val="D6A300"/>
                </a:solidFill>
                <a:latin typeface="Courier New" panose="02070309020205020404" pitchFamily="49" charset="0"/>
                <a:cs typeface="Courier New" panose="02070309020205020404" pitchFamily="49" charset="0"/>
              </a:rPr>
              <a:t> </a:t>
            </a:r>
            <a:r>
              <a:rPr lang="en-US" sz="1250" b="1" dirty="0">
                <a:solidFill>
                  <a:srgbClr val="E8D48A"/>
                </a:solidFill>
                <a:latin typeface="Courier New" panose="02070309020205020404" pitchFamily="49" charset="0"/>
                <a:cs typeface="Courier New" panose="02070309020205020404" pitchFamily="49" charset="0"/>
              </a:rPr>
              <a:t>AS </a:t>
            </a:r>
            <a:r>
              <a:rPr lang="en-US" sz="1250" dirty="0">
                <a:solidFill>
                  <a:schemeClr val="bg1"/>
                </a:solidFill>
                <a:latin typeface="Courier New" panose="02070309020205020404" pitchFamily="49" charset="0"/>
                <a:cs typeface="Courier New" panose="02070309020205020404" pitchFamily="49" charset="0"/>
              </a:rPr>
              <a:t>Sales_Month,</a:t>
            </a:r>
          </a:p>
          <a:p>
            <a:r>
              <a:rPr lang="en-US" sz="1250" dirty="0">
                <a:solidFill>
                  <a:schemeClr val="bg1"/>
                </a:solidFill>
                <a:latin typeface="Courier New" panose="02070309020205020404" pitchFamily="49" charset="0"/>
                <a:cs typeface="Courier New" panose="02070309020205020404" pitchFamily="49" charset="0"/>
              </a:rPr>
              <a:t>    </a:t>
            </a:r>
            <a:r>
              <a:rPr lang="en-US" sz="1250" b="1" dirty="0">
                <a:solidFill>
                  <a:srgbClr val="E8D48A"/>
                </a:solidFill>
                <a:latin typeface="Courier New" panose="02070309020205020404" pitchFamily="49" charset="0"/>
                <a:cs typeface="Courier New" panose="02070309020205020404" pitchFamily="49" charset="0"/>
              </a:rPr>
              <a:t>COUNT</a:t>
            </a:r>
            <a:r>
              <a:rPr lang="en-US" sz="1250" dirty="0">
                <a:solidFill>
                  <a:schemeClr val="bg1"/>
                </a:solidFill>
                <a:latin typeface="Courier New" panose="02070309020205020404" pitchFamily="49" charset="0"/>
                <a:cs typeface="Courier New" panose="02070309020205020404" pitchFamily="49" charset="0"/>
              </a:rPr>
              <a:t>(Order_ID)</a:t>
            </a:r>
            <a:r>
              <a:rPr lang="en-US" sz="1250" b="1" dirty="0">
                <a:solidFill>
                  <a:srgbClr val="E8D48A"/>
                </a:solidFill>
                <a:latin typeface="Courier New" panose="02070309020205020404" pitchFamily="49" charset="0"/>
                <a:cs typeface="Courier New" panose="02070309020205020404" pitchFamily="49" charset="0"/>
              </a:rPr>
              <a:t> AS </a:t>
            </a:r>
            <a:r>
              <a:rPr lang="en-US" sz="1250" dirty="0">
                <a:solidFill>
                  <a:schemeClr val="bg1"/>
                </a:solidFill>
                <a:latin typeface="Courier New" panose="02070309020205020404" pitchFamily="49" charset="0"/>
                <a:cs typeface="Courier New" panose="02070309020205020404" pitchFamily="49" charset="0"/>
              </a:rPr>
              <a:t>Number_of_Orders,</a:t>
            </a:r>
          </a:p>
          <a:p>
            <a:r>
              <a:rPr lang="en-US" sz="1250" dirty="0">
                <a:solidFill>
                  <a:schemeClr val="bg1"/>
                </a:solidFill>
                <a:latin typeface="Courier New" panose="02070309020205020404" pitchFamily="49" charset="0"/>
                <a:cs typeface="Courier New" panose="02070309020205020404" pitchFamily="49" charset="0"/>
              </a:rPr>
              <a:t>    </a:t>
            </a:r>
            <a:r>
              <a:rPr lang="en-US" sz="1250" b="1" dirty="0">
                <a:solidFill>
                  <a:srgbClr val="E8D48A"/>
                </a:solidFill>
                <a:latin typeface="Courier New" panose="02070309020205020404" pitchFamily="49" charset="0"/>
                <a:cs typeface="Courier New" panose="02070309020205020404" pitchFamily="49" charset="0"/>
              </a:rPr>
              <a:t>SUM</a:t>
            </a:r>
            <a:r>
              <a:rPr lang="en-US" sz="1250" dirty="0">
                <a:solidFill>
                  <a:schemeClr val="bg1"/>
                </a:solidFill>
                <a:latin typeface="Courier New" panose="02070309020205020404" pitchFamily="49" charset="0"/>
                <a:cs typeface="Courier New" panose="02070309020205020404" pitchFamily="49" charset="0"/>
              </a:rPr>
              <a:t>(Quantity)</a:t>
            </a:r>
            <a:r>
              <a:rPr lang="en-US" sz="1250" dirty="0">
                <a:solidFill>
                  <a:srgbClr val="E8D48A"/>
                </a:solidFill>
                <a:latin typeface="Courier New" panose="02070309020205020404" pitchFamily="49" charset="0"/>
                <a:cs typeface="Courier New" panose="02070309020205020404" pitchFamily="49" charset="0"/>
              </a:rPr>
              <a:t> </a:t>
            </a:r>
            <a:r>
              <a:rPr lang="en-US" sz="1250" b="1" dirty="0">
                <a:solidFill>
                  <a:srgbClr val="E8D48A"/>
                </a:solidFill>
                <a:latin typeface="Courier New" panose="02070309020205020404" pitchFamily="49" charset="0"/>
                <a:cs typeface="Courier New" panose="02070309020205020404" pitchFamily="49" charset="0"/>
              </a:rPr>
              <a:t>AS</a:t>
            </a:r>
            <a:r>
              <a:rPr lang="en-US" sz="1250" dirty="0">
                <a:solidFill>
                  <a:srgbClr val="E8D48A"/>
                </a:solidFill>
                <a:latin typeface="Courier New" panose="02070309020205020404" pitchFamily="49" charset="0"/>
                <a:cs typeface="Courier New" panose="02070309020205020404" pitchFamily="49" charset="0"/>
              </a:rPr>
              <a:t> </a:t>
            </a:r>
            <a:r>
              <a:rPr lang="en-US" sz="1250" dirty="0">
                <a:solidFill>
                  <a:schemeClr val="bg1"/>
                </a:solidFill>
                <a:latin typeface="Courier New" panose="02070309020205020404" pitchFamily="49" charset="0"/>
                <a:cs typeface="Courier New" panose="02070309020205020404" pitchFamily="49" charset="0"/>
              </a:rPr>
              <a:t>Units_Sold,</a:t>
            </a:r>
          </a:p>
          <a:p>
            <a:r>
              <a:rPr lang="en-US" sz="1250" dirty="0">
                <a:solidFill>
                  <a:schemeClr val="bg1"/>
                </a:solidFill>
                <a:latin typeface="Courier New" panose="02070309020205020404" pitchFamily="49" charset="0"/>
                <a:cs typeface="Courier New" panose="02070309020205020404" pitchFamily="49" charset="0"/>
              </a:rPr>
              <a:t>    </a:t>
            </a:r>
            <a:r>
              <a:rPr lang="en-US" sz="1250" b="1" dirty="0">
                <a:solidFill>
                  <a:srgbClr val="E8D48A"/>
                </a:solidFill>
                <a:latin typeface="Courier New" panose="02070309020205020404" pitchFamily="49" charset="0"/>
                <a:cs typeface="Courier New" panose="02070309020205020404" pitchFamily="49" charset="0"/>
              </a:rPr>
              <a:t>ROUND</a:t>
            </a:r>
            <a:r>
              <a:rPr lang="en-US" sz="1250" dirty="0">
                <a:solidFill>
                  <a:schemeClr val="bg1"/>
                </a:solidFill>
                <a:latin typeface="Courier New" panose="02070309020205020404" pitchFamily="49" charset="0"/>
                <a:cs typeface="Courier New" panose="02070309020205020404" pitchFamily="49" charset="0"/>
              </a:rPr>
              <a:t>(SUM(Total_Amount), 2) </a:t>
            </a:r>
            <a:r>
              <a:rPr lang="en-US" sz="1250" b="1" dirty="0">
                <a:solidFill>
                  <a:srgbClr val="E8D48A"/>
                </a:solidFill>
                <a:latin typeface="Courier New" panose="02070309020205020404" pitchFamily="49" charset="0"/>
                <a:cs typeface="Courier New" panose="02070309020205020404" pitchFamily="49" charset="0"/>
              </a:rPr>
              <a:t>AS</a:t>
            </a:r>
            <a:r>
              <a:rPr lang="en-US" sz="1250" dirty="0">
                <a:solidFill>
                  <a:schemeClr val="bg1"/>
                </a:solidFill>
                <a:latin typeface="Courier New" panose="02070309020205020404" pitchFamily="49" charset="0"/>
                <a:cs typeface="Courier New" panose="02070309020205020404" pitchFamily="49" charset="0"/>
              </a:rPr>
              <a:t> Revenue</a:t>
            </a:r>
          </a:p>
          <a:p>
            <a:r>
              <a:rPr lang="en-US" sz="1250" b="1" dirty="0">
                <a:solidFill>
                  <a:srgbClr val="E8D48A"/>
                </a:solidFill>
                <a:latin typeface="Courier New" panose="02070309020205020404" pitchFamily="49" charset="0"/>
                <a:cs typeface="Courier New" panose="02070309020205020404" pitchFamily="49" charset="0"/>
              </a:rPr>
              <a:t>FROM</a:t>
            </a:r>
            <a:r>
              <a:rPr lang="en-US" sz="1250" dirty="0">
                <a:solidFill>
                  <a:schemeClr val="bg1"/>
                </a:solidFill>
                <a:latin typeface="Courier New" panose="02070309020205020404" pitchFamily="49" charset="0"/>
                <a:cs typeface="Courier New" panose="02070309020205020404" pitchFamily="49" charset="0"/>
              </a:rPr>
              <a:t> Orders</a:t>
            </a:r>
          </a:p>
          <a:p>
            <a:r>
              <a:rPr lang="en-US" sz="1250" b="1" dirty="0">
                <a:solidFill>
                  <a:srgbClr val="E8D48A"/>
                </a:solidFill>
                <a:latin typeface="Courier New" panose="02070309020205020404" pitchFamily="49" charset="0"/>
                <a:cs typeface="Courier New" panose="02070309020205020404" pitchFamily="49" charset="0"/>
              </a:rPr>
              <a:t>GROUP BY</a:t>
            </a:r>
          </a:p>
          <a:p>
            <a:r>
              <a:rPr lang="en-US" sz="1250" dirty="0">
                <a:solidFill>
                  <a:schemeClr val="bg1"/>
                </a:solidFill>
                <a:latin typeface="Courier New" panose="02070309020205020404" pitchFamily="49" charset="0"/>
                <a:cs typeface="Courier New" panose="02070309020205020404" pitchFamily="49" charset="0"/>
              </a:rPr>
              <a:t>    YEAR(Order_Date),</a:t>
            </a:r>
          </a:p>
          <a:p>
            <a:r>
              <a:rPr lang="en-US" sz="1250" dirty="0">
                <a:solidFill>
                  <a:schemeClr val="bg1"/>
                </a:solidFill>
                <a:latin typeface="Courier New" panose="02070309020205020404" pitchFamily="49" charset="0"/>
                <a:cs typeface="Courier New" panose="02070309020205020404" pitchFamily="49" charset="0"/>
              </a:rPr>
              <a:t>    MONTH(Order_Date)</a:t>
            </a:r>
          </a:p>
          <a:p>
            <a:r>
              <a:rPr lang="en-US" sz="1250" b="1" dirty="0">
                <a:solidFill>
                  <a:srgbClr val="E8D48A"/>
                </a:solidFill>
                <a:latin typeface="Courier New" panose="02070309020205020404" pitchFamily="49" charset="0"/>
                <a:cs typeface="Courier New" panose="02070309020205020404" pitchFamily="49" charset="0"/>
              </a:rPr>
              <a:t>ORDER BY</a:t>
            </a:r>
          </a:p>
          <a:p>
            <a:r>
              <a:rPr lang="en-US" sz="1250" dirty="0">
                <a:solidFill>
                  <a:schemeClr val="bg1"/>
                </a:solidFill>
                <a:latin typeface="Courier New" panose="02070309020205020404" pitchFamily="49" charset="0"/>
                <a:cs typeface="Courier New" panose="02070309020205020404" pitchFamily="49" charset="0"/>
              </a:rPr>
              <a:t>    Sales_Year,</a:t>
            </a:r>
          </a:p>
          <a:p>
            <a:r>
              <a:rPr lang="en-US" sz="1250" dirty="0">
                <a:solidFill>
                  <a:schemeClr val="bg1"/>
                </a:solidFill>
                <a:latin typeface="Courier New" panose="02070309020205020404" pitchFamily="49" charset="0"/>
                <a:cs typeface="Courier New" panose="02070309020205020404" pitchFamily="49" charset="0"/>
              </a:rPr>
              <a:t>    Sales_Month;</a:t>
            </a:r>
            <a:endParaRPr lang="en-IN" sz="1250" dirty="0">
              <a:solidFill>
                <a:schemeClr val="bg1"/>
              </a:solidFill>
              <a:latin typeface="Courier New" panose="02070309020205020404" pitchFamily="49" charset="0"/>
              <a:cs typeface="Courier New" panose="02070309020205020404" pitchFamily="49" charset="0"/>
            </a:endParaRPr>
          </a:p>
        </p:txBody>
      </p:sp>
      <p:pic>
        <p:nvPicPr>
          <p:cNvPr id="6" name="Picture 5">
            <a:extLst>
              <a:ext uri="{FF2B5EF4-FFF2-40B4-BE49-F238E27FC236}">
                <a16:creationId xmlns:a16="http://schemas.microsoft.com/office/drawing/2014/main" id="{D1E1B953-F554-BC27-9D88-8FF856D93B2F}"/>
              </a:ext>
            </a:extLst>
          </p:cNvPr>
          <p:cNvPicPr>
            <a:picLocks noChangeAspect="1"/>
          </p:cNvPicPr>
          <p:nvPr/>
        </p:nvPicPr>
        <p:blipFill>
          <a:blip r:embed="rId3"/>
          <a:stretch>
            <a:fillRect/>
          </a:stretch>
        </p:blipFill>
        <p:spPr>
          <a:xfrm>
            <a:off x="5427677" y="1702966"/>
            <a:ext cx="6182686" cy="315727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7" name="Rectangle: Rounded Corners 6">
            <a:extLst>
              <a:ext uri="{FF2B5EF4-FFF2-40B4-BE49-F238E27FC236}">
                <a16:creationId xmlns:a16="http://schemas.microsoft.com/office/drawing/2014/main" id="{A1EAE3F5-C359-997D-9DF8-E6A355132DE0}"/>
              </a:ext>
            </a:extLst>
          </p:cNvPr>
          <p:cNvSpPr/>
          <p:nvPr/>
        </p:nvSpPr>
        <p:spPr>
          <a:xfrm>
            <a:off x="445406" y="5155035"/>
            <a:ext cx="11234225" cy="1384914"/>
          </a:xfrm>
          <a:prstGeom prst="roundRect">
            <a:avLst>
              <a:gd name="adj" fmla="val 3885"/>
            </a:avLst>
          </a:prstGeom>
          <a:solidFill>
            <a:srgbClr val="E7EAF2"/>
          </a:solidFill>
          <a:ln w="952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D8F1EA7-AB4A-16AE-E45A-5808C149F6D5}"/>
              </a:ext>
            </a:extLst>
          </p:cNvPr>
          <p:cNvSpPr txBox="1"/>
          <p:nvPr/>
        </p:nvSpPr>
        <p:spPr>
          <a:xfrm>
            <a:off x="566928" y="5317435"/>
            <a:ext cx="10929823" cy="1323439"/>
          </a:xfrm>
          <a:prstGeom prst="rect">
            <a:avLst/>
          </a:prstGeom>
          <a:noFill/>
        </p:spPr>
        <p:txBody>
          <a:bodyPr wrap="square" rtlCol="0">
            <a:spAutoFit/>
          </a:bodyPr>
          <a:lstStyle/>
          <a:p>
            <a:pPr marL="285750" indent="-285750" algn="just">
              <a:buFont typeface="Arial" panose="020B0604020202020204" pitchFamily="34" charset="0"/>
              <a:buChar char="•"/>
            </a:pPr>
            <a:r>
              <a:rPr lang="en-US" sz="1350" b="1" dirty="0">
                <a:solidFill>
                  <a:srgbClr val="1B2A4A"/>
                </a:solidFill>
                <a:latin typeface="Cambria" panose="02040503050406030204" pitchFamily="18" charset="0"/>
                <a:ea typeface="Cambria" panose="02040503050406030204" pitchFamily="18" charset="0"/>
              </a:rPr>
              <a:t>High Efficiency in January 2023</a:t>
            </a:r>
            <a:r>
              <a:rPr lang="en-US" sz="1350" b="1" dirty="0"/>
              <a:t>:</a:t>
            </a:r>
            <a:r>
              <a:rPr lang="en-US" sz="1350" dirty="0"/>
              <a:t> January recorded </a:t>
            </a:r>
            <a:r>
              <a:rPr lang="en-US" sz="1350" dirty="0">
                <a:solidFill>
                  <a:srgbClr val="1B2A4A"/>
                </a:solidFill>
                <a:latin typeface="Cambria" panose="02040503050406030204" pitchFamily="18" charset="0"/>
                <a:ea typeface="Cambria" panose="02040503050406030204" pitchFamily="18" charset="0"/>
              </a:rPr>
              <a:t>23 orders </a:t>
            </a:r>
            <a:r>
              <a:rPr lang="en-US" sz="1350" dirty="0"/>
              <a:t>and </a:t>
            </a:r>
            <a:r>
              <a:rPr lang="en-US" sz="1350" dirty="0">
                <a:solidFill>
                  <a:srgbClr val="1B2A4A"/>
                </a:solidFill>
                <a:latin typeface="Cambria" panose="02040503050406030204" pitchFamily="18" charset="0"/>
                <a:ea typeface="Cambria" panose="02040503050406030204" pitchFamily="18" charset="0"/>
              </a:rPr>
              <a:t>$3,294.28 </a:t>
            </a:r>
            <a:r>
              <a:rPr lang="en-US" sz="1350" dirty="0"/>
              <a:t>in revenue. Compared to May (which had 24 orders but $5,110.81 in revenue), January had a lower average order value, meaning customers bought cheaper items or smaller quantities per order.</a:t>
            </a:r>
          </a:p>
          <a:p>
            <a:pPr marL="285750" indent="-285750" algn="just">
              <a:buFont typeface="Arial" panose="020B0604020202020204" pitchFamily="34" charset="0"/>
              <a:buChar char="•"/>
            </a:pPr>
            <a:endParaRPr lang="en-US" sz="1350" dirty="0"/>
          </a:p>
          <a:p>
            <a:pPr marL="285750" indent="-285750" algn="just">
              <a:buFont typeface="Arial" panose="020B0604020202020204" pitchFamily="34" charset="0"/>
              <a:buChar char="•"/>
            </a:pPr>
            <a:r>
              <a:rPr lang="en-US" sz="1350" b="1" dirty="0">
                <a:solidFill>
                  <a:srgbClr val="1B2A4A"/>
                </a:solidFill>
                <a:latin typeface="Cambria" panose="02040503050406030204" pitchFamily="18" charset="0"/>
                <a:ea typeface="Cambria" panose="02040503050406030204" pitchFamily="18" charset="0"/>
              </a:rPr>
              <a:t>Stable Baseline</a:t>
            </a:r>
            <a:r>
              <a:rPr lang="en-US" sz="1350" b="1" dirty="0"/>
              <a:t>:</a:t>
            </a:r>
            <a:r>
              <a:rPr lang="en-US" sz="1350" dirty="0"/>
              <a:t> Aside from the dramatic spikes in May and dips in February/June, the business maintains a steady baseline of roughly </a:t>
            </a:r>
            <a:r>
              <a:rPr lang="en-US" sz="1350" dirty="0">
                <a:solidFill>
                  <a:srgbClr val="1B2A4A"/>
                </a:solidFill>
                <a:latin typeface="Cambria" panose="02040503050406030204" pitchFamily="18" charset="0"/>
                <a:ea typeface="Cambria" panose="02040503050406030204" pitchFamily="18" charset="0"/>
              </a:rPr>
              <a:t>15 to 20 orders </a:t>
            </a:r>
            <a:r>
              <a:rPr lang="en-US" sz="1350" dirty="0"/>
              <a:t>and </a:t>
            </a:r>
            <a:r>
              <a:rPr lang="en-US" sz="1350" dirty="0">
                <a:solidFill>
                  <a:srgbClr val="1B2A4A"/>
                </a:solidFill>
                <a:latin typeface="Cambria" panose="02040503050406030204" pitchFamily="18" charset="0"/>
                <a:ea typeface="Cambria" panose="02040503050406030204" pitchFamily="18" charset="0"/>
              </a:rPr>
              <a:t>$2,200 to $2,500 </a:t>
            </a:r>
            <a:r>
              <a:rPr lang="en-US" sz="1350" dirty="0"/>
              <a:t>per month (as seen in late 2022 and late 2023).</a:t>
            </a:r>
          </a:p>
          <a:p>
            <a:pPr marL="285750" indent="-285750" algn="just">
              <a:buFont typeface="Arial" panose="020B0604020202020204" pitchFamily="34" charset="0"/>
              <a:buChar char="•"/>
            </a:pPr>
            <a:endParaRPr lang="en-IN" sz="1250" dirty="0"/>
          </a:p>
        </p:txBody>
      </p:sp>
      <p:sp>
        <p:nvSpPr>
          <p:cNvPr id="5" name="TextBox 4">
            <a:extLst>
              <a:ext uri="{FF2B5EF4-FFF2-40B4-BE49-F238E27FC236}">
                <a16:creationId xmlns:a16="http://schemas.microsoft.com/office/drawing/2014/main" id="{26960303-4300-DD76-E05B-E15F7EC5F771}"/>
              </a:ext>
            </a:extLst>
          </p:cNvPr>
          <p:cNvSpPr txBox="1"/>
          <p:nvPr/>
        </p:nvSpPr>
        <p:spPr>
          <a:xfrm>
            <a:off x="11199223" y="6564003"/>
            <a:ext cx="992777" cy="369332"/>
          </a:xfrm>
          <a:prstGeom prst="rect">
            <a:avLst/>
          </a:prstGeom>
          <a:noFill/>
        </p:spPr>
        <p:txBody>
          <a:bodyPr wrap="square" rtlCol="0">
            <a:spAutoFit/>
          </a:bodyPr>
          <a:lstStyle/>
          <a:p>
            <a:r>
              <a:rPr lang="en-US" sz="900" dirty="0">
                <a:solidFill>
                  <a:srgbClr val="6B7280"/>
                </a:solidFill>
                <a:latin typeface="Calibri" pitchFamily="34" charset="0"/>
                <a:ea typeface="Calibri" pitchFamily="34" charset="-122"/>
                <a:cs typeface="Calibri" pitchFamily="34" charset="-120"/>
              </a:rPr>
              <a:t>7 / 19</a:t>
            </a:r>
            <a:endParaRPr lang="en-US" sz="900" dirty="0"/>
          </a:p>
          <a:p>
            <a:endParaRPr lang="en-IN" sz="900" dirty="0"/>
          </a:p>
        </p:txBody>
      </p:sp>
      <p:sp>
        <p:nvSpPr>
          <p:cNvPr id="9" name="TextBox 8">
            <a:extLst>
              <a:ext uri="{FF2B5EF4-FFF2-40B4-BE49-F238E27FC236}">
                <a16:creationId xmlns:a16="http://schemas.microsoft.com/office/drawing/2014/main" id="{8F771CC1-220E-6D69-FE2F-997E075AA247}"/>
              </a:ext>
            </a:extLst>
          </p:cNvPr>
          <p:cNvSpPr txBox="1"/>
          <p:nvPr/>
        </p:nvSpPr>
        <p:spPr>
          <a:xfrm>
            <a:off x="445406" y="6570762"/>
            <a:ext cx="4502331" cy="230832"/>
          </a:xfrm>
          <a:prstGeom prst="rect">
            <a:avLst/>
          </a:prstGeom>
          <a:noFill/>
        </p:spPr>
        <p:txBody>
          <a:bodyPr wrap="square" rtlCol="0">
            <a:spAutoFit/>
          </a:bodyPr>
          <a:lstStyle/>
          <a:p>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11" name="TextBox 10">
            <a:extLst>
              <a:ext uri="{FF2B5EF4-FFF2-40B4-BE49-F238E27FC236}">
                <a16:creationId xmlns:a16="http://schemas.microsoft.com/office/drawing/2014/main" id="{C5C1407D-FEE4-38AA-2E59-FFF493BBEC1C}"/>
              </a:ext>
            </a:extLst>
          </p:cNvPr>
          <p:cNvSpPr txBox="1"/>
          <p:nvPr/>
        </p:nvSpPr>
        <p:spPr>
          <a:xfrm>
            <a:off x="485079" y="1974342"/>
            <a:ext cx="4214078" cy="253916"/>
          </a:xfrm>
          <a:prstGeom prst="rect">
            <a:avLst/>
          </a:prstGeom>
          <a:noFill/>
        </p:spPr>
        <p:txBody>
          <a:bodyPr wrap="square" rtlCol="0">
            <a:spAutoFit/>
          </a:bodyPr>
          <a:lstStyle/>
          <a:p>
            <a:r>
              <a:rPr lang="en-US" sz="1050" b="1" kern="0" spc="100" dirty="0">
                <a:solidFill>
                  <a:srgbClr val="C9A227"/>
                </a:solidFill>
                <a:latin typeface="Calibri" pitchFamily="34" charset="0"/>
                <a:ea typeface="Calibri" pitchFamily="34" charset="-122"/>
                <a:cs typeface="Calibri" pitchFamily="34" charset="-120"/>
              </a:rPr>
              <a:t>REPRESENTATIVE QUERY - SALES BY MONTH + YEAR</a:t>
            </a:r>
            <a:endParaRPr lang="en-US" sz="1050" dirty="0"/>
          </a:p>
        </p:txBody>
      </p:sp>
    </p:spTree>
    <p:extLst>
      <p:ext uri="{BB962C8B-B14F-4D97-AF65-F5344CB8AC3E}">
        <p14:creationId xmlns:p14="http://schemas.microsoft.com/office/powerpoint/2010/main" val="257550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1+#ppt_w/2"/>
                                          </p:val>
                                        </p:tav>
                                        <p:tav tm="100000">
                                          <p:val>
                                            <p:strVal val="#ppt_x"/>
                                          </p:val>
                                        </p:tav>
                                      </p:tavLst>
                                    </p:anim>
                                    <p:anim calcmode="lin" valueType="num">
                                      <p:cBhvr additive="base">
                                        <p:cTn id="8" dur="500" fill="hold"/>
                                        <p:tgtEl>
                                          <p:spTgt spid="30"/>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1+#ppt_w/2"/>
                                          </p:val>
                                        </p:tav>
                                        <p:tav tm="100000">
                                          <p:val>
                                            <p:strVal val="#ppt_x"/>
                                          </p:val>
                                        </p:tav>
                                      </p:tavLst>
                                    </p:anim>
                                    <p:anim calcmode="lin" valueType="num">
                                      <p:cBhvr additive="base">
                                        <p:cTn id="12" dur="500" fill="hold"/>
                                        <p:tgtEl>
                                          <p:spTgt spid="31"/>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additive="base">
                                        <p:cTn id="15" dur="500" fill="hold"/>
                                        <p:tgtEl>
                                          <p:spTgt spid="32"/>
                                        </p:tgtEl>
                                        <p:attrNameLst>
                                          <p:attrName>ppt_x</p:attrName>
                                        </p:attrNameLst>
                                      </p:cBhvr>
                                      <p:tavLst>
                                        <p:tav tm="0">
                                          <p:val>
                                            <p:strVal val="1+#ppt_w/2"/>
                                          </p:val>
                                        </p:tav>
                                        <p:tav tm="100000">
                                          <p:val>
                                            <p:strVal val="#ppt_x"/>
                                          </p:val>
                                        </p:tav>
                                      </p:tavLst>
                                    </p:anim>
                                    <p:anim calcmode="lin" valueType="num">
                                      <p:cBhvr additive="base">
                                        <p:cTn id="16" dur="500" fill="hold"/>
                                        <p:tgtEl>
                                          <p:spTgt spid="32"/>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1+#ppt_w/2"/>
                                          </p:val>
                                        </p:tav>
                                        <p:tav tm="100000">
                                          <p:val>
                                            <p:strVal val="#ppt_x"/>
                                          </p:val>
                                        </p:tav>
                                      </p:tavLst>
                                    </p:anim>
                                    <p:anim calcmode="lin" valueType="num">
                                      <p:cBhvr additive="base">
                                        <p:cTn id="20" dur="500" fill="hold"/>
                                        <p:tgtEl>
                                          <p:spTgt spid="33"/>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 calcmode="lin" valueType="num">
                                      <p:cBhvr additive="base">
                                        <p:cTn id="23" dur="500" fill="hold"/>
                                        <p:tgtEl>
                                          <p:spTgt spid="34"/>
                                        </p:tgtEl>
                                        <p:attrNameLst>
                                          <p:attrName>ppt_x</p:attrName>
                                        </p:attrNameLst>
                                      </p:cBhvr>
                                      <p:tavLst>
                                        <p:tav tm="0">
                                          <p:val>
                                            <p:strVal val="1+#ppt_w/2"/>
                                          </p:val>
                                        </p:tav>
                                        <p:tav tm="100000">
                                          <p:val>
                                            <p:strVal val="#ppt_x"/>
                                          </p:val>
                                        </p:tav>
                                      </p:tavLst>
                                    </p:anim>
                                    <p:anim calcmode="lin" valueType="num">
                                      <p:cBhvr additive="base">
                                        <p:cTn id="24"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0-#ppt_w/2"/>
                                          </p:val>
                                        </p:tav>
                                        <p:tav tm="100000">
                                          <p:val>
                                            <p:strVal val="#ppt_x"/>
                                          </p:val>
                                        </p:tav>
                                      </p:tavLst>
                                    </p:anim>
                                    <p:anim calcmode="lin" valueType="num">
                                      <p:cBhvr additive="base">
                                        <p:cTn id="35" dur="500" fill="hold"/>
                                        <p:tgtEl>
                                          <p:spTgt spid="2"/>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additive="base">
                                        <p:cTn id="38" dur="500" fill="hold"/>
                                        <p:tgtEl>
                                          <p:spTgt spid="4"/>
                                        </p:tgtEl>
                                        <p:attrNameLst>
                                          <p:attrName>ppt_x</p:attrName>
                                        </p:attrNameLst>
                                      </p:cBhvr>
                                      <p:tavLst>
                                        <p:tav tm="0">
                                          <p:val>
                                            <p:strVal val="0-#ppt_w/2"/>
                                          </p:val>
                                        </p:tav>
                                        <p:tav tm="100000">
                                          <p:val>
                                            <p:strVal val="#ppt_x"/>
                                          </p:val>
                                        </p:tav>
                                      </p:tavLst>
                                    </p:anim>
                                    <p:anim calcmode="lin" valueType="num">
                                      <p:cBhvr additive="base">
                                        <p:cTn id="39"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additive="base">
                                        <p:cTn id="44" dur="500" fill="hold"/>
                                        <p:tgtEl>
                                          <p:spTgt spid="6"/>
                                        </p:tgtEl>
                                        <p:attrNameLst>
                                          <p:attrName>ppt_x</p:attrName>
                                        </p:attrNameLst>
                                      </p:cBhvr>
                                      <p:tavLst>
                                        <p:tav tm="0">
                                          <p:val>
                                            <p:strVal val="1+#ppt_w/2"/>
                                          </p:val>
                                        </p:tav>
                                        <p:tav tm="100000">
                                          <p:val>
                                            <p:strVal val="#ppt_x"/>
                                          </p:val>
                                        </p:tav>
                                      </p:tavLst>
                                    </p:anim>
                                    <p:anim calcmode="lin" valueType="num">
                                      <p:cBhvr additive="base">
                                        <p:cTn id="45"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1000"/>
                                        <p:tgtEl>
                                          <p:spTgt spid="7"/>
                                        </p:tgtEl>
                                      </p:cBhvr>
                                    </p:animEffect>
                                    <p:anim calcmode="lin" valueType="num">
                                      <p:cBhvr>
                                        <p:cTn id="51" dur="1000" fill="hold"/>
                                        <p:tgtEl>
                                          <p:spTgt spid="7"/>
                                        </p:tgtEl>
                                        <p:attrNameLst>
                                          <p:attrName>ppt_x</p:attrName>
                                        </p:attrNameLst>
                                      </p:cBhvr>
                                      <p:tavLst>
                                        <p:tav tm="0">
                                          <p:val>
                                            <p:strVal val="#ppt_x"/>
                                          </p:val>
                                        </p:tav>
                                        <p:tav tm="100000">
                                          <p:val>
                                            <p:strVal val="#ppt_x"/>
                                          </p:val>
                                        </p:tav>
                                      </p:tavLst>
                                    </p:anim>
                                    <p:anim calcmode="lin" valueType="num">
                                      <p:cBhvr>
                                        <p:cTn id="52" dur="1000" fill="hold"/>
                                        <p:tgtEl>
                                          <p:spTgt spid="7"/>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1000"/>
                                        <p:tgtEl>
                                          <p:spTgt spid="8"/>
                                        </p:tgtEl>
                                      </p:cBhvr>
                                    </p:animEffect>
                                    <p:anim calcmode="lin" valueType="num">
                                      <p:cBhvr>
                                        <p:cTn id="56" dur="1000" fill="hold"/>
                                        <p:tgtEl>
                                          <p:spTgt spid="8"/>
                                        </p:tgtEl>
                                        <p:attrNameLst>
                                          <p:attrName>ppt_x</p:attrName>
                                        </p:attrNameLst>
                                      </p:cBhvr>
                                      <p:tavLst>
                                        <p:tav tm="0">
                                          <p:val>
                                            <p:strVal val="#ppt_x"/>
                                          </p:val>
                                        </p:tav>
                                        <p:tav tm="100000">
                                          <p:val>
                                            <p:strVal val="#ppt_x"/>
                                          </p:val>
                                        </p:tav>
                                      </p:tavLst>
                                    </p:anim>
                                    <p:anim calcmode="lin" valueType="num">
                                      <p:cBhvr>
                                        <p:cTn id="5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3" grpId="0" animBg="1"/>
      <p:bldP spid="34" grpId="0" animBg="1"/>
      <p:bldP spid="2" grpId="0" animBg="1"/>
      <p:bldP spid="3" grpId="0"/>
      <p:bldP spid="4" grpId="0"/>
      <p:bldP spid="7" grpId="0" animBg="1"/>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CUSTOMER ANALYTICS</a:t>
            </a:r>
            <a:endParaRPr lang="en-US" sz="1200" dirty="0"/>
          </a:p>
        </p:txBody>
      </p:sp>
      <p:sp>
        <p:nvSpPr>
          <p:cNvPr id="3" name="Text 1"/>
          <p:cNvSpPr txBox="1"/>
          <p:nvPr/>
        </p:nvSpPr>
        <p:spPr>
          <a:xfrm>
            <a:off x="457200" y="621792"/>
            <a:ext cx="11277295" cy="548640"/>
          </a:xfrm>
          <a:prstGeom prst="rect">
            <a:avLst/>
          </a:prstGeom>
          <a:noFill/>
          <a:ln/>
        </p:spPr>
        <p:txBody>
          <a:bodyPr wrap="square" rtlCol="0" anchor="ctr"/>
          <a:lstStyle/>
          <a:p>
            <a:pPr marL="0" indent="0">
              <a:buNone/>
            </a:pPr>
            <a:r>
              <a:rPr lang="en-US" sz="2900" b="1" dirty="0">
                <a:solidFill>
                  <a:srgbClr val="1B2A4A"/>
                </a:solidFill>
                <a:latin typeface="Cambria" pitchFamily="34" charset="0"/>
                <a:ea typeface="Cambria" pitchFamily="34" charset="-122"/>
                <a:cs typeface="Cambria" pitchFamily="34" charset="-120"/>
              </a:rPr>
              <a:t>Customer Purchasing Behaviour</a:t>
            </a:r>
            <a:endParaRPr lang="en-US" sz="2900" dirty="0"/>
          </a:p>
        </p:txBody>
      </p:sp>
      <p:sp>
        <p:nvSpPr>
          <p:cNvPr id="4" name="Shape 2"/>
          <p:cNvSpPr/>
          <p:nvPr/>
        </p:nvSpPr>
        <p:spPr>
          <a:xfrm>
            <a:off x="457200" y="1417320"/>
            <a:ext cx="1828800" cy="914400"/>
          </a:xfrm>
          <a:prstGeom prst="roundRect">
            <a:avLst>
              <a:gd name="adj" fmla="val 8000"/>
            </a:avLst>
          </a:prstGeom>
          <a:solidFill>
            <a:srgbClr val="F7EFD9"/>
          </a:solidFill>
          <a:ln/>
        </p:spPr>
        <p:txBody>
          <a:bodyPr/>
          <a:lstStyle/>
          <a:p>
            <a:endParaRPr lang="en-IN"/>
          </a:p>
        </p:txBody>
      </p:sp>
      <p:sp>
        <p:nvSpPr>
          <p:cNvPr id="5" name="Shape 3"/>
          <p:cNvSpPr/>
          <p:nvPr/>
        </p:nvSpPr>
        <p:spPr>
          <a:xfrm>
            <a:off x="1161288" y="1527048"/>
            <a:ext cx="420624" cy="420624"/>
          </a:xfrm>
          <a:prstGeom prst="ellipse">
            <a:avLst/>
          </a:prstGeom>
          <a:solidFill>
            <a:srgbClr val="1B2A4A"/>
          </a:solidFill>
          <a:ln/>
        </p:spPr>
        <p:txBody>
          <a:bodyPr/>
          <a:lstStyle/>
          <a:p>
            <a:endParaRPr lang="en-IN"/>
          </a:p>
        </p:txBody>
      </p:sp>
      <p:pic>
        <p:nvPicPr>
          <p:cNvPr id="6" name="Image 0" descr="/home/claude/bookverse/icons/customers.png"/>
          <p:cNvPicPr>
            <a:picLocks noChangeAspect="1"/>
          </p:cNvPicPr>
          <p:nvPr/>
        </p:nvPicPr>
        <p:blipFill>
          <a:blip r:embed="rId3"/>
          <a:stretch>
            <a:fillRect/>
          </a:stretch>
        </p:blipFill>
        <p:spPr>
          <a:xfrm>
            <a:off x="1228588" y="1594348"/>
            <a:ext cx="286024" cy="286024"/>
          </a:xfrm>
          <a:prstGeom prst="rect">
            <a:avLst/>
          </a:prstGeom>
        </p:spPr>
      </p:pic>
      <p:sp>
        <p:nvSpPr>
          <p:cNvPr id="7" name="Text 4"/>
          <p:cNvSpPr txBox="1"/>
          <p:nvPr/>
        </p:nvSpPr>
        <p:spPr>
          <a:xfrm>
            <a:off x="502920" y="1984248"/>
            <a:ext cx="1737360" cy="292608"/>
          </a:xfrm>
          <a:prstGeom prst="rect">
            <a:avLst/>
          </a:prstGeom>
          <a:noFill/>
          <a:ln/>
        </p:spPr>
        <p:txBody>
          <a:bodyPr wrap="square" rtlCol="0" anchor="ctr"/>
          <a:lstStyle/>
          <a:p>
            <a:pPr marL="0" indent="0" algn="ctr">
              <a:buNone/>
            </a:pPr>
            <a:r>
              <a:rPr lang="en-US" sz="1100" b="1" dirty="0">
                <a:solidFill>
                  <a:srgbClr val="23262F"/>
                </a:solidFill>
                <a:latin typeface="Calibri" pitchFamily="34" charset="0"/>
                <a:ea typeface="Calibri" pitchFamily="34" charset="-122"/>
                <a:cs typeface="Calibri" pitchFamily="34" charset="-120"/>
              </a:rPr>
              <a:t>Customers</a:t>
            </a:r>
            <a:endParaRPr lang="en-US" sz="1100" dirty="0"/>
          </a:p>
        </p:txBody>
      </p:sp>
      <p:sp>
        <p:nvSpPr>
          <p:cNvPr id="8" name="Text 5"/>
          <p:cNvSpPr txBox="1"/>
          <p:nvPr/>
        </p:nvSpPr>
        <p:spPr>
          <a:xfrm>
            <a:off x="2286000" y="1417320"/>
            <a:ext cx="320040" cy="914400"/>
          </a:xfrm>
          <a:prstGeom prst="rect">
            <a:avLst/>
          </a:prstGeom>
          <a:noFill/>
          <a:ln/>
        </p:spPr>
        <p:txBody>
          <a:bodyPr wrap="square" rtlCol="0" anchor="ctr"/>
          <a:lstStyle/>
          <a:p>
            <a:pPr marL="0" indent="0" algn="ctr">
              <a:buNone/>
            </a:pPr>
            <a:r>
              <a:rPr lang="en-US" sz="2000" b="1" dirty="0">
                <a:solidFill>
                  <a:srgbClr val="C9A227"/>
                </a:solidFill>
                <a:latin typeface="Calibri" pitchFamily="34" charset="0"/>
                <a:ea typeface="Calibri" pitchFamily="34" charset="-122"/>
                <a:cs typeface="Calibri" pitchFamily="34" charset="-120"/>
              </a:rPr>
              <a:t>+</a:t>
            </a:r>
            <a:endParaRPr lang="en-US" sz="2000" dirty="0"/>
          </a:p>
        </p:txBody>
      </p:sp>
      <p:sp>
        <p:nvSpPr>
          <p:cNvPr id="9" name="Shape 6"/>
          <p:cNvSpPr/>
          <p:nvPr/>
        </p:nvSpPr>
        <p:spPr>
          <a:xfrm>
            <a:off x="2606040" y="1417320"/>
            <a:ext cx="1828800" cy="914400"/>
          </a:xfrm>
          <a:prstGeom prst="roundRect">
            <a:avLst>
              <a:gd name="adj" fmla="val 8000"/>
            </a:avLst>
          </a:prstGeom>
          <a:solidFill>
            <a:srgbClr val="E7EAF2"/>
          </a:solidFill>
          <a:ln/>
        </p:spPr>
        <p:txBody>
          <a:bodyPr/>
          <a:lstStyle/>
          <a:p>
            <a:endParaRPr lang="en-IN"/>
          </a:p>
        </p:txBody>
      </p:sp>
      <p:sp>
        <p:nvSpPr>
          <p:cNvPr id="10" name="Shape 7"/>
          <p:cNvSpPr/>
          <p:nvPr/>
        </p:nvSpPr>
        <p:spPr>
          <a:xfrm>
            <a:off x="3310128" y="1527048"/>
            <a:ext cx="420624" cy="420624"/>
          </a:xfrm>
          <a:prstGeom prst="ellipse">
            <a:avLst/>
          </a:prstGeom>
          <a:solidFill>
            <a:srgbClr val="1B2A4A"/>
          </a:solidFill>
          <a:ln/>
        </p:spPr>
        <p:txBody>
          <a:bodyPr/>
          <a:lstStyle/>
          <a:p>
            <a:endParaRPr lang="en-IN"/>
          </a:p>
        </p:txBody>
      </p:sp>
      <p:pic>
        <p:nvPicPr>
          <p:cNvPr id="11" name="Image 1" descr="/home/claude/bookverse/icons/orders.png"/>
          <p:cNvPicPr>
            <a:picLocks noChangeAspect="1"/>
          </p:cNvPicPr>
          <p:nvPr/>
        </p:nvPicPr>
        <p:blipFill>
          <a:blip r:embed="rId4"/>
          <a:stretch>
            <a:fillRect/>
          </a:stretch>
        </p:blipFill>
        <p:spPr>
          <a:xfrm>
            <a:off x="3377428" y="1594348"/>
            <a:ext cx="286024" cy="286024"/>
          </a:xfrm>
          <a:prstGeom prst="rect">
            <a:avLst/>
          </a:prstGeom>
        </p:spPr>
      </p:pic>
      <p:sp>
        <p:nvSpPr>
          <p:cNvPr id="12" name="Text 8"/>
          <p:cNvSpPr txBox="1"/>
          <p:nvPr/>
        </p:nvSpPr>
        <p:spPr>
          <a:xfrm>
            <a:off x="2651760" y="1984248"/>
            <a:ext cx="1737360" cy="292608"/>
          </a:xfrm>
          <a:prstGeom prst="rect">
            <a:avLst/>
          </a:prstGeom>
          <a:noFill/>
          <a:ln/>
        </p:spPr>
        <p:txBody>
          <a:bodyPr wrap="square" rtlCol="0" anchor="ctr"/>
          <a:lstStyle/>
          <a:p>
            <a:pPr marL="0" indent="0" algn="ctr">
              <a:buNone/>
            </a:pPr>
            <a:r>
              <a:rPr lang="en-US" sz="1100" b="1" dirty="0">
                <a:solidFill>
                  <a:srgbClr val="23262F"/>
                </a:solidFill>
                <a:latin typeface="Calibri" pitchFamily="34" charset="0"/>
                <a:ea typeface="Calibri" pitchFamily="34" charset="-122"/>
                <a:cs typeface="Calibri" pitchFamily="34" charset="-120"/>
              </a:rPr>
              <a:t>Orders</a:t>
            </a:r>
            <a:endParaRPr lang="en-US" sz="1100" dirty="0"/>
          </a:p>
        </p:txBody>
      </p:sp>
      <p:sp>
        <p:nvSpPr>
          <p:cNvPr id="13" name="Text 9"/>
          <p:cNvSpPr txBox="1"/>
          <p:nvPr/>
        </p:nvSpPr>
        <p:spPr>
          <a:xfrm>
            <a:off x="4434840" y="1417320"/>
            <a:ext cx="320040" cy="914400"/>
          </a:xfrm>
          <a:prstGeom prst="rect">
            <a:avLst/>
          </a:prstGeom>
          <a:noFill/>
          <a:ln/>
        </p:spPr>
        <p:txBody>
          <a:bodyPr wrap="square" rtlCol="0" anchor="ctr"/>
          <a:lstStyle/>
          <a:p>
            <a:pPr marL="0" indent="0" algn="ctr">
              <a:buNone/>
            </a:pPr>
            <a:r>
              <a:rPr lang="en-US" sz="2000" b="1" dirty="0">
                <a:solidFill>
                  <a:srgbClr val="C9A227"/>
                </a:solidFill>
                <a:latin typeface="Calibri" pitchFamily="34" charset="0"/>
                <a:ea typeface="Calibri" pitchFamily="34" charset="-122"/>
                <a:cs typeface="Calibri" pitchFamily="34" charset="-120"/>
              </a:rPr>
              <a:t>+</a:t>
            </a:r>
            <a:endParaRPr lang="en-US" sz="2000" dirty="0"/>
          </a:p>
        </p:txBody>
      </p:sp>
      <p:sp>
        <p:nvSpPr>
          <p:cNvPr id="14" name="Shape 10"/>
          <p:cNvSpPr/>
          <p:nvPr/>
        </p:nvSpPr>
        <p:spPr>
          <a:xfrm>
            <a:off x="4754880" y="1417320"/>
            <a:ext cx="1828800" cy="914400"/>
          </a:xfrm>
          <a:prstGeom prst="roundRect">
            <a:avLst>
              <a:gd name="adj" fmla="val 8000"/>
            </a:avLst>
          </a:prstGeom>
          <a:solidFill>
            <a:srgbClr val="F7EFD9"/>
          </a:solidFill>
          <a:ln/>
        </p:spPr>
        <p:txBody>
          <a:bodyPr/>
          <a:lstStyle/>
          <a:p>
            <a:endParaRPr lang="en-IN"/>
          </a:p>
        </p:txBody>
      </p:sp>
      <p:sp>
        <p:nvSpPr>
          <p:cNvPr id="15" name="Shape 11"/>
          <p:cNvSpPr/>
          <p:nvPr/>
        </p:nvSpPr>
        <p:spPr>
          <a:xfrm>
            <a:off x="5458968" y="1527048"/>
            <a:ext cx="420624" cy="420624"/>
          </a:xfrm>
          <a:prstGeom prst="ellipse">
            <a:avLst/>
          </a:prstGeom>
          <a:solidFill>
            <a:srgbClr val="1B2A4A"/>
          </a:solidFill>
          <a:ln/>
        </p:spPr>
        <p:txBody>
          <a:bodyPr/>
          <a:lstStyle/>
          <a:p>
            <a:endParaRPr lang="en-IN"/>
          </a:p>
        </p:txBody>
      </p:sp>
      <p:pic>
        <p:nvPicPr>
          <p:cNvPr id="16" name="Image 2" descr="/home/claude/bookverse/icons/book.png"/>
          <p:cNvPicPr>
            <a:picLocks noChangeAspect="1"/>
          </p:cNvPicPr>
          <p:nvPr/>
        </p:nvPicPr>
        <p:blipFill>
          <a:blip r:embed="rId5"/>
          <a:stretch>
            <a:fillRect/>
          </a:stretch>
        </p:blipFill>
        <p:spPr>
          <a:xfrm>
            <a:off x="5526268" y="1594348"/>
            <a:ext cx="286024" cy="286024"/>
          </a:xfrm>
          <a:prstGeom prst="rect">
            <a:avLst/>
          </a:prstGeom>
        </p:spPr>
      </p:pic>
      <p:sp>
        <p:nvSpPr>
          <p:cNvPr id="17" name="Text 12"/>
          <p:cNvSpPr txBox="1"/>
          <p:nvPr/>
        </p:nvSpPr>
        <p:spPr>
          <a:xfrm>
            <a:off x="4800600" y="1984248"/>
            <a:ext cx="1737360" cy="292608"/>
          </a:xfrm>
          <a:prstGeom prst="rect">
            <a:avLst/>
          </a:prstGeom>
          <a:noFill/>
          <a:ln/>
        </p:spPr>
        <p:txBody>
          <a:bodyPr wrap="square" rtlCol="0" anchor="ctr"/>
          <a:lstStyle/>
          <a:p>
            <a:pPr marL="0" indent="0" algn="ctr">
              <a:buNone/>
            </a:pPr>
            <a:r>
              <a:rPr lang="en-US" sz="1100" b="1" dirty="0">
                <a:solidFill>
                  <a:srgbClr val="23262F"/>
                </a:solidFill>
                <a:latin typeface="Calibri" pitchFamily="34" charset="0"/>
                <a:ea typeface="Calibri" pitchFamily="34" charset="-122"/>
                <a:cs typeface="Calibri" pitchFamily="34" charset="-120"/>
              </a:rPr>
              <a:t>Books</a:t>
            </a:r>
            <a:endParaRPr lang="en-US" sz="1100" dirty="0"/>
          </a:p>
        </p:txBody>
      </p:sp>
      <p:sp>
        <p:nvSpPr>
          <p:cNvPr id="18" name="Text 13"/>
          <p:cNvSpPr txBox="1"/>
          <p:nvPr/>
        </p:nvSpPr>
        <p:spPr>
          <a:xfrm>
            <a:off x="6583680" y="1417320"/>
            <a:ext cx="457200" cy="914400"/>
          </a:xfrm>
          <a:prstGeom prst="rect">
            <a:avLst/>
          </a:prstGeom>
          <a:noFill/>
          <a:ln/>
        </p:spPr>
        <p:txBody>
          <a:bodyPr wrap="square" rtlCol="0" anchor="ctr"/>
          <a:lstStyle/>
          <a:p>
            <a:pPr marL="0" indent="0" algn="ctr">
              <a:buNone/>
            </a:pPr>
            <a:r>
              <a:rPr lang="en-US" sz="1800" b="1" dirty="0">
                <a:solidFill>
                  <a:srgbClr val="C9A227"/>
                </a:solidFill>
                <a:latin typeface="Calibri" pitchFamily="34" charset="0"/>
                <a:ea typeface="Calibri" pitchFamily="34" charset="-122"/>
                <a:cs typeface="Calibri" pitchFamily="34" charset="-120"/>
              </a:rPr>
              <a:t>→</a:t>
            </a:r>
            <a:endParaRPr lang="en-US" sz="1800" dirty="0"/>
          </a:p>
        </p:txBody>
      </p:sp>
      <p:sp>
        <p:nvSpPr>
          <p:cNvPr id="19" name="Shape 14"/>
          <p:cNvSpPr/>
          <p:nvPr/>
        </p:nvSpPr>
        <p:spPr>
          <a:xfrm>
            <a:off x="7040880" y="1417320"/>
            <a:ext cx="4693615" cy="914400"/>
          </a:xfrm>
          <a:prstGeom prst="roundRect">
            <a:avLst>
              <a:gd name="adj" fmla="val 8000"/>
            </a:avLst>
          </a:prstGeom>
          <a:solidFill>
            <a:srgbClr val="1B2A4A"/>
          </a:solidFill>
          <a:ln/>
        </p:spPr>
        <p:txBody>
          <a:bodyPr/>
          <a:lstStyle/>
          <a:p>
            <a:endParaRPr lang="en-IN"/>
          </a:p>
        </p:txBody>
      </p:sp>
      <p:sp>
        <p:nvSpPr>
          <p:cNvPr id="20" name="Text 15"/>
          <p:cNvSpPr txBox="1"/>
          <p:nvPr/>
        </p:nvSpPr>
        <p:spPr>
          <a:xfrm>
            <a:off x="7178040" y="1545336"/>
            <a:ext cx="4419295" cy="36576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Customer Behaviour Profile</a:t>
            </a:r>
            <a:endParaRPr lang="en-US" sz="1350" dirty="0"/>
          </a:p>
        </p:txBody>
      </p:sp>
      <p:sp>
        <p:nvSpPr>
          <p:cNvPr id="21" name="Text 16"/>
          <p:cNvSpPr txBox="1"/>
          <p:nvPr/>
        </p:nvSpPr>
        <p:spPr>
          <a:xfrm>
            <a:off x="7178040" y="1929384"/>
            <a:ext cx="4419295" cy="274320"/>
          </a:xfrm>
          <a:prstGeom prst="rect">
            <a:avLst/>
          </a:prstGeom>
          <a:noFill/>
          <a:ln/>
        </p:spPr>
        <p:txBody>
          <a:bodyPr wrap="square" rtlCol="0" anchor="ctr"/>
          <a:lstStyle/>
          <a:p>
            <a:pPr marL="0" indent="0" algn="ctr">
              <a:buNone/>
            </a:pPr>
            <a:r>
              <a:rPr lang="en-US" sz="1050" i="1" dirty="0">
                <a:solidFill>
                  <a:srgbClr val="9FB0CE"/>
                </a:solidFill>
                <a:latin typeface="Calibri" pitchFamily="34" charset="0"/>
                <a:ea typeface="Calibri" pitchFamily="34" charset="-122"/>
                <a:cs typeface="Calibri" pitchFamily="34" charset="-120"/>
              </a:rPr>
              <a:t>orders × spending × geography × genre mix</a:t>
            </a:r>
            <a:endParaRPr lang="en-US" sz="1050" dirty="0"/>
          </a:p>
        </p:txBody>
      </p:sp>
      <p:sp>
        <p:nvSpPr>
          <p:cNvPr id="22" name="Text 17"/>
          <p:cNvSpPr txBox="1"/>
          <p:nvPr/>
        </p:nvSpPr>
        <p:spPr>
          <a:xfrm>
            <a:off x="457200" y="2651760"/>
            <a:ext cx="5410048" cy="274320"/>
          </a:xfrm>
          <a:prstGeom prst="rect">
            <a:avLst/>
          </a:prstGeom>
          <a:noFill/>
          <a:ln/>
        </p:spPr>
        <p:txBody>
          <a:bodyPr wrap="square" rtlCol="0" anchor="ctr"/>
          <a:lstStyle/>
          <a:p>
            <a:pPr marL="0" indent="0">
              <a:buNone/>
            </a:pPr>
            <a:r>
              <a:rPr lang="en-US" sz="1150" b="1" kern="0" spc="100" dirty="0">
                <a:solidFill>
                  <a:srgbClr val="1B2A4A"/>
                </a:solidFill>
                <a:latin typeface="Calibri" pitchFamily="34" charset="0"/>
                <a:ea typeface="Calibri" pitchFamily="34" charset="-122"/>
                <a:cs typeface="Calibri" pitchFamily="34" charset="-120"/>
              </a:rPr>
              <a:t>WORKBENCH ANALYSIS COVERS</a:t>
            </a:r>
            <a:endParaRPr lang="en-US" sz="1150" dirty="0"/>
          </a:p>
        </p:txBody>
      </p:sp>
      <p:sp>
        <p:nvSpPr>
          <p:cNvPr id="23" name="Text 18"/>
          <p:cNvSpPr txBox="1"/>
          <p:nvPr/>
        </p:nvSpPr>
        <p:spPr>
          <a:xfrm>
            <a:off x="457200" y="2980944"/>
            <a:ext cx="5410048" cy="1874520"/>
          </a:xfrm>
          <a:prstGeom prst="rect">
            <a:avLst/>
          </a:prstGeom>
          <a:noFill/>
          <a:ln/>
        </p:spPr>
        <p:txBody>
          <a:bodyPr wrap="square" rtlCol="0" anchor="t"/>
          <a:lstStyle/>
          <a:p>
            <a:pPr marL="177800" indent="-177800" algn="just">
              <a:lnSpc>
                <a:spcPct val="115000"/>
              </a:lnSpc>
              <a:spcAft>
                <a:spcPts val="1000"/>
              </a:spcAft>
              <a:buSzPct val="100000"/>
              <a:buChar char="•"/>
            </a:pPr>
            <a:r>
              <a:rPr lang="en-US" sz="1350" dirty="0">
                <a:solidFill>
                  <a:srgbClr val="23262F"/>
                </a:solidFill>
                <a:latin typeface="Calibri" pitchFamily="34" charset="0"/>
                <a:ea typeface="Calibri" pitchFamily="34" charset="-122"/>
                <a:cs typeface="Calibri" pitchFamily="34" charset="-120"/>
              </a:rPr>
              <a:t>Number of orders placed per customer</a:t>
            </a:r>
            <a:endParaRPr lang="en-US" sz="1350" dirty="0"/>
          </a:p>
          <a:p>
            <a:pPr marL="177800" indent="-177800" algn="just">
              <a:lnSpc>
                <a:spcPct val="115000"/>
              </a:lnSpc>
              <a:spcAft>
                <a:spcPts val="1000"/>
              </a:spcAft>
              <a:buSzPct val="100000"/>
              <a:buChar char="•"/>
            </a:pPr>
            <a:r>
              <a:rPr lang="en-US" sz="1350" dirty="0">
                <a:solidFill>
                  <a:srgbClr val="23262F"/>
                </a:solidFill>
                <a:latin typeface="Calibri" pitchFamily="34" charset="0"/>
                <a:ea typeface="Calibri" pitchFamily="34" charset="-122"/>
                <a:cs typeface="Calibri" pitchFamily="34" charset="-120"/>
              </a:rPr>
              <a:t>Total spending per customer</a:t>
            </a:r>
            <a:endParaRPr lang="en-US" sz="1350" dirty="0"/>
          </a:p>
          <a:p>
            <a:pPr marL="177800" indent="-177800" algn="just">
              <a:lnSpc>
                <a:spcPct val="115000"/>
              </a:lnSpc>
              <a:spcAft>
                <a:spcPts val="1000"/>
              </a:spcAft>
              <a:buSzPct val="100000"/>
              <a:buChar char="•"/>
            </a:pPr>
            <a:r>
              <a:rPr lang="en-US" sz="1350" dirty="0">
                <a:solidFill>
                  <a:srgbClr val="23262F"/>
                </a:solidFill>
                <a:latin typeface="Calibri" pitchFamily="34" charset="0"/>
                <a:ea typeface="Calibri" pitchFamily="34" charset="-122"/>
                <a:cs typeface="Calibri" pitchFamily="34" charset="-120"/>
              </a:rPr>
              <a:t>Repeat customers - more than one order placed</a:t>
            </a:r>
            <a:endParaRPr lang="en-US" sz="1350" dirty="0"/>
          </a:p>
          <a:p>
            <a:pPr marL="177800" indent="-177800" algn="just">
              <a:lnSpc>
                <a:spcPct val="115000"/>
              </a:lnSpc>
              <a:spcAft>
                <a:spcPts val="1000"/>
              </a:spcAft>
              <a:buSzPct val="100000"/>
              <a:buChar char="•"/>
            </a:pPr>
            <a:r>
              <a:rPr lang="en-US" sz="1350" dirty="0">
                <a:solidFill>
                  <a:srgbClr val="23262F"/>
                </a:solidFill>
                <a:latin typeface="Calibri" pitchFamily="34" charset="0"/>
                <a:ea typeface="Calibri" pitchFamily="34" charset="-122"/>
                <a:cs typeface="Calibri" pitchFamily="34" charset="-120"/>
              </a:rPr>
              <a:t>Customer activity broken down by country</a:t>
            </a:r>
            <a:endParaRPr lang="en-US" sz="1350" dirty="0"/>
          </a:p>
        </p:txBody>
      </p:sp>
      <p:sp>
        <p:nvSpPr>
          <p:cNvPr id="24" name="Text 19"/>
          <p:cNvSpPr txBox="1"/>
          <p:nvPr/>
        </p:nvSpPr>
        <p:spPr>
          <a:xfrm>
            <a:off x="6287872" y="2980944"/>
            <a:ext cx="5410048" cy="1874520"/>
          </a:xfrm>
          <a:prstGeom prst="rect">
            <a:avLst/>
          </a:prstGeom>
          <a:noFill/>
          <a:ln/>
        </p:spPr>
        <p:txBody>
          <a:bodyPr wrap="square" rtlCol="0" anchor="t"/>
          <a:lstStyle/>
          <a:p>
            <a:pPr marL="177800" indent="-177800" algn="just">
              <a:lnSpc>
                <a:spcPct val="115000"/>
              </a:lnSpc>
              <a:spcAft>
                <a:spcPts val="1000"/>
              </a:spcAft>
              <a:buSzPct val="100000"/>
              <a:buChar char="•"/>
            </a:pPr>
            <a:r>
              <a:rPr lang="en-US" sz="1350" dirty="0">
                <a:solidFill>
                  <a:srgbClr val="23262F"/>
                </a:solidFill>
                <a:latin typeface="Calibri" pitchFamily="34" charset="0"/>
                <a:ea typeface="Calibri" pitchFamily="34" charset="-122"/>
                <a:cs typeface="Calibri" pitchFamily="34" charset="-120"/>
              </a:rPr>
              <a:t>Average spending per customer across the platform</a:t>
            </a:r>
            <a:endParaRPr lang="en-US" sz="1350" dirty="0"/>
          </a:p>
          <a:p>
            <a:pPr marL="177800" indent="-177800" algn="just">
              <a:lnSpc>
                <a:spcPct val="115000"/>
              </a:lnSpc>
              <a:spcAft>
                <a:spcPts val="1000"/>
              </a:spcAft>
              <a:buSzPct val="100000"/>
              <a:buChar char="•"/>
            </a:pPr>
            <a:r>
              <a:rPr lang="en-US" sz="1350" dirty="0">
                <a:solidFill>
                  <a:srgbClr val="23262F"/>
                </a:solidFill>
                <a:latin typeface="Calibri" pitchFamily="34" charset="0"/>
                <a:ea typeface="Calibri" pitchFamily="34" charset="-122"/>
                <a:cs typeface="Calibri" pitchFamily="34" charset="-120"/>
              </a:rPr>
              <a:t>Customers who purchased across multiple genres</a:t>
            </a:r>
            <a:endParaRPr lang="en-US" sz="1350" dirty="0"/>
          </a:p>
          <a:p>
            <a:pPr marL="177800" indent="-177800" algn="just">
              <a:lnSpc>
                <a:spcPct val="115000"/>
              </a:lnSpc>
              <a:spcAft>
                <a:spcPts val="1000"/>
              </a:spcAft>
              <a:buSzPct val="100000"/>
              <a:buChar char="•"/>
            </a:pPr>
            <a:r>
              <a:rPr lang="en-US" sz="1350" dirty="0">
                <a:solidFill>
                  <a:srgbClr val="23262F"/>
                </a:solidFill>
                <a:latin typeface="Calibri" pitchFamily="34" charset="0"/>
                <a:ea typeface="Calibri" pitchFamily="34" charset="-122"/>
                <a:cs typeface="Calibri" pitchFamily="34" charset="-120"/>
              </a:rPr>
              <a:t>Customer purchase timeline - first order to most recent order</a:t>
            </a:r>
            <a:endParaRPr lang="en-US" sz="1350" dirty="0"/>
          </a:p>
        </p:txBody>
      </p:sp>
      <p:sp>
        <p:nvSpPr>
          <p:cNvPr id="25" name="Text 20"/>
          <p:cNvSpPr txBox="1"/>
          <p:nvPr/>
        </p:nvSpPr>
        <p:spPr>
          <a:xfrm>
            <a:off x="457200" y="5074920"/>
            <a:ext cx="5486400" cy="274320"/>
          </a:xfrm>
          <a:prstGeom prst="rect">
            <a:avLst/>
          </a:prstGeom>
          <a:noFill/>
          <a:ln/>
        </p:spPr>
        <p:txBody>
          <a:bodyPr wrap="square" rtlCol="0" anchor="ctr"/>
          <a:lstStyle/>
          <a:p>
            <a:pPr marL="0" indent="0">
              <a:buNone/>
            </a:pPr>
            <a:r>
              <a:rPr lang="en-US" sz="1150" b="1" kern="0" spc="100" dirty="0">
                <a:solidFill>
                  <a:srgbClr val="1B2A4A"/>
                </a:solidFill>
                <a:latin typeface="Calibri" pitchFamily="34" charset="0"/>
                <a:ea typeface="Calibri" pitchFamily="34" charset="-122"/>
                <a:cs typeface="Calibri" pitchFamily="34" charset="-120"/>
              </a:rPr>
              <a:t>TYPICAL VISUAL PAIRINGS</a:t>
            </a:r>
            <a:endParaRPr lang="en-US" sz="1150" dirty="0"/>
          </a:p>
        </p:txBody>
      </p:sp>
      <p:sp>
        <p:nvSpPr>
          <p:cNvPr id="26" name="Shape 21"/>
          <p:cNvSpPr/>
          <p:nvPr/>
        </p:nvSpPr>
        <p:spPr>
          <a:xfrm>
            <a:off x="457200" y="5404104"/>
            <a:ext cx="2668448" cy="384048"/>
          </a:xfrm>
          <a:prstGeom prst="roundRect">
            <a:avLst>
              <a:gd name="adj" fmla="val 50000"/>
            </a:avLst>
          </a:prstGeom>
          <a:solidFill>
            <a:srgbClr val="F7EFD9"/>
          </a:solidFill>
          <a:ln/>
        </p:spPr>
        <p:txBody>
          <a:bodyPr/>
          <a:lstStyle/>
          <a:p>
            <a:endParaRPr lang="en-IN"/>
          </a:p>
        </p:txBody>
      </p:sp>
      <p:sp>
        <p:nvSpPr>
          <p:cNvPr id="27" name="Text 22"/>
          <p:cNvSpPr txBox="1"/>
          <p:nvPr/>
        </p:nvSpPr>
        <p:spPr>
          <a:xfrm>
            <a:off x="502920" y="5404104"/>
            <a:ext cx="2577008" cy="384048"/>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Customer → Orders</a:t>
            </a:r>
            <a:endParaRPr lang="en-US" sz="1150" dirty="0"/>
          </a:p>
        </p:txBody>
      </p:sp>
      <p:sp>
        <p:nvSpPr>
          <p:cNvPr id="28" name="Shape 23"/>
          <p:cNvSpPr/>
          <p:nvPr/>
        </p:nvSpPr>
        <p:spPr>
          <a:xfrm>
            <a:off x="3326816" y="5404104"/>
            <a:ext cx="2668448" cy="384048"/>
          </a:xfrm>
          <a:prstGeom prst="roundRect">
            <a:avLst>
              <a:gd name="adj" fmla="val 50000"/>
            </a:avLst>
          </a:prstGeom>
          <a:solidFill>
            <a:srgbClr val="F7EFD9"/>
          </a:solidFill>
          <a:ln/>
        </p:spPr>
        <p:txBody>
          <a:bodyPr/>
          <a:lstStyle/>
          <a:p>
            <a:endParaRPr lang="en-IN"/>
          </a:p>
        </p:txBody>
      </p:sp>
      <p:sp>
        <p:nvSpPr>
          <p:cNvPr id="29" name="Text 24"/>
          <p:cNvSpPr txBox="1"/>
          <p:nvPr/>
        </p:nvSpPr>
        <p:spPr>
          <a:xfrm>
            <a:off x="3372536" y="5404104"/>
            <a:ext cx="2577008" cy="384048"/>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Customer → Spending</a:t>
            </a:r>
            <a:endParaRPr lang="en-US" sz="1150" dirty="0"/>
          </a:p>
        </p:txBody>
      </p:sp>
      <p:sp>
        <p:nvSpPr>
          <p:cNvPr id="30" name="Shape 25"/>
          <p:cNvSpPr/>
          <p:nvPr/>
        </p:nvSpPr>
        <p:spPr>
          <a:xfrm>
            <a:off x="6196432" y="5404104"/>
            <a:ext cx="2668448" cy="384048"/>
          </a:xfrm>
          <a:prstGeom prst="roundRect">
            <a:avLst>
              <a:gd name="adj" fmla="val 50000"/>
            </a:avLst>
          </a:prstGeom>
          <a:solidFill>
            <a:srgbClr val="F7EFD9"/>
          </a:solidFill>
          <a:ln/>
        </p:spPr>
        <p:txBody>
          <a:bodyPr/>
          <a:lstStyle/>
          <a:p>
            <a:endParaRPr lang="en-IN"/>
          </a:p>
        </p:txBody>
      </p:sp>
      <p:sp>
        <p:nvSpPr>
          <p:cNvPr id="31" name="Text 26"/>
          <p:cNvSpPr txBox="1"/>
          <p:nvPr/>
        </p:nvSpPr>
        <p:spPr>
          <a:xfrm>
            <a:off x="6242152" y="5404104"/>
            <a:ext cx="2577008" cy="384048"/>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Country → Revenue</a:t>
            </a:r>
            <a:endParaRPr lang="en-US" sz="1150" dirty="0"/>
          </a:p>
        </p:txBody>
      </p:sp>
      <p:sp>
        <p:nvSpPr>
          <p:cNvPr id="32" name="Shape 27"/>
          <p:cNvSpPr/>
          <p:nvPr/>
        </p:nvSpPr>
        <p:spPr>
          <a:xfrm>
            <a:off x="9066047" y="5404104"/>
            <a:ext cx="2668448" cy="384048"/>
          </a:xfrm>
          <a:prstGeom prst="roundRect">
            <a:avLst>
              <a:gd name="adj" fmla="val 50000"/>
            </a:avLst>
          </a:prstGeom>
          <a:solidFill>
            <a:srgbClr val="F7EFD9"/>
          </a:solidFill>
          <a:ln/>
        </p:spPr>
        <p:txBody>
          <a:bodyPr/>
          <a:lstStyle/>
          <a:p>
            <a:endParaRPr lang="en-IN"/>
          </a:p>
        </p:txBody>
      </p:sp>
      <p:sp>
        <p:nvSpPr>
          <p:cNvPr id="33" name="Text 28"/>
          <p:cNvSpPr txBox="1"/>
          <p:nvPr/>
        </p:nvSpPr>
        <p:spPr>
          <a:xfrm>
            <a:off x="9111767" y="5404104"/>
            <a:ext cx="2577008" cy="384048"/>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Customer → Genres</a:t>
            </a:r>
            <a:endParaRPr lang="en-US" sz="1150" dirty="0"/>
          </a:p>
        </p:txBody>
      </p:sp>
      <p:sp>
        <p:nvSpPr>
          <p:cNvPr id="34" name="Text 29"/>
          <p:cNvSpPr txBox="1"/>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35" name="Text 30"/>
          <p:cNvSpPr txBox="1"/>
          <p:nvPr/>
        </p:nvSpPr>
        <p:spPr>
          <a:xfrm>
            <a:off x="10637215" y="6547104"/>
            <a:ext cx="1097280"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 / 19</a:t>
            </a:r>
            <a:endParaRPr lang="en-US" sz="9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10" presetClass="entr" presetSubtype="0" fill="hold"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00"/>
                                        <p:tgtEl>
                                          <p:spTgt spid="1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500"/>
                                        <p:tgtEl>
                                          <p:spTgt spid="2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500"/>
                                        <p:tgtEl>
                                          <p:spTgt spid="21"/>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500"/>
                                        <p:tgtEl>
                                          <p:spTgt spid="22"/>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grpId="0" nodeType="click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wipe(up)">
                                      <p:cBhvr>
                                        <p:cTn id="80" dur="500"/>
                                        <p:tgtEl>
                                          <p:spTgt spid="23"/>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grpId="0" nodeType="click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wipe(up)">
                                      <p:cBhvr>
                                        <p:cTn id="85" dur="500"/>
                                        <p:tgtEl>
                                          <p:spTgt spid="24"/>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500"/>
                                        <p:tgtEl>
                                          <p:spTgt spid="25"/>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500"/>
                                        <p:tgtEl>
                                          <p:spTgt spid="2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500"/>
                                        <p:tgtEl>
                                          <p:spTgt spid="27"/>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28"/>
                                        </p:tgtEl>
                                        <p:attrNameLst>
                                          <p:attrName>style.visibility</p:attrName>
                                        </p:attrNameLst>
                                      </p:cBhvr>
                                      <p:to>
                                        <p:strVal val="visible"/>
                                      </p:to>
                                    </p:set>
                                    <p:animEffect transition="in" filter="fade">
                                      <p:cBhvr>
                                        <p:cTn id="103" dur="500"/>
                                        <p:tgtEl>
                                          <p:spTgt spid="2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500"/>
                                        <p:tgtEl>
                                          <p:spTgt spid="29"/>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30"/>
                                        </p:tgtEl>
                                        <p:attrNameLst>
                                          <p:attrName>style.visibility</p:attrName>
                                        </p:attrNameLst>
                                      </p:cBhvr>
                                      <p:to>
                                        <p:strVal val="visible"/>
                                      </p:to>
                                    </p:set>
                                    <p:animEffect transition="in" filter="fade">
                                      <p:cBhvr>
                                        <p:cTn id="111" dur="500"/>
                                        <p:tgtEl>
                                          <p:spTgt spid="3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1"/>
                                        </p:tgtEl>
                                        <p:attrNameLst>
                                          <p:attrName>style.visibility</p:attrName>
                                        </p:attrNameLst>
                                      </p:cBhvr>
                                      <p:to>
                                        <p:strVal val="visible"/>
                                      </p:to>
                                    </p:set>
                                    <p:animEffect transition="in" filter="fade">
                                      <p:cBhvr>
                                        <p:cTn id="114" dur="500"/>
                                        <p:tgtEl>
                                          <p:spTgt spid="31"/>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32"/>
                                        </p:tgtEl>
                                        <p:attrNameLst>
                                          <p:attrName>style.visibility</p:attrName>
                                        </p:attrNameLst>
                                      </p:cBhvr>
                                      <p:to>
                                        <p:strVal val="visible"/>
                                      </p:to>
                                    </p:set>
                                    <p:animEffect transition="in" filter="fade">
                                      <p:cBhvr>
                                        <p:cTn id="119" dur="500"/>
                                        <p:tgtEl>
                                          <p:spTgt spid="3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297180" y="174531"/>
            <a:ext cx="11277295" cy="548640"/>
          </a:xfrm>
          <a:prstGeom prst="rect">
            <a:avLst/>
          </a:prstGeom>
          <a:noFill/>
          <a:ln/>
        </p:spPr>
        <p:txBody>
          <a:bodyPr wrap="square" rtlCol="0" anchor="ctr"/>
          <a:lstStyle/>
          <a:p>
            <a:pPr marL="0" indent="0">
              <a:buNone/>
            </a:pPr>
            <a:r>
              <a:rPr lang="en-US" sz="2900" b="1" dirty="0">
                <a:solidFill>
                  <a:srgbClr val="1B2A4A"/>
                </a:solidFill>
                <a:latin typeface="Cambria" pitchFamily="34" charset="0"/>
                <a:ea typeface="Cambria" pitchFamily="34" charset="-122"/>
                <a:cs typeface="Cambria" pitchFamily="34" charset="-120"/>
              </a:rPr>
              <a:t>Customer Analysis - Required Business Questions to Insights</a:t>
            </a:r>
            <a:endParaRPr lang="en-US" sz="2900" dirty="0"/>
          </a:p>
        </p:txBody>
      </p:sp>
      <p:sp>
        <p:nvSpPr>
          <p:cNvPr id="4" name="Shape 2"/>
          <p:cNvSpPr/>
          <p:nvPr/>
        </p:nvSpPr>
        <p:spPr>
          <a:xfrm>
            <a:off x="297180" y="844405"/>
            <a:ext cx="11380196" cy="601890"/>
          </a:xfrm>
          <a:prstGeom prst="roundRect">
            <a:avLst>
              <a:gd name="adj" fmla="val 6780"/>
            </a:avLst>
          </a:prstGeom>
          <a:solidFill>
            <a:srgbClr val="F1F1F5"/>
          </a:solidFill>
          <a:ln/>
          <a:effectLst>
            <a:outerShdw blurRad="76200" dist="25400" dir="5400000" algn="bl" rotWithShape="0">
              <a:srgbClr val="1B2A4A">
                <a:alpha val="12000"/>
              </a:srgbClr>
            </a:outerShdw>
          </a:effectLst>
        </p:spPr>
        <p:txBody>
          <a:bodyPr/>
          <a:lstStyle/>
          <a:p>
            <a:endParaRPr lang="en-IN"/>
          </a:p>
        </p:txBody>
      </p:sp>
      <p:sp>
        <p:nvSpPr>
          <p:cNvPr id="5" name="Shape 3"/>
          <p:cNvSpPr/>
          <p:nvPr/>
        </p:nvSpPr>
        <p:spPr>
          <a:xfrm>
            <a:off x="461772" y="972421"/>
            <a:ext cx="310896" cy="310896"/>
          </a:xfrm>
          <a:prstGeom prst="ellipse">
            <a:avLst/>
          </a:prstGeom>
          <a:solidFill>
            <a:srgbClr val="1B2A4A"/>
          </a:solidFill>
          <a:ln/>
        </p:spPr>
        <p:txBody>
          <a:bodyPr/>
          <a:lstStyle/>
          <a:p>
            <a:endParaRPr lang="en-IN"/>
          </a:p>
        </p:txBody>
      </p:sp>
      <p:pic>
        <p:nvPicPr>
          <p:cNvPr id="6" name="Image 0" descr="/home/claude/bookverse/icons/question.png"/>
          <p:cNvPicPr>
            <a:picLocks noChangeAspect="1"/>
          </p:cNvPicPr>
          <p:nvPr/>
        </p:nvPicPr>
        <p:blipFill>
          <a:blip r:embed="rId3"/>
          <a:stretch>
            <a:fillRect/>
          </a:stretch>
        </p:blipFill>
        <p:spPr>
          <a:xfrm>
            <a:off x="514624" y="1025273"/>
            <a:ext cx="205191" cy="205191"/>
          </a:xfrm>
          <a:prstGeom prst="rect">
            <a:avLst/>
          </a:prstGeom>
        </p:spPr>
      </p:pic>
      <p:sp>
        <p:nvSpPr>
          <p:cNvPr id="7" name="Text 4"/>
          <p:cNvSpPr txBox="1"/>
          <p:nvPr/>
        </p:nvSpPr>
        <p:spPr>
          <a:xfrm>
            <a:off x="461772" y="972421"/>
            <a:ext cx="310896" cy="310896"/>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932688" y="1043959"/>
            <a:ext cx="10481767" cy="402336"/>
          </a:xfrm>
          <a:prstGeom prst="rect">
            <a:avLst/>
          </a:prstGeom>
          <a:noFill/>
          <a:ln/>
        </p:spPr>
        <p:txBody>
          <a:bodyPr wrap="square" rtlCol="0" anchor="t"/>
          <a:lstStyle/>
          <a:p>
            <a:pPr marL="0" indent="0">
              <a:lnSpc>
                <a:spcPct val="103000"/>
              </a:lnSpc>
              <a:buNone/>
            </a:pPr>
            <a:r>
              <a:rPr lang="en-US" sz="1350" b="1" i="1" dirty="0">
                <a:solidFill>
                  <a:srgbClr val="1B2A4A"/>
                </a:solidFill>
                <a:latin typeface="Calibri" pitchFamily="34" charset="0"/>
                <a:ea typeface="Calibri" pitchFamily="34" charset="-122"/>
                <a:cs typeface="Calibri" pitchFamily="34" charset="-120"/>
              </a:rPr>
              <a:t>“Management wants to identify customers who have placed multiple orders. What information would you need?”</a:t>
            </a:r>
            <a:endParaRPr lang="en-US" sz="1350" b="1" dirty="0"/>
          </a:p>
        </p:txBody>
      </p:sp>
      <p:sp>
        <p:nvSpPr>
          <p:cNvPr id="56" name="Text 50"/>
          <p:cNvSpPr txBox="1"/>
          <p:nvPr/>
        </p:nvSpPr>
        <p:spPr>
          <a:xfrm>
            <a:off x="457200" y="6630204"/>
            <a:ext cx="3802075" cy="172931"/>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57" name="Text 51"/>
          <p:cNvSpPr txBox="1"/>
          <p:nvPr/>
        </p:nvSpPr>
        <p:spPr>
          <a:xfrm>
            <a:off x="11185235" y="6547104"/>
            <a:ext cx="549259"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 / 19</a:t>
            </a:r>
            <a:endParaRPr lang="en-US" sz="900" dirty="0">
              <a:solidFill>
                <a:srgbClr val="6B7280"/>
              </a:solidFill>
            </a:endParaRPr>
          </a:p>
        </p:txBody>
      </p:sp>
      <p:sp>
        <p:nvSpPr>
          <p:cNvPr id="60" name="TextBox 59">
            <a:extLst>
              <a:ext uri="{FF2B5EF4-FFF2-40B4-BE49-F238E27FC236}">
                <a16:creationId xmlns:a16="http://schemas.microsoft.com/office/drawing/2014/main" id="{5C4D6EA0-8115-BF49-439F-DAE4BB26952D}"/>
              </a:ext>
            </a:extLst>
          </p:cNvPr>
          <p:cNvSpPr txBox="1"/>
          <p:nvPr/>
        </p:nvSpPr>
        <p:spPr>
          <a:xfrm>
            <a:off x="297180" y="1511197"/>
            <a:ext cx="5615609" cy="269304"/>
          </a:xfrm>
          <a:prstGeom prst="rect">
            <a:avLst/>
          </a:prstGeom>
          <a:noFill/>
        </p:spPr>
        <p:txBody>
          <a:bodyPr wrap="square" rtlCol="0">
            <a:spAutoFit/>
          </a:bodyPr>
          <a:lstStyle/>
          <a:p>
            <a:r>
              <a:rPr lang="en-US" sz="1150" b="1" dirty="0">
                <a:solidFill>
                  <a:srgbClr val="1B2A4A"/>
                </a:solidFill>
              </a:rPr>
              <a:t>WORKBENCH ANALYSIS COVERS</a:t>
            </a:r>
            <a:endParaRPr lang="en-IN" sz="1150" dirty="0">
              <a:solidFill>
                <a:srgbClr val="1B2A4A"/>
              </a:solidFill>
            </a:endParaRPr>
          </a:p>
        </p:txBody>
      </p:sp>
      <p:sp>
        <p:nvSpPr>
          <p:cNvPr id="61" name="Rectangle: Rounded Corners 60">
            <a:extLst>
              <a:ext uri="{FF2B5EF4-FFF2-40B4-BE49-F238E27FC236}">
                <a16:creationId xmlns:a16="http://schemas.microsoft.com/office/drawing/2014/main" id="{FA201B80-10EC-49FA-6543-23173E596F9B}"/>
              </a:ext>
            </a:extLst>
          </p:cNvPr>
          <p:cNvSpPr/>
          <p:nvPr/>
        </p:nvSpPr>
        <p:spPr>
          <a:xfrm>
            <a:off x="297180" y="1845403"/>
            <a:ext cx="4909930" cy="3030281"/>
          </a:xfrm>
          <a:prstGeom prst="roundRect">
            <a:avLst>
              <a:gd name="adj" fmla="val 2333"/>
            </a:avLst>
          </a:prstGeom>
          <a:solidFill>
            <a:srgbClr val="121D33"/>
          </a:solidFill>
          <a:ln>
            <a:noFill/>
          </a:ln>
        </p:spPr>
        <p:txBody>
          <a:bodyPr/>
          <a:lstStyle/>
          <a:p>
            <a:endParaRPr lang="en-IN">
              <a:solidFill>
                <a:schemeClr val="tx1"/>
              </a:solidFill>
            </a:endParaRPr>
          </a:p>
        </p:txBody>
      </p:sp>
      <p:sp>
        <p:nvSpPr>
          <p:cNvPr id="62" name="TextBox 61">
            <a:extLst>
              <a:ext uri="{FF2B5EF4-FFF2-40B4-BE49-F238E27FC236}">
                <a16:creationId xmlns:a16="http://schemas.microsoft.com/office/drawing/2014/main" id="{CC712858-86B3-757B-6DE2-08E9C3B21C36}"/>
              </a:ext>
            </a:extLst>
          </p:cNvPr>
          <p:cNvSpPr txBox="1"/>
          <p:nvPr/>
        </p:nvSpPr>
        <p:spPr>
          <a:xfrm>
            <a:off x="514624" y="2238553"/>
            <a:ext cx="3802075" cy="2593018"/>
          </a:xfrm>
          <a:prstGeom prst="rect">
            <a:avLst/>
          </a:prstGeom>
          <a:noFill/>
        </p:spPr>
        <p:txBody>
          <a:bodyPr wrap="square" rtlCol="0">
            <a:spAutoFit/>
          </a:bodyPr>
          <a:lstStyle/>
          <a:p>
            <a:r>
              <a:rPr lang="en-US" sz="1250" b="1" dirty="0">
                <a:solidFill>
                  <a:srgbClr val="E8D48A"/>
                </a:solidFill>
                <a:latin typeface="Courier New" panose="02070309020205020404" pitchFamily="49" charset="0"/>
                <a:cs typeface="Courier New" panose="02070309020205020404" pitchFamily="49" charset="0"/>
              </a:rPr>
              <a:t>SELECT</a:t>
            </a:r>
          </a:p>
          <a:p>
            <a:r>
              <a:rPr lang="en-US" sz="1250" dirty="0">
                <a:solidFill>
                  <a:schemeClr val="bg1"/>
                </a:solidFill>
                <a:latin typeface="Courier New" panose="02070309020205020404" pitchFamily="49" charset="0"/>
                <a:cs typeface="Courier New" panose="02070309020205020404" pitchFamily="49" charset="0"/>
              </a:rPr>
              <a:t>    c.Customer_ID,</a:t>
            </a:r>
          </a:p>
          <a:p>
            <a:r>
              <a:rPr lang="en-US" sz="1250" dirty="0">
                <a:solidFill>
                  <a:schemeClr val="bg1"/>
                </a:solidFill>
                <a:latin typeface="Courier New" panose="02070309020205020404" pitchFamily="49" charset="0"/>
                <a:cs typeface="Courier New" panose="02070309020205020404" pitchFamily="49" charset="0"/>
              </a:rPr>
              <a:t>    c.Name,</a:t>
            </a:r>
          </a:p>
          <a:p>
            <a:r>
              <a:rPr lang="en-US" sz="1250" dirty="0">
                <a:solidFill>
                  <a:schemeClr val="bg1"/>
                </a:solidFill>
                <a:latin typeface="Courier New" panose="02070309020205020404" pitchFamily="49" charset="0"/>
                <a:cs typeface="Courier New" panose="02070309020205020404" pitchFamily="49" charset="0"/>
              </a:rPr>
              <a:t>   </a:t>
            </a:r>
            <a:r>
              <a:rPr lang="en-US" sz="1250" dirty="0">
                <a:solidFill>
                  <a:srgbClr val="E8D48A"/>
                </a:solidFill>
                <a:latin typeface="Courier New" panose="02070309020205020404" pitchFamily="49" charset="0"/>
                <a:cs typeface="Courier New" panose="02070309020205020404" pitchFamily="49" charset="0"/>
              </a:rPr>
              <a:t> </a:t>
            </a:r>
            <a:r>
              <a:rPr lang="en-US" sz="1250" b="1" dirty="0">
                <a:solidFill>
                  <a:srgbClr val="E8D48A"/>
                </a:solidFill>
                <a:latin typeface="Courier New" panose="02070309020205020404" pitchFamily="49" charset="0"/>
                <a:cs typeface="Courier New" panose="02070309020205020404" pitchFamily="49" charset="0"/>
              </a:rPr>
              <a:t>COUNT</a:t>
            </a:r>
            <a:r>
              <a:rPr lang="en-US" sz="1250" dirty="0">
                <a:solidFill>
                  <a:schemeClr val="bg1"/>
                </a:solidFill>
                <a:latin typeface="Courier New" panose="02070309020205020404" pitchFamily="49" charset="0"/>
                <a:cs typeface="Courier New" panose="02070309020205020404" pitchFamily="49" charset="0"/>
              </a:rPr>
              <a:t>(o.Order_ID) </a:t>
            </a:r>
            <a:r>
              <a:rPr lang="en-US" sz="1250" b="1" dirty="0">
                <a:solidFill>
                  <a:srgbClr val="E8D48A"/>
                </a:solidFill>
                <a:latin typeface="Courier New" panose="02070309020205020404" pitchFamily="49" charset="0"/>
                <a:cs typeface="Courier New" panose="02070309020205020404" pitchFamily="49" charset="0"/>
              </a:rPr>
              <a:t>AS</a:t>
            </a:r>
            <a:r>
              <a:rPr lang="en-US" sz="1250" dirty="0">
                <a:solidFill>
                  <a:schemeClr val="bg1"/>
                </a:solidFill>
                <a:latin typeface="Courier New" panose="02070309020205020404" pitchFamily="49" charset="0"/>
                <a:cs typeface="Courier New" panose="02070309020205020404" pitchFamily="49" charset="0"/>
              </a:rPr>
              <a:t> Number_of_Orders</a:t>
            </a:r>
          </a:p>
          <a:p>
            <a:r>
              <a:rPr lang="en-US" sz="1250" b="1" dirty="0">
                <a:solidFill>
                  <a:srgbClr val="E8D48A"/>
                </a:solidFill>
                <a:latin typeface="Courier New" panose="02070309020205020404" pitchFamily="49" charset="0"/>
                <a:cs typeface="Courier New" panose="02070309020205020404" pitchFamily="49" charset="0"/>
              </a:rPr>
              <a:t>FROM</a:t>
            </a:r>
            <a:r>
              <a:rPr lang="en-US" sz="1250" dirty="0">
                <a:solidFill>
                  <a:schemeClr val="bg1"/>
                </a:solidFill>
                <a:latin typeface="Courier New" panose="02070309020205020404" pitchFamily="49" charset="0"/>
                <a:cs typeface="Courier New" panose="02070309020205020404" pitchFamily="49" charset="0"/>
              </a:rPr>
              <a:t> Customers c</a:t>
            </a:r>
          </a:p>
          <a:p>
            <a:r>
              <a:rPr lang="en-US" sz="1250" b="1" dirty="0">
                <a:solidFill>
                  <a:srgbClr val="E8D48A"/>
                </a:solidFill>
                <a:latin typeface="Courier New" panose="02070309020205020404" pitchFamily="49" charset="0"/>
                <a:cs typeface="Courier New" panose="02070309020205020404" pitchFamily="49" charset="0"/>
              </a:rPr>
              <a:t>JOIN</a:t>
            </a:r>
            <a:r>
              <a:rPr lang="en-US" sz="1250" dirty="0">
                <a:solidFill>
                  <a:schemeClr val="bg1"/>
                </a:solidFill>
                <a:latin typeface="Courier New" panose="02070309020205020404" pitchFamily="49" charset="0"/>
                <a:cs typeface="Courier New" panose="02070309020205020404" pitchFamily="49" charset="0"/>
              </a:rPr>
              <a:t> Orders o</a:t>
            </a:r>
          </a:p>
          <a:p>
            <a:r>
              <a:rPr lang="en-US" sz="1250" dirty="0">
                <a:solidFill>
                  <a:schemeClr val="bg1"/>
                </a:solidFill>
                <a:latin typeface="Courier New" panose="02070309020205020404" pitchFamily="49" charset="0"/>
                <a:cs typeface="Courier New" panose="02070309020205020404" pitchFamily="49" charset="0"/>
              </a:rPr>
              <a:t>    </a:t>
            </a:r>
            <a:r>
              <a:rPr lang="en-US" sz="1250" b="1" dirty="0">
                <a:solidFill>
                  <a:srgbClr val="E8D48A"/>
                </a:solidFill>
                <a:latin typeface="Courier New" panose="02070309020205020404" pitchFamily="49" charset="0"/>
                <a:cs typeface="Courier New" panose="02070309020205020404" pitchFamily="49" charset="0"/>
              </a:rPr>
              <a:t>ON</a:t>
            </a:r>
            <a:r>
              <a:rPr lang="en-US" sz="1250" dirty="0">
                <a:solidFill>
                  <a:srgbClr val="E8D48A"/>
                </a:solidFill>
                <a:latin typeface="Courier New" panose="02070309020205020404" pitchFamily="49" charset="0"/>
                <a:cs typeface="Courier New" panose="02070309020205020404" pitchFamily="49" charset="0"/>
              </a:rPr>
              <a:t> </a:t>
            </a:r>
            <a:r>
              <a:rPr lang="en-US" sz="1250" dirty="0">
                <a:solidFill>
                  <a:schemeClr val="bg1"/>
                </a:solidFill>
                <a:latin typeface="Courier New" panose="02070309020205020404" pitchFamily="49" charset="0"/>
                <a:cs typeface="Courier New" panose="02070309020205020404" pitchFamily="49" charset="0"/>
              </a:rPr>
              <a:t>c.Customer_ID = o.Customer_ID</a:t>
            </a:r>
          </a:p>
          <a:p>
            <a:r>
              <a:rPr lang="en-US" sz="1250" b="1" dirty="0">
                <a:solidFill>
                  <a:srgbClr val="E8D48A"/>
                </a:solidFill>
                <a:latin typeface="Courier New" panose="02070309020205020404" pitchFamily="49" charset="0"/>
                <a:cs typeface="Courier New" panose="02070309020205020404" pitchFamily="49" charset="0"/>
              </a:rPr>
              <a:t>GROUP BY</a:t>
            </a:r>
          </a:p>
          <a:p>
            <a:r>
              <a:rPr lang="en-US" sz="1250" dirty="0">
                <a:solidFill>
                  <a:schemeClr val="bg1"/>
                </a:solidFill>
                <a:latin typeface="Courier New" panose="02070309020205020404" pitchFamily="49" charset="0"/>
                <a:cs typeface="Courier New" panose="02070309020205020404" pitchFamily="49" charset="0"/>
              </a:rPr>
              <a:t>    c.Customer_ID,</a:t>
            </a:r>
          </a:p>
          <a:p>
            <a:r>
              <a:rPr lang="en-US" sz="1250" dirty="0">
                <a:solidFill>
                  <a:schemeClr val="bg1"/>
                </a:solidFill>
                <a:latin typeface="Courier New" panose="02070309020205020404" pitchFamily="49" charset="0"/>
                <a:cs typeface="Courier New" panose="02070309020205020404" pitchFamily="49" charset="0"/>
              </a:rPr>
              <a:t>    c.Name</a:t>
            </a:r>
          </a:p>
          <a:p>
            <a:r>
              <a:rPr lang="en-US" sz="1250" b="1" dirty="0">
                <a:solidFill>
                  <a:srgbClr val="E8D48A"/>
                </a:solidFill>
                <a:latin typeface="Courier New" panose="02070309020205020404" pitchFamily="49" charset="0"/>
                <a:cs typeface="Courier New" panose="02070309020205020404" pitchFamily="49" charset="0"/>
              </a:rPr>
              <a:t>ORDER BY </a:t>
            </a:r>
            <a:r>
              <a:rPr lang="en-US" sz="1250" dirty="0">
                <a:solidFill>
                  <a:schemeClr val="bg1"/>
                </a:solidFill>
                <a:latin typeface="Courier New" panose="02070309020205020404" pitchFamily="49" charset="0"/>
                <a:cs typeface="Courier New" panose="02070309020205020404" pitchFamily="49" charset="0"/>
              </a:rPr>
              <a:t>Number_of_Orders </a:t>
            </a:r>
            <a:r>
              <a:rPr lang="en-US" sz="1250" b="1" dirty="0">
                <a:solidFill>
                  <a:srgbClr val="E8D48A"/>
                </a:solidFill>
                <a:latin typeface="Courier New" panose="02070309020205020404" pitchFamily="49" charset="0"/>
                <a:cs typeface="Courier New" panose="02070309020205020404" pitchFamily="49" charset="0"/>
              </a:rPr>
              <a:t>DESC</a:t>
            </a:r>
          </a:p>
          <a:p>
            <a:r>
              <a:rPr lang="en-US" sz="1250" b="1" dirty="0">
                <a:solidFill>
                  <a:srgbClr val="E8D48A"/>
                </a:solidFill>
                <a:latin typeface="Courier New" panose="02070309020205020404" pitchFamily="49" charset="0"/>
                <a:cs typeface="Courier New" panose="02070309020205020404" pitchFamily="49" charset="0"/>
              </a:rPr>
              <a:t>LIMIT </a:t>
            </a:r>
            <a:r>
              <a:rPr lang="en-US" sz="1250" dirty="0">
                <a:solidFill>
                  <a:schemeClr val="bg1"/>
                </a:solidFill>
                <a:latin typeface="Courier New" panose="02070309020205020404" pitchFamily="49" charset="0"/>
                <a:cs typeface="Courier New" panose="02070309020205020404" pitchFamily="49" charset="0"/>
              </a:rPr>
              <a:t>10;</a:t>
            </a:r>
            <a:endParaRPr lang="en-IN" sz="1250" dirty="0">
              <a:solidFill>
                <a:schemeClr val="bg1"/>
              </a:solidFill>
              <a:latin typeface="Courier New" panose="02070309020205020404" pitchFamily="49" charset="0"/>
              <a:cs typeface="Courier New" panose="02070309020205020404" pitchFamily="49" charset="0"/>
            </a:endParaRPr>
          </a:p>
        </p:txBody>
      </p:sp>
      <p:pic>
        <p:nvPicPr>
          <p:cNvPr id="64" name="Picture 63">
            <a:extLst>
              <a:ext uri="{FF2B5EF4-FFF2-40B4-BE49-F238E27FC236}">
                <a16:creationId xmlns:a16="http://schemas.microsoft.com/office/drawing/2014/main" id="{CDB628B4-BC23-E0AE-73D2-2B3A113A3A24}"/>
              </a:ext>
            </a:extLst>
          </p:cNvPr>
          <p:cNvPicPr>
            <a:picLocks noChangeAspect="1"/>
          </p:cNvPicPr>
          <p:nvPr/>
        </p:nvPicPr>
        <p:blipFill>
          <a:blip r:embed="rId4"/>
          <a:stretch>
            <a:fillRect/>
          </a:stretch>
        </p:blipFill>
        <p:spPr>
          <a:xfrm>
            <a:off x="5620624" y="1711354"/>
            <a:ext cx="5953851" cy="303028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65" name="Rectangle: Rounded Corners 64">
            <a:extLst>
              <a:ext uri="{FF2B5EF4-FFF2-40B4-BE49-F238E27FC236}">
                <a16:creationId xmlns:a16="http://schemas.microsoft.com/office/drawing/2014/main" id="{7283A758-FA46-84E5-46C5-537C4342A09D}"/>
              </a:ext>
            </a:extLst>
          </p:cNvPr>
          <p:cNvSpPr/>
          <p:nvPr/>
        </p:nvSpPr>
        <p:spPr>
          <a:xfrm>
            <a:off x="297180" y="4958784"/>
            <a:ext cx="11437315" cy="1588320"/>
          </a:xfrm>
          <a:prstGeom prst="roundRect">
            <a:avLst>
              <a:gd name="adj" fmla="val 5216"/>
            </a:avLst>
          </a:prstGeom>
          <a:solidFill>
            <a:srgbClr val="E7EAF2"/>
          </a:solidFill>
          <a:ln w="952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TextBox 65">
            <a:extLst>
              <a:ext uri="{FF2B5EF4-FFF2-40B4-BE49-F238E27FC236}">
                <a16:creationId xmlns:a16="http://schemas.microsoft.com/office/drawing/2014/main" id="{CCBEC607-60B7-04AF-5D79-65202985A7B3}"/>
              </a:ext>
            </a:extLst>
          </p:cNvPr>
          <p:cNvSpPr txBox="1"/>
          <p:nvPr/>
        </p:nvSpPr>
        <p:spPr>
          <a:xfrm>
            <a:off x="377189" y="4958784"/>
            <a:ext cx="11117275" cy="1754326"/>
          </a:xfrm>
          <a:prstGeom prst="rect">
            <a:avLst/>
          </a:prstGeom>
          <a:noFill/>
        </p:spPr>
        <p:txBody>
          <a:bodyPr wrap="square" rtlCol="0">
            <a:spAutoFit/>
          </a:bodyPr>
          <a:lstStyle/>
          <a:p>
            <a:pPr marL="285750" indent="-285750" algn="just">
              <a:buFont typeface="Arial" panose="020B0604020202020204" pitchFamily="34" charset="0"/>
              <a:buChar char="•"/>
            </a:pPr>
            <a:r>
              <a:rPr lang="en-US" sz="1350" b="1" dirty="0">
                <a:solidFill>
                  <a:srgbClr val="1B2A4A"/>
                </a:solidFill>
                <a:latin typeface="Cambria" panose="02040503050406030204" pitchFamily="18" charset="0"/>
                <a:ea typeface="Cambria" panose="02040503050406030204" pitchFamily="18" charset="0"/>
              </a:rPr>
              <a:t>Top Customer Value</a:t>
            </a:r>
            <a:r>
              <a:rPr lang="en-US" sz="1350" dirty="0"/>
              <a:t>: </a:t>
            </a:r>
            <a:r>
              <a:rPr lang="en-US" sz="1350" dirty="0">
                <a:solidFill>
                  <a:srgbClr val="1B2A4A"/>
                </a:solidFill>
                <a:latin typeface="Cambria" panose="02040503050406030204" pitchFamily="18" charset="0"/>
                <a:ea typeface="Cambria" panose="02040503050406030204" pitchFamily="18" charset="0"/>
              </a:rPr>
              <a:t>Carrie Perez (ID: 364)</a:t>
            </a:r>
            <a:r>
              <a:rPr lang="en-US" sz="1350" dirty="0"/>
              <a:t> is the most active customer with </a:t>
            </a:r>
            <a:r>
              <a:rPr lang="en-US" sz="1350" dirty="0">
                <a:solidFill>
                  <a:srgbClr val="1B2A4A"/>
                </a:solidFill>
                <a:latin typeface="Cambria" panose="02040503050406030204" pitchFamily="18" charset="0"/>
                <a:ea typeface="Cambria" panose="02040503050406030204" pitchFamily="18" charset="0"/>
              </a:rPr>
              <a:t>6 total orders</a:t>
            </a:r>
            <a:r>
              <a:rPr lang="en-US" sz="1350" dirty="0"/>
              <a:t>.</a:t>
            </a:r>
          </a:p>
          <a:p>
            <a:pPr marL="285750" indent="-285750" algn="just">
              <a:buFont typeface="Arial" panose="020B0604020202020204" pitchFamily="34" charset="0"/>
              <a:buChar char="•"/>
            </a:pPr>
            <a:endParaRPr lang="en-US" sz="1350" dirty="0"/>
          </a:p>
          <a:p>
            <a:pPr marL="285750" indent="-285750" algn="just">
              <a:buFont typeface="Arial" panose="020B0604020202020204" pitchFamily="34" charset="0"/>
              <a:buChar char="•"/>
            </a:pPr>
            <a:r>
              <a:rPr lang="en-US" sz="1350" b="1" dirty="0">
                <a:solidFill>
                  <a:srgbClr val="1B2A4A"/>
                </a:solidFill>
                <a:latin typeface="Cambria" panose="02040503050406030204" pitchFamily="18" charset="0"/>
                <a:ea typeface="Cambria" panose="02040503050406030204" pitchFamily="18" charset="0"/>
              </a:rPr>
              <a:t>High-Value Loyalty Segment</a:t>
            </a:r>
            <a:r>
              <a:rPr lang="en-US" sz="1350" dirty="0"/>
              <a:t>: There is a strong cluster of highly engaged repeat buyers. </a:t>
            </a:r>
            <a:r>
              <a:rPr lang="en-US" sz="1350" dirty="0">
                <a:solidFill>
                  <a:srgbClr val="1B2A4A"/>
                </a:solidFill>
                <a:latin typeface="Cambria" panose="02040503050406030204" pitchFamily="18" charset="0"/>
                <a:ea typeface="Cambria" panose="02040503050406030204" pitchFamily="18" charset="0"/>
              </a:rPr>
              <a:t>Anthony Young (ID: 474)</a:t>
            </a:r>
            <a:r>
              <a:rPr lang="en-US" sz="1350" dirty="0"/>
              <a:t> follows closely with </a:t>
            </a:r>
            <a:r>
              <a:rPr lang="en-US" sz="1350" dirty="0">
                <a:solidFill>
                  <a:srgbClr val="1B2A4A"/>
                </a:solidFill>
                <a:latin typeface="Cambria" panose="02040503050406030204" pitchFamily="18" charset="0"/>
                <a:ea typeface="Cambria" panose="02040503050406030204" pitchFamily="18" charset="0"/>
              </a:rPr>
              <a:t>5 orders</a:t>
            </a:r>
            <a:r>
              <a:rPr lang="en-US" sz="1350" dirty="0"/>
              <a:t>, while </a:t>
            </a:r>
            <a:r>
              <a:rPr lang="en-US" sz="1350" dirty="0">
                <a:solidFill>
                  <a:srgbClr val="1B2A4A"/>
                </a:solidFill>
                <a:latin typeface="Cambria" panose="02040503050406030204" pitchFamily="18" charset="0"/>
                <a:ea typeface="Cambria" panose="02040503050406030204" pitchFamily="18" charset="0"/>
              </a:rPr>
              <a:t>8 additional customers </a:t>
            </a:r>
            <a:r>
              <a:rPr lang="en-US" sz="1350" dirty="0"/>
              <a:t>are tied with exactly </a:t>
            </a:r>
            <a:r>
              <a:rPr lang="en-US" sz="1350" dirty="0">
                <a:solidFill>
                  <a:srgbClr val="1B2A4A"/>
                </a:solidFill>
                <a:latin typeface="Cambria" panose="02040503050406030204" pitchFamily="18" charset="0"/>
                <a:ea typeface="Cambria" panose="02040503050406030204" pitchFamily="18" charset="0"/>
              </a:rPr>
              <a:t>4 orders </a:t>
            </a:r>
            <a:r>
              <a:rPr lang="en-US" sz="1350" dirty="0"/>
              <a:t>each.</a:t>
            </a:r>
          </a:p>
          <a:p>
            <a:pPr marL="285750" indent="-285750" algn="just">
              <a:buFont typeface="Arial" panose="020B0604020202020204" pitchFamily="34" charset="0"/>
              <a:buChar char="•"/>
            </a:pPr>
            <a:endParaRPr lang="en-US" sz="1350" dirty="0"/>
          </a:p>
          <a:p>
            <a:pPr marL="285750" indent="-285750" algn="just">
              <a:buFont typeface="Arial" panose="020B0604020202020204" pitchFamily="34" charset="0"/>
              <a:buChar char="•"/>
            </a:pPr>
            <a:r>
              <a:rPr lang="en-US" sz="1350" b="1" dirty="0">
                <a:solidFill>
                  <a:srgbClr val="1B2A4A"/>
                </a:solidFill>
                <a:latin typeface="Cambria" panose="02040503050406030204" pitchFamily="18" charset="0"/>
                <a:ea typeface="Cambria" panose="02040503050406030204" pitchFamily="18" charset="0"/>
              </a:rPr>
              <a:t>Targeted Marketing Opportunity</a:t>
            </a:r>
            <a:r>
              <a:rPr lang="en-US" sz="1350" dirty="0"/>
              <a:t>: These 10 individuals represent a proven segment of loyal customers. Management can target this specific group for exclusive loyalty rewards, early product releases, or feedback surveys.</a:t>
            </a:r>
          </a:p>
          <a:p>
            <a:pPr marL="285750" indent="-285750" algn="just">
              <a:buFont typeface="Arial" panose="020B0604020202020204" pitchFamily="34" charset="0"/>
              <a:buChar char="•"/>
            </a:pPr>
            <a:endParaRPr lang="en-IN" sz="1350" dirty="0"/>
          </a:p>
        </p:txBody>
      </p:sp>
      <p:sp>
        <p:nvSpPr>
          <p:cNvPr id="2" name="TextBox 1">
            <a:extLst>
              <a:ext uri="{FF2B5EF4-FFF2-40B4-BE49-F238E27FC236}">
                <a16:creationId xmlns:a16="http://schemas.microsoft.com/office/drawing/2014/main" id="{36FEF0A0-84DD-FD5A-1EED-1531E1190917}"/>
              </a:ext>
            </a:extLst>
          </p:cNvPr>
          <p:cNvSpPr txBox="1"/>
          <p:nvPr/>
        </p:nvSpPr>
        <p:spPr>
          <a:xfrm>
            <a:off x="461772" y="1940525"/>
            <a:ext cx="3727051" cy="253916"/>
          </a:xfrm>
          <a:prstGeom prst="rect">
            <a:avLst/>
          </a:prstGeom>
          <a:noFill/>
        </p:spPr>
        <p:txBody>
          <a:bodyPr wrap="square" rtlCol="0">
            <a:spAutoFit/>
          </a:bodyPr>
          <a:lstStyle/>
          <a:p>
            <a:r>
              <a:rPr lang="en-US" sz="1050" b="1" kern="0" spc="100" dirty="0">
                <a:solidFill>
                  <a:srgbClr val="C9A227"/>
                </a:solidFill>
                <a:latin typeface="Calibri" pitchFamily="34" charset="0"/>
                <a:ea typeface="Calibri" pitchFamily="34" charset="-122"/>
                <a:cs typeface="Calibri" pitchFamily="34" charset="-120"/>
              </a:rPr>
              <a:t>REPRESENTATIVE QUERY - ORDERS BY CUSTOMERS</a:t>
            </a:r>
            <a:endParaRPr lang="en-US" sz="105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0-#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0"/>
                                        </p:tgtEl>
                                        <p:attrNameLst>
                                          <p:attrName>style.visibility</p:attrName>
                                        </p:attrNameLst>
                                      </p:cBhvr>
                                      <p:to>
                                        <p:strVal val="visible"/>
                                      </p:to>
                                    </p:set>
                                    <p:animEffect transition="in" filter="fade">
                                      <p:cBhvr>
                                        <p:cTn id="29" dur="500"/>
                                        <p:tgtEl>
                                          <p:spTgt spid="60"/>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61"/>
                                        </p:tgtEl>
                                        <p:attrNameLst>
                                          <p:attrName>style.visibility</p:attrName>
                                        </p:attrNameLst>
                                      </p:cBhvr>
                                      <p:to>
                                        <p:strVal val="visible"/>
                                      </p:to>
                                    </p:set>
                                    <p:anim calcmode="lin" valueType="num">
                                      <p:cBhvr additive="base">
                                        <p:cTn id="34" dur="500" fill="hold"/>
                                        <p:tgtEl>
                                          <p:spTgt spid="61"/>
                                        </p:tgtEl>
                                        <p:attrNameLst>
                                          <p:attrName>ppt_x</p:attrName>
                                        </p:attrNameLst>
                                      </p:cBhvr>
                                      <p:tavLst>
                                        <p:tav tm="0">
                                          <p:val>
                                            <p:strVal val="0-#ppt_w/2"/>
                                          </p:val>
                                        </p:tav>
                                        <p:tav tm="100000">
                                          <p:val>
                                            <p:strVal val="#ppt_x"/>
                                          </p:val>
                                        </p:tav>
                                      </p:tavLst>
                                    </p:anim>
                                    <p:anim calcmode="lin" valueType="num">
                                      <p:cBhvr additive="base">
                                        <p:cTn id="35" dur="500" fill="hold"/>
                                        <p:tgtEl>
                                          <p:spTgt spid="61"/>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0"/>
                                  </p:stCondLst>
                                  <p:childTnLst>
                                    <p:set>
                                      <p:cBhvr>
                                        <p:cTn id="37" dur="1" fill="hold">
                                          <p:stCondLst>
                                            <p:cond delay="0"/>
                                          </p:stCondLst>
                                        </p:cTn>
                                        <p:tgtEl>
                                          <p:spTgt spid="62"/>
                                        </p:tgtEl>
                                        <p:attrNameLst>
                                          <p:attrName>style.visibility</p:attrName>
                                        </p:attrNameLst>
                                      </p:cBhvr>
                                      <p:to>
                                        <p:strVal val="visible"/>
                                      </p:to>
                                    </p:set>
                                    <p:anim calcmode="lin" valueType="num">
                                      <p:cBhvr additive="base">
                                        <p:cTn id="38" dur="500" fill="hold"/>
                                        <p:tgtEl>
                                          <p:spTgt spid="62"/>
                                        </p:tgtEl>
                                        <p:attrNameLst>
                                          <p:attrName>ppt_x</p:attrName>
                                        </p:attrNameLst>
                                      </p:cBhvr>
                                      <p:tavLst>
                                        <p:tav tm="0">
                                          <p:val>
                                            <p:strVal val="0-#ppt_w/2"/>
                                          </p:val>
                                        </p:tav>
                                        <p:tav tm="100000">
                                          <p:val>
                                            <p:strVal val="#ppt_x"/>
                                          </p:val>
                                        </p:tav>
                                      </p:tavLst>
                                    </p:anim>
                                    <p:anim calcmode="lin" valueType="num">
                                      <p:cBhvr additive="base">
                                        <p:cTn id="39"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nodeType="clickEffect">
                                  <p:stCondLst>
                                    <p:cond delay="0"/>
                                  </p:stCondLst>
                                  <p:childTnLst>
                                    <p:set>
                                      <p:cBhvr>
                                        <p:cTn id="43" dur="1" fill="hold">
                                          <p:stCondLst>
                                            <p:cond delay="0"/>
                                          </p:stCondLst>
                                        </p:cTn>
                                        <p:tgtEl>
                                          <p:spTgt spid="64"/>
                                        </p:tgtEl>
                                        <p:attrNameLst>
                                          <p:attrName>style.visibility</p:attrName>
                                        </p:attrNameLst>
                                      </p:cBhvr>
                                      <p:to>
                                        <p:strVal val="visible"/>
                                      </p:to>
                                    </p:set>
                                    <p:anim calcmode="lin" valueType="num">
                                      <p:cBhvr additive="base">
                                        <p:cTn id="44" dur="500" fill="hold"/>
                                        <p:tgtEl>
                                          <p:spTgt spid="64"/>
                                        </p:tgtEl>
                                        <p:attrNameLst>
                                          <p:attrName>ppt_x</p:attrName>
                                        </p:attrNameLst>
                                      </p:cBhvr>
                                      <p:tavLst>
                                        <p:tav tm="0">
                                          <p:val>
                                            <p:strVal val="1+#ppt_w/2"/>
                                          </p:val>
                                        </p:tav>
                                        <p:tav tm="100000">
                                          <p:val>
                                            <p:strVal val="#ppt_x"/>
                                          </p:val>
                                        </p:tav>
                                      </p:tavLst>
                                    </p:anim>
                                    <p:anim calcmode="lin" valueType="num">
                                      <p:cBhvr additive="base">
                                        <p:cTn id="45" dur="500" fill="hold"/>
                                        <p:tgtEl>
                                          <p:spTgt spid="64"/>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56"/>
                                        </p:tgtEl>
                                        <p:attrNameLst>
                                          <p:attrName>style.visibility</p:attrName>
                                        </p:attrNameLst>
                                      </p:cBhvr>
                                      <p:to>
                                        <p:strVal val="visible"/>
                                      </p:to>
                                    </p:set>
                                    <p:anim calcmode="lin" valueType="num">
                                      <p:cBhvr additive="base">
                                        <p:cTn id="50" dur="500" fill="hold"/>
                                        <p:tgtEl>
                                          <p:spTgt spid="56"/>
                                        </p:tgtEl>
                                        <p:attrNameLst>
                                          <p:attrName>ppt_x</p:attrName>
                                        </p:attrNameLst>
                                      </p:cBhvr>
                                      <p:tavLst>
                                        <p:tav tm="0">
                                          <p:val>
                                            <p:strVal val="#ppt_x"/>
                                          </p:val>
                                        </p:tav>
                                        <p:tav tm="100000">
                                          <p:val>
                                            <p:strVal val="#ppt_x"/>
                                          </p:val>
                                        </p:tav>
                                      </p:tavLst>
                                    </p:anim>
                                    <p:anim calcmode="lin" valueType="num">
                                      <p:cBhvr additive="base">
                                        <p:cTn id="51" dur="500" fill="hold"/>
                                        <p:tgtEl>
                                          <p:spTgt spid="56"/>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57"/>
                                        </p:tgtEl>
                                        <p:attrNameLst>
                                          <p:attrName>style.visibility</p:attrName>
                                        </p:attrNameLst>
                                      </p:cBhvr>
                                      <p:to>
                                        <p:strVal val="visible"/>
                                      </p:to>
                                    </p:set>
                                    <p:anim calcmode="lin" valueType="num">
                                      <p:cBhvr additive="base">
                                        <p:cTn id="54" dur="500" fill="hold"/>
                                        <p:tgtEl>
                                          <p:spTgt spid="57"/>
                                        </p:tgtEl>
                                        <p:attrNameLst>
                                          <p:attrName>ppt_x</p:attrName>
                                        </p:attrNameLst>
                                      </p:cBhvr>
                                      <p:tavLst>
                                        <p:tav tm="0">
                                          <p:val>
                                            <p:strVal val="#ppt_x"/>
                                          </p:val>
                                        </p:tav>
                                        <p:tav tm="100000">
                                          <p:val>
                                            <p:strVal val="#ppt_x"/>
                                          </p:val>
                                        </p:tav>
                                      </p:tavLst>
                                    </p:anim>
                                    <p:anim calcmode="lin" valueType="num">
                                      <p:cBhvr additive="base">
                                        <p:cTn id="55" dur="500" fill="hold"/>
                                        <p:tgtEl>
                                          <p:spTgt spid="57"/>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65"/>
                                        </p:tgtEl>
                                        <p:attrNameLst>
                                          <p:attrName>style.visibility</p:attrName>
                                        </p:attrNameLst>
                                      </p:cBhvr>
                                      <p:to>
                                        <p:strVal val="visible"/>
                                      </p:to>
                                    </p:set>
                                    <p:anim calcmode="lin" valueType="num">
                                      <p:cBhvr additive="base">
                                        <p:cTn id="58" dur="500" fill="hold"/>
                                        <p:tgtEl>
                                          <p:spTgt spid="65"/>
                                        </p:tgtEl>
                                        <p:attrNameLst>
                                          <p:attrName>ppt_x</p:attrName>
                                        </p:attrNameLst>
                                      </p:cBhvr>
                                      <p:tavLst>
                                        <p:tav tm="0">
                                          <p:val>
                                            <p:strVal val="#ppt_x"/>
                                          </p:val>
                                        </p:tav>
                                        <p:tav tm="100000">
                                          <p:val>
                                            <p:strVal val="#ppt_x"/>
                                          </p:val>
                                        </p:tav>
                                      </p:tavLst>
                                    </p:anim>
                                    <p:anim calcmode="lin" valueType="num">
                                      <p:cBhvr additive="base">
                                        <p:cTn id="59" dur="500" fill="hold"/>
                                        <p:tgtEl>
                                          <p:spTgt spid="65"/>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66"/>
                                        </p:tgtEl>
                                        <p:attrNameLst>
                                          <p:attrName>style.visibility</p:attrName>
                                        </p:attrNameLst>
                                      </p:cBhvr>
                                      <p:to>
                                        <p:strVal val="visible"/>
                                      </p:to>
                                    </p:set>
                                    <p:anim calcmode="lin" valueType="num">
                                      <p:cBhvr additive="base">
                                        <p:cTn id="62" dur="500" fill="hold"/>
                                        <p:tgtEl>
                                          <p:spTgt spid="66"/>
                                        </p:tgtEl>
                                        <p:attrNameLst>
                                          <p:attrName>ppt_x</p:attrName>
                                        </p:attrNameLst>
                                      </p:cBhvr>
                                      <p:tavLst>
                                        <p:tav tm="0">
                                          <p:val>
                                            <p:strVal val="#ppt_x"/>
                                          </p:val>
                                        </p:tav>
                                        <p:tav tm="100000">
                                          <p:val>
                                            <p:strVal val="#ppt_x"/>
                                          </p:val>
                                        </p:tav>
                                      </p:tavLst>
                                    </p:anim>
                                    <p:anim calcmode="lin" valueType="num">
                                      <p:cBhvr additive="base">
                                        <p:cTn id="63"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56" grpId="0" animBg="1"/>
      <p:bldP spid="57" grpId="0" animBg="1"/>
      <p:bldP spid="60" grpId="0"/>
      <p:bldP spid="61" grpId="0" animBg="1"/>
      <p:bldP spid="62" grpId="0"/>
      <p:bldP spid="65" grpId="0" animBg="1"/>
      <p:bldP spid="6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26"/>
          <p:cNvSpPr/>
          <p:nvPr/>
        </p:nvSpPr>
        <p:spPr>
          <a:xfrm>
            <a:off x="457352" y="316860"/>
            <a:ext cx="11395014" cy="632374"/>
          </a:xfrm>
          <a:prstGeom prst="roundRect">
            <a:avLst>
              <a:gd name="adj" fmla="val 6780"/>
            </a:avLst>
          </a:prstGeom>
          <a:solidFill>
            <a:srgbClr val="F1F1F5"/>
          </a:solidFill>
          <a:ln/>
          <a:effectLst>
            <a:outerShdw blurRad="76200" dist="25400" dir="5400000" algn="bl" rotWithShape="0">
              <a:srgbClr val="1B2A4A">
                <a:alpha val="12000"/>
              </a:srgbClr>
            </a:outerShdw>
          </a:effectLst>
        </p:spPr>
        <p:txBody>
          <a:bodyPr/>
          <a:lstStyle/>
          <a:p>
            <a:endParaRPr lang="en-IN"/>
          </a:p>
        </p:txBody>
      </p:sp>
      <p:sp>
        <p:nvSpPr>
          <p:cNvPr id="31" name="Shape 27"/>
          <p:cNvSpPr/>
          <p:nvPr/>
        </p:nvSpPr>
        <p:spPr>
          <a:xfrm>
            <a:off x="621944" y="444876"/>
            <a:ext cx="310896" cy="310896"/>
          </a:xfrm>
          <a:prstGeom prst="ellipse">
            <a:avLst/>
          </a:prstGeom>
          <a:solidFill>
            <a:srgbClr val="1B2A4A"/>
          </a:solidFill>
          <a:ln/>
        </p:spPr>
        <p:txBody>
          <a:bodyPr/>
          <a:lstStyle/>
          <a:p>
            <a:endParaRPr lang="en-IN"/>
          </a:p>
        </p:txBody>
      </p:sp>
      <p:pic>
        <p:nvPicPr>
          <p:cNvPr id="32" name="Image 2" descr="/home/claude/bookverse/icons/question.png"/>
          <p:cNvPicPr>
            <a:picLocks noChangeAspect="1"/>
          </p:cNvPicPr>
          <p:nvPr/>
        </p:nvPicPr>
        <p:blipFill>
          <a:blip r:embed="rId2"/>
          <a:stretch>
            <a:fillRect/>
          </a:stretch>
        </p:blipFill>
        <p:spPr>
          <a:xfrm>
            <a:off x="674796" y="497728"/>
            <a:ext cx="205191" cy="205191"/>
          </a:xfrm>
          <a:prstGeom prst="rect">
            <a:avLst/>
          </a:prstGeom>
        </p:spPr>
      </p:pic>
      <p:sp>
        <p:nvSpPr>
          <p:cNvPr id="33" name="Text 28"/>
          <p:cNvSpPr txBox="1"/>
          <p:nvPr/>
        </p:nvSpPr>
        <p:spPr>
          <a:xfrm>
            <a:off x="621944" y="444876"/>
            <a:ext cx="310896" cy="310896"/>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3</a:t>
            </a:r>
            <a:endParaRPr lang="en-US" sz="1200" dirty="0"/>
          </a:p>
        </p:txBody>
      </p:sp>
      <p:sp>
        <p:nvSpPr>
          <p:cNvPr id="34" name="Text 29"/>
          <p:cNvSpPr txBox="1"/>
          <p:nvPr/>
        </p:nvSpPr>
        <p:spPr>
          <a:xfrm>
            <a:off x="1092860" y="504563"/>
            <a:ext cx="10481767" cy="402336"/>
          </a:xfrm>
          <a:prstGeom prst="rect">
            <a:avLst/>
          </a:prstGeom>
          <a:noFill/>
          <a:ln/>
        </p:spPr>
        <p:txBody>
          <a:bodyPr wrap="square" rtlCol="0" anchor="t"/>
          <a:lstStyle/>
          <a:p>
            <a:pPr marL="0" indent="0">
              <a:lnSpc>
                <a:spcPct val="103000"/>
              </a:lnSpc>
              <a:buNone/>
            </a:pPr>
            <a:r>
              <a:rPr lang="en-US" sz="1350" b="1" i="1" dirty="0">
                <a:solidFill>
                  <a:srgbClr val="1B2A4A"/>
                </a:solidFill>
                <a:latin typeface="Calibri" pitchFamily="34" charset="0"/>
                <a:ea typeface="Calibri" pitchFamily="34" charset="-122"/>
                <a:cs typeface="Calibri" pitchFamily="34" charset="-120"/>
              </a:rPr>
              <a:t>“The Marketing team wants to compare customer purchasing behaviour across different countries. What information would you need?”</a:t>
            </a:r>
            <a:endParaRPr lang="en-US" sz="1350" b="1" dirty="0"/>
          </a:p>
        </p:txBody>
      </p:sp>
      <p:sp>
        <p:nvSpPr>
          <p:cNvPr id="2" name="Rectangle: Rounded Corners 1">
            <a:extLst>
              <a:ext uri="{FF2B5EF4-FFF2-40B4-BE49-F238E27FC236}">
                <a16:creationId xmlns:a16="http://schemas.microsoft.com/office/drawing/2014/main" id="{33CD6D6F-3710-0EAE-774D-974732D5D0A6}"/>
              </a:ext>
            </a:extLst>
          </p:cNvPr>
          <p:cNvSpPr/>
          <p:nvPr/>
        </p:nvSpPr>
        <p:spPr>
          <a:xfrm>
            <a:off x="457352" y="1346554"/>
            <a:ext cx="5333847" cy="2988442"/>
          </a:xfrm>
          <a:prstGeom prst="roundRect">
            <a:avLst>
              <a:gd name="adj" fmla="val 3528"/>
            </a:avLst>
          </a:prstGeom>
          <a:solidFill>
            <a:srgbClr val="121D33"/>
          </a:solidFill>
          <a:ln>
            <a:noFill/>
          </a:ln>
        </p:spPr>
        <p:txBody>
          <a:bodyPr/>
          <a:lstStyle/>
          <a:p>
            <a:endParaRPr lang="en-IN">
              <a:solidFill>
                <a:schemeClr val="tx1"/>
              </a:solidFill>
            </a:endParaRPr>
          </a:p>
        </p:txBody>
      </p:sp>
      <p:sp>
        <p:nvSpPr>
          <p:cNvPr id="3" name="TextBox 2">
            <a:extLst>
              <a:ext uri="{FF2B5EF4-FFF2-40B4-BE49-F238E27FC236}">
                <a16:creationId xmlns:a16="http://schemas.microsoft.com/office/drawing/2014/main" id="{7E97B80C-6A7E-2C55-602F-0F77930256F8}"/>
              </a:ext>
            </a:extLst>
          </p:cNvPr>
          <p:cNvSpPr txBox="1"/>
          <p:nvPr/>
        </p:nvSpPr>
        <p:spPr>
          <a:xfrm>
            <a:off x="777391" y="1799078"/>
            <a:ext cx="4827104" cy="2400657"/>
          </a:xfrm>
          <a:prstGeom prst="rect">
            <a:avLst/>
          </a:prstGeom>
          <a:noFill/>
        </p:spPr>
        <p:txBody>
          <a:bodyPr wrap="square" rtlCol="0">
            <a:spAutoFit/>
          </a:bodyPr>
          <a:lstStyle/>
          <a:p>
            <a:r>
              <a:rPr lang="en-US" sz="1250" b="1" dirty="0">
                <a:solidFill>
                  <a:srgbClr val="E8D48A"/>
                </a:solidFill>
                <a:latin typeface="Courier New" panose="02070309020205020404" pitchFamily="49" charset="0"/>
                <a:cs typeface="Courier New" panose="02070309020205020404" pitchFamily="49" charset="0"/>
              </a:rPr>
              <a:t>SELECT</a:t>
            </a:r>
          </a:p>
          <a:p>
            <a:r>
              <a:rPr lang="en-US" sz="1250" dirty="0">
                <a:solidFill>
                  <a:schemeClr val="bg1"/>
                </a:solidFill>
                <a:latin typeface="Courier New" panose="02070309020205020404" pitchFamily="49" charset="0"/>
                <a:cs typeface="Courier New" panose="02070309020205020404" pitchFamily="49" charset="0"/>
              </a:rPr>
              <a:t>    c.Country,</a:t>
            </a:r>
          </a:p>
          <a:p>
            <a:r>
              <a:rPr lang="en-US" sz="1250" dirty="0">
                <a:solidFill>
                  <a:schemeClr val="bg1"/>
                </a:solidFill>
                <a:latin typeface="Courier New" panose="02070309020205020404" pitchFamily="49" charset="0"/>
                <a:cs typeface="Courier New" panose="02070309020205020404" pitchFamily="49" charset="0"/>
              </a:rPr>
              <a:t>   </a:t>
            </a:r>
            <a:r>
              <a:rPr lang="en-US" sz="1250" b="1" dirty="0">
                <a:solidFill>
                  <a:srgbClr val="D6A300"/>
                </a:solidFill>
                <a:latin typeface="Courier New" panose="02070309020205020404" pitchFamily="49" charset="0"/>
                <a:cs typeface="Courier New" panose="02070309020205020404" pitchFamily="49" charset="0"/>
              </a:rPr>
              <a:t> </a:t>
            </a:r>
            <a:r>
              <a:rPr lang="en-US" sz="1250" b="1" dirty="0">
                <a:solidFill>
                  <a:srgbClr val="E8D48A"/>
                </a:solidFill>
                <a:latin typeface="Courier New" panose="02070309020205020404" pitchFamily="49" charset="0"/>
                <a:cs typeface="Courier New" panose="02070309020205020404" pitchFamily="49" charset="0"/>
              </a:rPr>
              <a:t>COUNT</a:t>
            </a:r>
            <a:r>
              <a:rPr lang="en-US" sz="1250" dirty="0">
                <a:solidFill>
                  <a:schemeClr val="bg1"/>
                </a:solidFill>
                <a:latin typeface="Courier New" panose="02070309020205020404" pitchFamily="49" charset="0"/>
                <a:cs typeface="Courier New" panose="02070309020205020404" pitchFamily="49" charset="0"/>
              </a:rPr>
              <a:t>(DISTINCT c.Customer_ID) </a:t>
            </a:r>
            <a:r>
              <a:rPr lang="en-US" sz="1250" b="1" dirty="0">
                <a:solidFill>
                  <a:srgbClr val="E8D48A"/>
                </a:solidFill>
                <a:latin typeface="Courier New" panose="02070309020205020404" pitchFamily="49" charset="0"/>
                <a:cs typeface="Courier New" panose="02070309020205020404" pitchFamily="49" charset="0"/>
              </a:rPr>
              <a:t>AS</a:t>
            </a:r>
            <a:r>
              <a:rPr lang="en-US" sz="1250" dirty="0">
                <a:solidFill>
                  <a:schemeClr val="bg1"/>
                </a:solidFill>
                <a:latin typeface="Courier New" panose="02070309020205020404" pitchFamily="49" charset="0"/>
                <a:cs typeface="Courier New" panose="02070309020205020404" pitchFamily="49" charset="0"/>
              </a:rPr>
              <a:t> Number_of_Customers,</a:t>
            </a:r>
          </a:p>
          <a:p>
            <a:r>
              <a:rPr lang="en-US" sz="1250" dirty="0">
                <a:solidFill>
                  <a:schemeClr val="bg1"/>
                </a:solidFill>
                <a:latin typeface="Courier New" panose="02070309020205020404" pitchFamily="49" charset="0"/>
                <a:cs typeface="Courier New" panose="02070309020205020404" pitchFamily="49" charset="0"/>
              </a:rPr>
              <a:t>    </a:t>
            </a:r>
            <a:r>
              <a:rPr lang="en-US" sz="1250" b="1" dirty="0">
                <a:solidFill>
                  <a:srgbClr val="E8D48A"/>
                </a:solidFill>
                <a:latin typeface="Courier New" panose="02070309020205020404" pitchFamily="49" charset="0"/>
                <a:cs typeface="Courier New" panose="02070309020205020404" pitchFamily="49" charset="0"/>
              </a:rPr>
              <a:t>COUNT</a:t>
            </a:r>
            <a:r>
              <a:rPr lang="en-US" sz="1250" dirty="0">
                <a:solidFill>
                  <a:schemeClr val="bg1"/>
                </a:solidFill>
                <a:latin typeface="Courier New" panose="02070309020205020404" pitchFamily="49" charset="0"/>
                <a:cs typeface="Courier New" panose="02070309020205020404" pitchFamily="49" charset="0"/>
              </a:rPr>
              <a:t>(o.Order_ID) </a:t>
            </a:r>
            <a:r>
              <a:rPr lang="en-US" sz="1250" b="1" dirty="0">
                <a:solidFill>
                  <a:srgbClr val="E8D48A"/>
                </a:solidFill>
                <a:latin typeface="Courier New" panose="02070309020205020404" pitchFamily="49" charset="0"/>
                <a:cs typeface="Courier New" panose="02070309020205020404" pitchFamily="49" charset="0"/>
              </a:rPr>
              <a:t>AS</a:t>
            </a:r>
            <a:r>
              <a:rPr lang="en-US" sz="1250" dirty="0">
                <a:solidFill>
                  <a:schemeClr val="bg1"/>
                </a:solidFill>
                <a:latin typeface="Courier New" panose="02070309020205020404" pitchFamily="49" charset="0"/>
                <a:cs typeface="Courier New" panose="02070309020205020404" pitchFamily="49" charset="0"/>
              </a:rPr>
              <a:t> Number_of_Orders,</a:t>
            </a:r>
          </a:p>
          <a:p>
            <a:r>
              <a:rPr lang="en-US" sz="1250" dirty="0">
                <a:solidFill>
                  <a:schemeClr val="bg1"/>
                </a:solidFill>
                <a:latin typeface="Courier New" panose="02070309020205020404" pitchFamily="49" charset="0"/>
                <a:cs typeface="Courier New" panose="02070309020205020404" pitchFamily="49" charset="0"/>
              </a:rPr>
              <a:t>    </a:t>
            </a:r>
            <a:r>
              <a:rPr lang="en-US" sz="1250" b="1" dirty="0">
                <a:solidFill>
                  <a:srgbClr val="E8D48A"/>
                </a:solidFill>
                <a:latin typeface="Courier New" panose="02070309020205020404" pitchFamily="49" charset="0"/>
                <a:cs typeface="Courier New" panose="02070309020205020404" pitchFamily="49" charset="0"/>
              </a:rPr>
              <a:t>ROUND</a:t>
            </a:r>
            <a:r>
              <a:rPr lang="en-US" sz="1250" dirty="0">
                <a:solidFill>
                  <a:schemeClr val="bg1"/>
                </a:solidFill>
                <a:latin typeface="Courier New" panose="02070309020205020404" pitchFamily="49" charset="0"/>
                <a:cs typeface="Courier New" panose="02070309020205020404" pitchFamily="49" charset="0"/>
              </a:rPr>
              <a:t>(SUM(o.Total_Amount), 2) </a:t>
            </a:r>
            <a:r>
              <a:rPr lang="en-US" sz="1250" b="1" dirty="0">
                <a:solidFill>
                  <a:srgbClr val="E8D48A"/>
                </a:solidFill>
                <a:latin typeface="Courier New" panose="02070309020205020404" pitchFamily="49" charset="0"/>
                <a:cs typeface="Courier New" panose="02070309020205020404" pitchFamily="49" charset="0"/>
              </a:rPr>
              <a:t>AS</a:t>
            </a:r>
            <a:r>
              <a:rPr lang="en-US" sz="1250" dirty="0">
                <a:solidFill>
                  <a:schemeClr val="bg1"/>
                </a:solidFill>
                <a:latin typeface="Courier New" panose="02070309020205020404" pitchFamily="49" charset="0"/>
                <a:cs typeface="Courier New" panose="02070309020205020404" pitchFamily="49" charset="0"/>
              </a:rPr>
              <a:t> Revenue</a:t>
            </a:r>
          </a:p>
          <a:p>
            <a:r>
              <a:rPr lang="en-US" sz="1250" b="1" dirty="0">
                <a:solidFill>
                  <a:srgbClr val="E8D48A"/>
                </a:solidFill>
                <a:latin typeface="Courier New" panose="02070309020205020404" pitchFamily="49" charset="0"/>
                <a:cs typeface="Courier New" panose="02070309020205020404" pitchFamily="49" charset="0"/>
              </a:rPr>
              <a:t>FROM</a:t>
            </a:r>
            <a:r>
              <a:rPr lang="en-US" sz="1250" b="1" dirty="0">
                <a:solidFill>
                  <a:srgbClr val="D6A300"/>
                </a:solidFill>
                <a:latin typeface="Courier New" panose="02070309020205020404" pitchFamily="49" charset="0"/>
                <a:cs typeface="Courier New" panose="02070309020205020404" pitchFamily="49" charset="0"/>
              </a:rPr>
              <a:t> </a:t>
            </a:r>
            <a:r>
              <a:rPr lang="en-US" sz="1250" dirty="0">
                <a:solidFill>
                  <a:schemeClr val="bg1"/>
                </a:solidFill>
                <a:latin typeface="Courier New" panose="02070309020205020404" pitchFamily="49" charset="0"/>
                <a:cs typeface="Courier New" panose="02070309020205020404" pitchFamily="49" charset="0"/>
              </a:rPr>
              <a:t>Customers c</a:t>
            </a:r>
          </a:p>
          <a:p>
            <a:r>
              <a:rPr lang="en-US" sz="1250" b="1" dirty="0">
                <a:solidFill>
                  <a:srgbClr val="E8D48A"/>
                </a:solidFill>
                <a:latin typeface="Courier New" panose="02070309020205020404" pitchFamily="49" charset="0"/>
                <a:cs typeface="Courier New" panose="02070309020205020404" pitchFamily="49" charset="0"/>
              </a:rPr>
              <a:t>JOIN</a:t>
            </a:r>
            <a:r>
              <a:rPr lang="en-US" sz="1250" dirty="0">
                <a:solidFill>
                  <a:schemeClr val="bg1"/>
                </a:solidFill>
                <a:latin typeface="Courier New" panose="02070309020205020404" pitchFamily="49" charset="0"/>
                <a:cs typeface="Courier New" panose="02070309020205020404" pitchFamily="49" charset="0"/>
              </a:rPr>
              <a:t> Orders o</a:t>
            </a:r>
          </a:p>
          <a:p>
            <a:r>
              <a:rPr lang="en-US" sz="1250" dirty="0">
                <a:solidFill>
                  <a:schemeClr val="bg1"/>
                </a:solidFill>
                <a:latin typeface="Courier New" panose="02070309020205020404" pitchFamily="49" charset="0"/>
                <a:cs typeface="Courier New" panose="02070309020205020404" pitchFamily="49" charset="0"/>
              </a:rPr>
              <a:t>    </a:t>
            </a:r>
            <a:r>
              <a:rPr lang="en-US" sz="1250" b="1" dirty="0">
                <a:solidFill>
                  <a:srgbClr val="E8D48A"/>
                </a:solidFill>
                <a:latin typeface="Courier New" panose="02070309020205020404" pitchFamily="49" charset="0"/>
                <a:cs typeface="Courier New" panose="02070309020205020404" pitchFamily="49" charset="0"/>
              </a:rPr>
              <a:t>ON</a:t>
            </a:r>
            <a:r>
              <a:rPr lang="en-US" sz="1250" dirty="0">
                <a:solidFill>
                  <a:schemeClr val="bg1"/>
                </a:solidFill>
                <a:latin typeface="Courier New" panose="02070309020205020404" pitchFamily="49" charset="0"/>
                <a:cs typeface="Courier New" panose="02070309020205020404" pitchFamily="49" charset="0"/>
              </a:rPr>
              <a:t> c.Customer_ID = o.Customer_ID</a:t>
            </a:r>
          </a:p>
          <a:p>
            <a:r>
              <a:rPr lang="en-US" sz="1250" b="1" dirty="0">
                <a:solidFill>
                  <a:srgbClr val="E8D48A"/>
                </a:solidFill>
                <a:latin typeface="Courier New" panose="02070309020205020404" pitchFamily="49" charset="0"/>
                <a:cs typeface="Courier New" panose="02070309020205020404" pitchFamily="49" charset="0"/>
              </a:rPr>
              <a:t>GROUP BY </a:t>
            </a:r>
            <a:r>
              <a:rPr lang="en-US" sz="1250" dirty="0">
                <a:solidFill>
                  <a:schemeClr val="bg1"/>
                </a:solidFill>
                <a:latin typeface="Courier New" panose="02070309020205020404" pitchFamily="49" charset="0"/>
                <a:cs typeface="Courier New" panose="02070309020205020404" pitchFamily="49" charset="0"/>
              </a:rPr>
              <a:t>c.Country</a:t>
            </a:r>
          </a:p>
          <a:p>
            <a:r>
              <a:rPr lang="en-US" sz="1250" b="1" dirty="0">
                <a:solidFill>
                  <a:srgbClr val="E8D48A"/>
                </a:solidFill>
                <a:latin typeface="Courier New" panose="02070309020205020404" pitchFamily="49" charset="0"/>
                <a:cs typeface="Courier New" panose="02070309020205020404" pitchFamily="49" charset="0"/>
              </a:rPr>
              <a:t>ORDER BY </a:t>
            </a:r>
            <a:r>
              <a:rPr lang="en-US" sz="1250" dirty="0">
                <a:solidFill>
                  <a:schemeClr val="bg1"/>
                </a:solidFill>
                <a:latin typeface="Courier New" panose="02070309020205020404" pitchFamily="49" charset="0"/>
                <a:cs typeface="Courier New" panose="02070309020205020404" pitchFamily="49" charset="0"/>
              </a:rPr>
              <a:t>Revenue </a:t>
            </a:r>
            <a:r>
              <a:rPr lang="en-US" sz="1250" b="1" dirty="0">
                <a:solidFill>
                  <a:srgbClr val="E8D48A"/>
                </a:solidFill>
                <a:latin typeface="Courier New" panose="02070309020205020404" pitchFamily="49" charset="0"/>
                <a:cs typeface="Courier New" panose="02070309020205020404" pitchFamily="49" charset="0"/>
              </a:rPr>
              <a:t>DESC</a:t>
            </a:r>
          </a:p>
          <a:p>
            <a:r>
              <a:rPr lang="en-US" sz="1250" b="1" dirty="0">
                <a:solidFill>
                  <a:srgbClr val="E8D48A"/>
                </a:solidFill>
                <a:latin typeface="Courier New" panose="02070309020205020404" pitchFamily="49" charset="0"/>
                <a:cs typeface="Courier New" panose="02070309020205020404" pitchFamily="49" charset="0"/>
              </a:rPr>
              <a:t>LIMIT</a:t>
            </a:r>
            <a:r>
              <a:rPr lang="en-US" sz="1250" b="1" dirty="0">
                <a:solidFill>
                  <a:srgbClr val="D6A300"/>
                </a:solidFill>
                <a:latin typeface="Courier New" panose="02070309020205020404" pitchFamily="49" charset="0"/>
                <a:cs typeface="Courier New" panose="02070309020205020404" pitchFamily="49" charset="0"/>
              </a:rPr>
              <a:t> </a:t>
            </a:r>
            <a:r>
              <a:rPr lang="en-US" sz="1250" dirty="0">
                <a:solidFill>
                  <a:schemeClr val="bg1"/>
                </a:solidFill>
                <a:latin typeface="Courier New" panose="02070309020205020404" pitchFamily="49" charset="0"/>
                <a:cs typeface="Courier New" panose="02070309020205020404" pitchFamily="49" charset="0"/>
              </a:rPr>
              <a:t>10;</a:t>
            </a:r>
            <a:endParaRPr lang="en-IN" sz="1250" dirty="0">
              <a:solidFill>
                <a:schemeClr val="bg1"/>
              </a:solidFill>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7C738307-2B2E-9EBC-9E13-8E18965CD269}"/>
              </a:ext>
            </a:extLst>
          </p:cNvPr>
          <p:cNvPicPr>
            <a:picLocks noChangeAspect="1"/>
          </p:cNvPicPr>
          <p:nvPr/>
        </p:nvPicPr>
        <p:blipFill>
          <a:blip r:embed="rId3"/>
          <a:stretch>
            <a:fillRect/>
          </a:stretch>
        </p:blipFill>
        <p:spPr>
          <a:xfrm>
            <a:off x="6096000" y="1302680"/>
            <a:ext cx="5638649" cy="289705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Rectangle: Rounded Corners 3">
            <a:extLst>
              <a:ext uri="{FF2B5EF4-FFF2-40B4-BE49-F238E27FC236}">
                <a16:creationId xmlns:a16="http://schemas.microsoft.com/office/drawing/2014/main" id="{98FBC5F4-5EA6-B3AC-6E59-94154B738F97}"/>
              </a:ext>
            </a:extLst>
          </p:cNvPr>
          <p:cNvSpPr/>
          <p:nvPr/>
        </p:nvSpPr>
        <p:spPr>
          <a:xfrm>
            <a:off x="457352" y="4528458"/>
            <a:ext cx="11395014" cy="1824980"/>
          </a:xfrm>
          <a:prstGeom prst="roundRect">
            <a:avLst>
              <a:gd name="adj" fmla="val 2388"/>
            </a:avLst>
          </a:prstGeom>
          <a:solidFill>
            <a:srgbClr val="E7EAF2"/>
          </a:solidFill>
          <a:ln w="952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BF99BA4-03E4-75D3-00DD-C9C1E09F353C}"/>
              </a:ext>
            </a:extLst>
          </p:cNvPr>
          <p:cNvSpPr txBox="1"/>
          <p:nvPr/>
        </p:nvSpPr>
        <p:spPr>
          <a:xfrm>
            <a:off x="674796" y="4784041"/>
            <a:ext cx="10937966" cy="1384995"/>
          </a:xfrm>
          <a:prstGeom prst="rect">
            <a:avLst/>
          </a:prstGeom>
          <a:noFill/>
        </p:spPr>
        <p:txBody>
          <a:bodyPr wrap="square" rtlCol="0">
            <a:spAutoFit/>
          </a:bodyPr>
          <a:lstStyle/>
          <a:p>
            <a:pPr marL="285750" indent="-285750" algn="just">
              <a:buFont typeface="Arial" panose="020B0604020202020204" pitchFamily="34" charset="0"/>
              <a:buChar char="•"/>
            </a:pPr>
            <a:r>
              <a:rPr lang="en-US" sz="1400" b="1" dirty="0">
                <a:solidFill>
                  <a:srgbClr val="1B2A4A"/>
                </a:solidFill>
                <a:latin typeface="Cambria" panose="02040503050406030204" pitchFamily="18" charset="0"/>
                <a:ea typeface="Cambria" panose="02040503050406030204" pitchFamily="18" charset="0"/>
              </a:rPr>
              <a:t>Macao</a:t>
            </a:r>
            <a:r>
              <a:rPr lang="en-US" sz="1400" dirty="0">
                <a:solidFill>
                  <a:srgbClr val="1B2A4A"/>
                </a:solidFill>
                <a:latin typeface="Cambria" panose="02040503050406030204" pitchFamily="18" charset="0"/>
                <a:ea typeface="Cambria" panose="02040503050406030204" pitchFamily="18" charset="0"/>
              </a:rPr>
              <a:t> </a:t>
            </a:r>
            <a:r>
              <a:rPr lang="en-US" sz="1400" dirty="0"/>
              <a:t>($1,264.60) and </a:t>
            </a:r>
            <a:r>
              <a:rPr lang="en-US" sz="1400" b="1" dirty="0">
                <a:solidFill>
                  <a:srgbClr val="1B2A4A"/>
                </a:solidFill>
                <a:latin typeface="Cambria" panose="02040503050406030204" pitchFamily="18" charset="0"/>
                <a:ea typeface="Cambria" panose="02040503050406030204" pitchFamily="18" charset="0"/>
              </a:rPr>
              <a:t>New Caledonia</a:t>
            </a:r>
            <a:r>
              <a:rPr lang="en-US" sz="1400" dirty="0">
                <a:solidFill>
                  <a:srgbClr val="1B2A4A"/>
                </a:solidFill>
                <a:latin typeface="Cambria" panose="02040503050406030204" pitchFamily="18" charset="0"/>
                <a:ea typeface="Cambria" panose="02040503050406030204" pitchFamily="18" charset="0"/>
              </a:rPr>
              <a:t> </a:t>
            </a:r>
            <a:r>
              <a:rPr lang="en-US" sz="1400" dirty="0"/>
              <a:t>($1,078.63) both have </a:t>
            </a:r>
            <a:r>
              <a:rPr lang="en-US" sz="1400" dirty="0">
                <a:solidFill>
                  <a:srgbClr val="1B2A4A"/>
                </a:solidFill>
                <a:latin typeface="Cambria" panose="02040503050406030204" pitchFamily="18" charset="0"/>
                <a:ea typeface="Cambria" panose="02040503050406030204" pitchFamily="18" charset="0"/>
              </a:rPr>
              <a:t>3 customers </a:t>
            </a:r>
            <a:r>
              <a:rPr lang="en-US" sz="1400" dirty="0"/>
              <a:t>who placed exactly </a:t>
            </a:r>
            <a:r>
              <a:rPr lang="en-US" sz="1400" dirty="0">
                <a:solidFill>
                  <a:srgbClr val="1B2A4A"/>
                </a:solidFill>
                <a:latin typeface="Cambria" panose="02040503050406030204" pitchFamily="18" charset="0"/>
                <a:ea typeface="Cambria" panose="02040503050406030204" pitchFamily="18" charset="0"/>
              </a:rPr>
              <a:t>6 orders </a:t>
            </a:r>
            <a:r>
              <a:rPr lang="en-US" sz="1400" dirty="0"/>
              <a:t>(averaging 2 orders per customer).</a:t>
            </a:r>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b="1" dirty="0">
                <a:solidFill>
                  <a:srgbClr val="1B2A4A"/>
                </a:solidFill>
                <a:latin typeface="Cambria" panose="02040503050406030204" pitchFamily="18" charset="0"/>
                <a:ea typeface="Cambria" panose="02040503050406030204" pitchFamily="18" charset="0"/>
              </a:rPr>
              <a:t>San Marino</a:t>
            </a:r>
            <a:r>
              <a:rPr lang="en-US" sz="1400" dirty="0">
                <a:solidFill>
                  <a:srgbClr val="1B2A4A"/>
                </a:solidFill>
                <a:latin typeface="Cambria" panose="02040503050406030204" pitchFamily="18" charset="0"/>
                <a:ea typeface="Cambria" panose="02040503050406030204" pitchFamily="18" charset="0"/>
              </a:rPr>
              <a:t> </a:t>
            </a:r>
            <a:r>
              <a:rPr lang="en-US" sz="1400" dirty="0"/>
              <a:t>($1,230.09) and </a:t>
            </a:r>
            <a:r>
              <a:rPr lang="en-US" sz="1400" b="1" dirty="0">
                <a:solidFill>
                  <a:srgbClr val="1B2A4A"/>
                </a:solidFill>
                <a:latin typeface="Cambria" panose="02040503050406030204" pitchFamily="18" charset="0"/>
                <a:ea typeface="Cambria" panose="02040503050406030204" pitchFamily="18" charset="0"/>
              </a:rPr>
              <a:t>Korea</a:t>
            </a:r>
            <a:r>
              <a:rPr lang="en-US" sz="1400" dirty="0">
                <a:solidFill>
                  <a:srgbClr val="1B2A4A"/>
                </a:solidFill>
                <a:latin typeface="Cambria" panose="02040503050406030204" pitchFamily="18" charset="0"/>
                <a:ea typeface="Cambria" panose="02040503050406030204" pitchFamily="18" charset="0"/>
              </a:rPr>
              <a:t> </a:t>
            </a:r>
            <a:r>
              <a:rPr lang="en-US" sz="1400" dirty="0"/>
              <a:t>($1,079.76) show highly stable purchasing structures with </a:t>
            </a:r>
            <a:r>
              <a:rPr lang="en-US" sz="1400" dirty="0">
                <a:solidFill>
                  <a:srgbClr val="1B2A4A"/>
                </a:solidFill>
                <a:latin typeface="Cambria" panose="02040503050406030204" pitchFamily="18" charset="0"/>
                <a:ea typeface="Cambria" panose="02040503050406030204" pitchFamily="18" charset="0"/>
              </a:rPr>
              <a:t>5-6 orders </a:t>
            </a:r>
            <a:r>
              <a:rPr lang="en-US" sz="1400" dirty="0"/>
              <a:t>spread across </a:t>
            </a:r>
            <a:r>
              <a:rPr lang="en-US" sz="1400" dirty="0">
                <a:solidFill>
                  <a:srgbClr val="1B2A4A"/>
                </a:solidFill>
                <a:latin typeface="Cambria" panose="02040503050406030204" pitchFamily="18" charset="0"/>
                <a:ea typeface="Cambria" panose="02040503050406030204" pitchFamily="18" charset="0"/>
              </a:rPr>
              <a:t>3-4 customers</a:t>
            </a:r>
            <a:r>
              <a:rPr lang="en-US" sz="1400" dirty="0"/>
              <a:t>.</a:t>
            </a:r>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b="1" dirty="0">
                <a:solidFill>
                  <a:srgbClr val="1B2A4A"/>
                </a:solidFill>
                <a:latin typeface="Cambria" panose="02040503050406030204" pitchFamily="18" charset="0"/>
                <a:ea typeface="Cambria" panose="02040503050406030204" pitchFamily="18" charset="0"/>
              </a:rPr>
              <a:t>Insight</a:t>
            </a:r>
            <a:r>
              <a:rPr lang="en-US" sz="1400" b="1" dirty="0"/>
              <a:t>:</a:t>
            </a:r>
            <a:r>
              <a:rPr lang="en-US" sz="1400" dirty="0"/>
              <a:t> These countries represent predictable, healthy mid-tier markets with repeatable buying habits. They are good candidates for steady, localized email marketing campaigns.</a:t>
            </a:r>
          </a:p>
        </p:txBody>
      </p:sp>
      <p:sp>
        <p:nvSpPr>
          <p:cNvPr id="7" name="TextBox 6">
            <a:extLst>
              <a:ext uri="{FF2B5EF4-FFF2-40B4-BE49-F238E27FC236}">
                <a16:creationId xmlns:a16="http://schemas.microsoft.com/office/drawing/2014/main" id="{7C8E951B-0DA3-D2F7-4149-20EE086FAC80}"/>
              </a:ext>
            </a:extLst>
          </p:cNvPr>
          <p:cNvSpPr txBox="1"/>
          <p:nvPr/>
        </p:nvSpPr>
        <p:spPr>
          <a:xfrm>
            <a:off x="396392" y="1077250"/>
            <a:ext cx="4236568" cy="269304"/>
          </a:xfrm>
          <a:prstGeom prst="rect">
            <a:avLst/>
          </a:prstGeom>
          <a:noFill/>
        </p:spPr>
        <p:txBody>
          <a:bodyPr wrap="square" rtlCol="0">
            <a:spAutoFit/>
          </a:bodyPr>
          <a:lstStyle/>
          <a:p>
            <a:r>
              <a:rPr lang="en-US" sz="1150" b="1" dirty="0">
                <a:solidFill>
                  <a:srgbClr val="1B2A4A"/>
                </a:solidFill>
              </a:rPr>
              <a:t>WORKBENCH ANALYSIS COVERS</a:t>
            </a:r>
            <a:endParaRPr lang="en-IN" sz="1150" dirty="0">
              <a:solidFill>
                <a:srgbClr val="1B2A4A"/>
              </a:solidFill>
            </a:endParaRPr>
          </a:p>
        </p:txBody>
      </p:sp>
      <p:sp>
        <p:nvSpPr>
          <p:cNvPr id="8" name="TextBox 7">
            <a:extLst>
              <a:ext uri="{FF2B5EF4-FFF2-40B4-BE49-F238E27FC236}">
                <a16:creationId xmlns:a16="http://schemas.microsoft.com/office/drawing/2014/main" id="{1460C055-5590-DA7F-CD94-FFCE09BF1D8C}"/>
              </a:ext>
            </a:extLst>
          </p:cNvPr>
          <p:cNvSpPr txBox="1"/>
          <p:nvPr/>
        </p:nvSpPr>
        <p:spPr>
          <a:xfrm>
            <a:off x="440726" y="6609021"/>
            <a:ext cx="4147899" cy="369332"/>
          </a:xfrm>
          <a:prstGeom prst="rect">
            <a:avLst/>
          </a:prstGeom>
          <a:noFill/>
        </p:spPr>
        <p:txBody>
          <a:bodyPr wrap="square" rtlCol="0">
            <a:spAutoFit/>
          </a:bodyPr>
          <a:lstStyle/>
          <a:p>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a:p>
            <a:endParaRPr lang="en-IN" sz="900" dirty="0"/>
          </a:p>
        </p:txBody>
      </p:sp>
      <p:sp>
        <p:nvSpPr>
          <p:cNvPr id="9" name="TextBox 8">
            <a:extLst>
              <a:ext uri="{FF2B5EF4-FFF2-40B4-BE49-F238E27FC236}">
                <a16:creationId xmlns:a16="http://schemas.microsoft.com/office/drawing/2014/main" id="{0E21DD37-C21F-2D5A-502A-3687311EA83B}"/>
              </a:ext>
            </a:extLst>
          </p:cNvPr>
          <p:cNvSpPr txBox="1"/>
          <p:nvPr/>
        </p:nvSpPr>
        <p:spPr>
          <a:xfrm>
            <a:off x="11210980" y="6562855"/>
            <a:ext cx="803564" cy="230832"/>
          </a:xfrm>
          <a:prstGeom prst="rect">
            <a:avLst/>
          </a:prstGeom>
          <a:noFill/>
        </p:spPr>
        <p:txBody>
          <a:bodyPr wrap="square" rtlCol="0">
            <a:spAutoFit/>
          </a:bodyPr>
          <a:lstStyle/>
          <a:p>
            <a:r>
              <a:rPr lang="en-US" sz="900" dirty="0">
                <a:solidFill>
                  <a:srgbClr val="6B7280"/>
                </a:solidFill>
              </a:rPr>
              <a:t>10 / 19</a:t>
            </a:r>
            <a:endParaRPr lang="en-IN" sz="900" dirty="0">
              <a:solidFill>
                <a:srgbClr val="6B7280"/>
              </a:solidFill>
            </a:endParaRPr>
          </a:p>
        </p:txBody>
      </p:sp>
      <p:sp>
        <p:nvSpPr>
          <p:cNvPr id="10" name="TextBox 9">
            <a:extLst>
              <a:ext uri="{FF2B5EF4-FFF2-40B4-BE49-F238E27FC236}">
                <a16:creationId xmlns:a16="http://schemas.microsoft.com/office/drawing/2014/main" id="{7121663A-35A4-6BCA-E5C3-AB575AC6CCBA}"/>
              </a:ext>
            </a:extLst>
          </p:cNvPr>
          <p:cNvSpPr txBox="1"/>
          <p:nvPr/>
        </p:nvSpPr>
        <p:spPr>
          <a:xfrm>
            <a:off x="879987" y="1419497"/>
            <a:ext cx="4153567" cy="253916"/>
          </a:xfrm>
          <a:prstGeom prst="rect">
            <a:avLst/>
          </a:prstGeom>
          <a:noFill/>
        </p:spPr>
        <p:txBody>
          <a:bodyPr wrap="square" rtlCol="0">
            <a:spAutoFit/>
          </a:bodyPr>
          <a:lstStyle/>
          <a:p>
            <a:r>
              <a:rPr lang="en-US" sz="1050" b="1" kern="0" spc="100" dirty="0">
                <a:solidFill>
                  <a:srgbClr val="C9A227"/>
                </a:solidFill>
                <a:latin typeface="Calibri" pitchFamily="34" charset="0"/>
                <a:ea typeface="Calibri" pitchFamily="34" charset="-122"/>
                <a:cs typeface="Calibri" pitchFamily="34" charset="-120"/>
              </a:rPr>
              <a:t>REPRESENTATIVE QUERY -  NO.CUSTOMERS + COUNTRIES</a:t>
            </a:r>
            <a:endParaRPr lang="en-US" sz="1050" dirty="0"/>
          </a:p>
        </p:txBody>
      </p:sp>
    </p:spTree>
    <p:extLst>
      <p:ext uri="{BB962C8B-B14F-4D97-AF65-F5344CB8AC3E}">
        <p14:creationId xmlns:p14="http://schemas.microsoft.com/office/powerpoint/2010/main" val="3512642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0-#ppt_w/2"/>
                                          </p:val>
                                        </p:tav>
                                        <p:tav tm="100000">
                                          <p:val>
                                            <p:strVal val="#ppt_x"/>
                                          </p:val>
                                        </p:tav>
                                      </p:tavLst>
                                    </p:anim>
                                    <p:anim calcmode="lin" valueType="num">
                                      <p:cBhvr additive="base">
                                        <p:cTn id="8" dur="500" fill="hold"/>
                                        <p:tgtEl>
                                          <p:spTgt spid="30"/>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0-#ppt_w/2"/>
                                          </p:val>
                                        </p:tav>
                                        <p:tav tm="100000">
                                          <p:val>
                                            <p:strVal val="#ppt_x"/>
                                          </p:val>
                                        </p:tav>
                                      </p:tavLst>
                                    </p:anim>
                                    <p:anim calcmode="lin" valueType="num">
                                      <p:cBhvr additive="base">
                                        <p:cTn id="12" dur="500" fill="hold"/>
                                        <p:tgtEl>
                                          <p:spTgt spid="31"/>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additive="base">
                                        <p:cTn id="15" dur="500" fill="hold"/>
                                        <p:tgtEl>
                                          <p:spTgt spid="32"/>
                                        </p:tgtEl>
                                        <p:attrNameLst>
                                          <p:attrName>ppt_x</p:attrName>
                                        </p:attrNameLst>
                                      </p:cBhvr>
                                      <p:tavLst>
                                        <p:tav tm="0">
                                          <p:val>
                                            <p:strVal val="0-#ppt_w/2"/>
                                          </p:val>
                                        </p:tav>
                                        <p:tav tm="100000">
                                          <p:val>
                                            <p:strVal val="#ppt_x"/>
                                          </p:val>
                                        </p:tav>
                                      </p:tavLst>
                                    </p:anim>
                                    <p:anim calcmode="lin" valueType="num">
                                      <p:cBhvr additive="base">
                                        <p:cTn id="16" dur="500" fill="hold"/>
                                        <p:tgtEl>
                                          <p:spTgt spid="32"/>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0-#ppt_w/2"/>
                                          </p:val>
                                        </p:tav>
                                        <p:tav tm="100000">
                                          <p:val>
                                            <p:strVal val="#ppt_x"/>
                                          </p:val>
                                        </p:tav>
                                      </p:tavLst>
                                    </p:anim>
                                    <p:anim calcmode="lin" valueType="num">
                                      <p:cBhvr additive="base">
                                        <p:cTn id="20" dur="500" fill="hold"/>
                                        <p:tgtEl>
                                          <p:spTgt spid="33"/>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 calcmode="lin" valueType="num">
                                      <p:cBhvr additive="base">
                                        <p:cTn id="23" dur="500" fill="hold"/>
                                        <p:tgtEl>
                                          <p:spTgt spid="34"/>
                                        </p:tgtEl>
                                        <p:attrNameLst>
                                          <p:attrName>ppt_x</p:attrName>
                                        </p:attrNameLst>
                                      </p:cBhvr>
                                      <p:tavLst>
                                        <p:tav tm="0">
                                          <p:val>
                                            <p:strVal val="0-#ppt_w/2"/>
                                          </p:val>
                                        </p:tav>
                                        <p:tav tm="100000">
                                          <p:val>
                                            <p:strVal val="#ppt_x"/>
                                          </p:val>
                                        </p:tav>
                                      </p:tavLst>
                                    </p:anim>
                                    <p:anim calcmode="lin" valueType="num">
                                      <p:cBhvr additive="base">
                                        <p:cTn id="24"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0-#ppt_w/2"/>
                                          </p:val>
                                        </p:tav>
                                        <p:tav tm="100000">
                                          <p:val>
                                            <p:strVal val="#ppt_x"/>
                                          </p:val>
                                        </p:tav>
                                      </p:tavLst>
                                    </p:anim>
                                    <p:anim calcmode="lin" valueType="num">
                                      <p:cBhvr additive="base">
                                        <p:cTn id="35" dur="500" fill="hold"/>
                                        <p:tgtEl>
                                          <p:spTgt spid="2"/>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additive="base">
                                        <p:cTn id="38" dur="500" fill="hold"/>
                                        <p:tgtEl>
                                          <p:spTgt spid="3"/>
                                        </p:tgtEl>
                                        <p:attrNameLst>
                                          <p:attrName>ppt_x</p:attrName>
                                        </p:attrNameLst>
                                      </p:cBhvr>
                                      <p:tavLst>
                                        <p:tav tm="0">
                                          <p:val>
                                            <p:strVal val="0-#ppt_w/2"/>
                                          </p:val>
                                        </p:tav>
                                        <p:tav tm="100000">
                                          <p:val>
                                            <p:strVal val="#ppt_x"/>
                                          </p:val>
                                        </p:tav>
                                      </p:tavLst>
                                    </p:anim>
                                    <p:anim calcmode="lin" valueType="num">
                                      <p:cBhvr additive="base">
                                        <p:cTn id="3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additive="base">
                                        <p:cTn id="44" dur="500" fill="hold"/>
                                        <p:tgtEl>
                                          <p:spTgt spid="5"/>
                                        </p:tgtEl>
                                        <p:attrNameLst>
                                          <p:attrName>ppt_x</p:attrName>
                                        </p:attrNameLst>
                                      </p:cBhvr>
                                      <p:tavLst>
                                        <p:tav tm="0">
                                          <p:val>
                                            <p:strVal val="1+#ppt_w/2"/>
                                          </p:val>
                                        </p:tav>
                                        <p:tav tm="100000">
                                          <p:val>
                                            <p:strVal val="#ppt_x"/>
                                          </p:val>
                                        </p:tav>
                                      </p:tavLst>
                                    </p:anim>
                                    <p:anim calcmode="lin" valueType="num">
                                      <p:cBhvr additive="base">
                                        <p:cTn id="45"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fade">
                                      <p:cBhvr>
                                        <p:cTn id="50" dur="1000"/>
                                        <p:tgtEl>
                                          <p:spTgt spid="4"/>
                                        </p:tgtEl>
                                      </p:cBhvr>
                                    </p:animEffect>
                                    <p:anim calcmode="lin" valueType="num">
                                      <p:cBhvr>
                                        <p:cTn id="51" dur="1000" fill="hold"/>
                                        <p:tgtEl>
                                          <p:spTgt spid="4"/>
                                        </p:tgtEl>
                                        <p:attrNameLst>
                                          <p:attrName>ppt_x</p:attrName>
                                        </p:attrNameLst>
                                      </p:cBhvr>
                                      <p:tavLst>
                                        <p:tav tm="0">
                                          <p:val>
                                            <p:strVal val="#ppt_x"/>
                                          </p:val>
                                        </p:tav>
                                        <p:tav tm="100000">
                                          <p:val>
                                            <p:strVal val="#ppt_x"/>
                                          </p:val>
                                        </p:tav>
                                      </p:tavLst>
                                    </p:anim>
                                    <p:anim calcmode="lin" valueType="num">
                                      <p:cBhvr>
                                        <p:cTn id="52" dur="1000" fill="hold"/>
                                        <p:tgtEl>
                                          <p:spTgt spid="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1000"/>
                                        <p:tgtEl>
                                          <p:spTgt spid="6"/>
                                        </p:tgtEl>
                                      </p:cBhvr>
                                    </p:animEffect>
                                    <p:anim calcmode="lin" valueType="num">
                                      <p:cBhvr>
                                        <p:cTn id="56" dur="1000" fill="hold"/>
                                        <p:tgtEl>
                                          <p:spTgt spid="6"/>
                                        </p:tgtEl>
                                        <p:attrNameLst>
                                          <p:attrName>ppt_x</p:attrName>
                                        </p:attrNameLst>
                                      </p:cBhvr>
                                      <p:tavLst>
                                        <p:tav tm="0">
                                          <p:val>
                                            <p:strVal val="#ppt_x"/>
                                          </p:val>
                                        </p:tav>
                                        <p:tav tm="100000">
                                          <p:val>
                                            <p:strVal val="#ppt_x"/>
                                          </p:val>
                                        </p:tav>
                                      </p:tavLst>
                                    </p:anim>
                                    <p:anim calcmode="lin" valueType="num">
                                      <p:cBhvr>
                                        <p:cTn id="5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3" grpId="0" animBg="1"/>
      <p:bldP spid="34" grpId="0" animBg="1"/>
      <p:bldP spid="2" grpId="0" animBg="1"/>
      <p:bldP spid="3" grpId="0"/>
      <p:bldP spid="4" grpId="0" animBg="1"/>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38"/>
          <p:cNvSpPr/>
          <p:nvPr/>
        </p:nvSpPr>
        <p:spPr>
          <a:xfrm>
            <a:off x="512064" y="241719"/>
            <a:ext cx="11277295" cy="582446"/>
          </a:xfrm>
          <a:prstGeom prst="roundRect">
            <a:avLst>
              <a:gd name="adj" fmla="val 6780"/>
            </a:avLst>
          </a:prstGeom>
          <a:solidFill>
            <a:srgbClr val="F1F1F5"/>
          </a:solidFill>
          <a:ln/>
          <a:effectLst>
            <a:outerShdw blurRad="76200" dist="25400" dir="5400000" algn="bl" rotWithShape="0">
              <a:srgbClr val="1B2A4A">
                <a:alpha val="12000"/>
              </a:srgbClr>
            </a:outerShdw>
          </a:effectLst>
        </p:spPr>
        <p:txBody>
          <a:bodyPr/>
          <a:lstStyle/>
          <a:p>
            <a:endParaRPr lang="en-IN"/>
          </a:p>
        </p:txBody>
      </p:sp>
      <p:sp>
        <p:nvSpPr>
          <p:cNvPr id="44" name="Shape 39"/>
          <p:cNvSpPr/>
          <p:nvPr/>
        </p:nvSpPr>
        <p:spPr>
          <a:xfrm>
            <a:off x="676656" y="369735"/>
            <a:ext cx="310896" cy="310896"/>
          </a:xfrm>
          <a:prstGeom prst="ellipse">
            <a:avLst/>
          </a:prstGeom>
          <a:solidFill>
            <a:srgbClr val="1B2A4A"/>
          </a:solidFill>
          <a:ln/>
        </p:spPr>
        <p:txBody>
          <a:bodyPr/>
          <a:lstStyle/>
          <a:p>
            <a:endParaRPr lang="en-IN"/>
          </a:p>
        </p:txBody>
      </p:sp>
      <p:pic>
        <p:nvPicPr>
          <p:cNvPr id="45" name="Image 3" descr="/home/claude/bookverse/icons/question.png"/>
          <p:cNvPicPr>
            <a:picLocks noChangeAspect="1"/>
          </p:cNvPicPr>
          <p:nvPr/>
        </p:nvPicPr>
        <p:blipFill>
          <a:blip r:embed="rId2"/>
          <a:stretch>
            <a:fillRect/>
          </a:stretch>
        </p:blipFill>
        <p:spPr>
          <a:xfrm>
            <a:off x="729508" y="422587"/>
            <a:ext cx="205191" cy="205191"/>
          </a:xfrm>
          <a:prstGeom prst="rect">
            <a:avLst/>
          </a:prstGeom>
        </p:spPr>
      </p:pic>
      <p:sp>
        <p:nvSpPr>
          <p:cNvPr id="46" name="Text 40"/>
          <p:cNvSpPr txBox="1"/>
          <p:nvPr/>
        </p:nvSpPr>
        <p:spPr>
          <a:xfrm>
            <a:off x="676656" y="369735"/>
            <a:ext cx="310896" cy="310896"/>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4</a:t>
            </a:r>
            <a:endParaRPr lang="en-US" sz="1200" dirty="0"/>
          </a:p>
        </p:txBody>
      </p:sp>
      <p:sp>
        <p:nvSpPr>
          <p:cNvPr id="47" name="Text 41"/>
          <p:cNvSpPr txBox="1"/>
          <p:nvPr/>
        </p:nvSpPr>
        <p:spPr>
          <a:xfrm>
            <a:off x="1124712" y="421829"/>
            <a:ext cx="10481767" cy="402336"/>
          </a:xfrm>
          <a:prstGeom prst="rect">
            <a:avLst/>
          </a:prstGeom>
          <a:noFill/>
          <a:ln/>
        </p:spPr>
        <p:txBody>
          <a:bodyPr wrap="square" rtlCol="0" anchor="t"/>
          <a:lstStyle/>
          <a:p>
            <a:pPr marL="0" indent="0">
              <a:lnSpc>
                <a:spcPct val="103000"/>
              </a:lnSpc>
              <a:buNone/>
            </a:pPr>
            <a:r>
              <a:rPr lang="en-US" sz="1350" b="1" i="1" dirty="0">
                <a:solidFill>
                  <a:srgbClr val="1B2A4A"/>
                </a:solidFill>
                <a:latin typeface="Calibri" pitchFamily="34" charset="0"/>
                <a:ea typeface="Calibri" pitchFamily="34" charset="-122"/>
                <a:cs typeface="Calibri" pitchFamily="34" charset="-120"/>
              </a:rPr>
              <a:t>“Management wants to identify customers who have purchased books from multiple genres. Which tables and relationships would be required?”</a:t>
            </a:r>
            <a:endParaRPr lang="en-US" sz="1350" b="1" dirty="0"/>
          </a:p>
        </p:txBody>
      </p:sp>
      <p:sp>
        <p:nvSpPr>
          <p:cNvPr id="2" name="Rectangle: Rounded Corners 1">
            <a:extLst>
              <a:ext uri="{FF2B5EF4-FFF2-40B4-BE49-F238E27FC236}">
                <a16:creationId xmlns:a16="http://schemas.microsoft.com/office/drawing/2014/main" id="{A2BE037E-019F-959C-5FF1-D983A0B20ED3}"/>
              </a:ext>
            </a:extLst>
          </p:cNvPr>
          <p:cNvSpPr/>
          <p:nvPr/>
        </p:nvSpPr>
        <p:spPr>
          <a:xfrm>
            <a:off x="512064" y="1181097"/>
            <a:ext cx="5049837" cy="3454917"/>
          </a:xfrm>
          <a:prstGeom prst="roundRect">
            <a:avLst>
              <a:gd name="adj" fmla="val 2381"/>
            </a:avLst>
          </a:prstGeom>
          <a:solidFill>
            <a:srgbClr val="121D33"/>
          </a:solidFill>
          <a:ln>
            <a:noFill/>
          </a:ln>
        </p:spPr>
        <p:txBody>
          <a:bodyPr/>
          <a:lstStyle/>
          <a:p>
            <a:endParaRPr lang="en-IN" dirty="0">
              <a:solidFill>
                <a:schemeClr val="tx1"/>
              </a:solidFill>
            </a:endParaRPr>
          </a:p>
        </p:txBody>
      </p:sp>
      <p:sp>
        <p:nvSpPr>
          <p:cNvPr id="3" name="TextBox 2">
            <a:extLst>
              <a:ext uri="{FF2B5EF4-FFF2-40B4-BE49-F238E27FC236}">
                <a16:creationId xmlns:a16="http://schemas.microsoft.com/office/drawing/2014/main" id="{1BAC25AB-96C1-2943-FD8E-BF5325F8EB30}"/>
              </a:ext>
            </a:extLst>
          </p:cNvPr>
          <p:cNvSpPr txBox="1"/>
          <p:nvPr/>
        </p:nvSpPr>
        <p:spPr>
          <a:xfrm>
            <a:off x="832103" y="1523846"/>
            <a:ext cx="4026898" cy="3170099"/>
          </a:xfrm>
          <a:prstGeom prst="rect">
            <a:avLst/>
          </a:prstGeom>
          <a:noFill/>
        </p:spPr>
        <p:txBody>
          <a:bodyPr wrap="square" rtlCol="0">
            <a:spAutoFit/>
          </a:bodyPr>
          <a:lstStyle/>
          <a:p>
            <a:r>
              <a:rPr lang="en-IN" sz="1250" b="1" dirty="0">
                <a:solidFill>
                  <a:srgbClr val="E8D48A"/>
                </a:solidFill>
                <a:latin typeface="Courier New" panose="02070309020205020404" pitchFamily="49" charset="0"/>
                <a:cs typeface="Courier New" panose="02070309020205020404" pitchFamily="49" charset="0"/>
              </a:rPr>
              <a:t>SELECT</a:t>
            </a:r>
          </a:p>
          <a:p>
            <a:r>
              <a:rPr lang="en-IN" sz="1250" dirty="0">
                <a:solidFill>
                  <a:schemeClr val="bg1"/>
                </a:solidFill>
                <a:latin typeface="Courier New" panose="02070309020205020404" pitchFamily="49" charset="0"/>
                <a:cs typeface="Courier New" panose="02070309020205020404" pitchFamily="49" charset="0"/>
              </a:rPr>
              <a:t>    c.Customer_ID,</a:t>
            </a:r>
          </a:p>
          <a:p>
            <a:r>
              <a:rPr lang="en-IN" sz="1250" dirty="0">
                <a:solidFill>
                  <a:schemeClr val="bg1"/>
                </a:solidFill>
                <a:latin typeface="Courier New" panose="02070309020205020404" pitchFamily="49" charset="0"/>
                <a:cs typeface="Courier New" panose="02070309020205020404" pitchFamily="49" charset="0"/>
              </a:rPr>
              <a:t>    c.Name,</a:t>
            </a:r>
          </a:p>
          <a:p>
            <a:r>
              <a:rPr lang="en-IN" sz="1250" dirty="0">
                <a:solidFill>
                  <a:schemeClr val="bg1"/>
                </a:solidFill>
                <a:latin typeface="Courier New" panose="02070309020205020404" pitchFamily="49" charset="0"/>
                <a:cs typeface="Courier New" panose="02070309020205020404" pitchFamily="49" charset="0"/>
              </a:rPr>
              <a:t>    </a:t>
            </a:r>
            <a:r>
              <a:rPr lang="en-IN" sz="1250" b="1" dirty="0">
                <a:solidFill>
                  <a:srgbClr val="E8D48A"/>
                </a:solidFill>
                <a:latin typeface="Courier New" panose="02070309020205020404" pitchFamily="49" charset="0"/>
                <a:cs typeface="Courier New" panose="02070309020205020404" pitchFamily="49" charset="0"/>
              </a:rPr>
              <a:t>COUNT</a:t>
            </a:r>
            <a:r>
              <a:rPr lang="en-IN" sz="1250" dirty="0">
                <a:solidFill>
                  <a:schemeClr val="bg1"/>
                </a:solidFill>
                <a:latin typeface="Courier New" panose="02070309020205020404" pitchFamily="49" charset="0"/>
                <a:cs typeface="Courier New" panose="02070309020205020404" pitchFamily="49" charset="0"/>
              </a:rPr>
              <a:t>(DISTINCT b.Genre) </a:t>
            </a:r>
            <a:r>
              <a:rPr lang="en-IN" sz="1250" b="1" dirty="0">
                <a:solidFill>
                  <a:srgbClr val="E8D48A"/>
                </a:solidFill>
                <a:latin typeface="Courier New" panose="02070309020205020404" pitchFamily="49" charset="0"/>
                <a:cs typeface="Courier New" panose="02070309020205020404" pitchFamily="49" charset="0"/>
              </a:rPr>
              <a:t>AS</a:t>
            </a:r>
            <a:r>
              <a:rPr lang="en-IN" sz="1250" dirty="0">
                <a:solidFill>
                  <a:schemeClr val="bg1"/>
                </a:solidFill>
                <a:latin typeface="Courier New" panose="02070309020205020404" pitchFamily="49" charset="0"/>
                <a:cs typeface="Courier New" panose="02070309020205020404" pitchFamily="49" charset="0"/>
              </a:rPr>
              <a:t> Number_of_Genres</a:t>
            </a:r>
          </a:p>
          <a:p>
            <a:r>
              <a:rPr lang="en-IN" sz="1250" b="1" dirty="0">
                <a:solidFill>
                  <a:srgbClr val="E8D48A"/>
                </a:solidFill>
                <a:latin typeface="Courier New" panose="02070309020205020404" pitchFamily="49" charset="0"/>
                <a:cs typeface="Courier New" panose="02070309020205020404" pitchFamily="49" charset="0"/>
              </a:rPr>
              <a:t>FROM</a:t>
            </a:r>
            <a:r>
              <a:rPr lang="en-IN" sz="1250" dirty="0">
                <a:solidFill>
                  <a:srgbClr val="E8D48A"/>
                </a:solidFill>
                <a:latin typeface="Courier New" panose="02070309020205020404" pitchFamily="49" charset="0"/>
                <a:cs typeface="Courier New" panose="02070309020205020404" pitchFamily="49" charset="0"/>
              </a:rPr>
              <a:t> </a:t>
            </a:r>
            <a:r>
              <a:rPr lang="en-IN" sz="1250" dirty="0">
                <a:solidFill>
                  <a:schemeClr val="bg1"/>
                </a:solidFill>
                <a:latin typeface="Courier New" panose="02070309020205020404" pitchFamily="49" charset="0"/>
                <a:cs typeface="Courier New" panose="02070309020205020404" pitchFamily="49" charset="0"/>
              </a:rPr>
              <a:t>Customers c</a:t>
            </a:r>
          </a:p>
          <a:p>
            <a:r>
              <a:rPr lang="en-IN" sz="1250" b="1" dirty="0">
                <a:solidFill>
                  <a:srgbClr val="E8D48A"/>
                </a:solidFill>
                <a:latin typeface="Courier New" panose="02070309020205020404" pitchFamily="49" charset="0"/>
                <a:cs typeface="Courier New" panose="02070309020205020404" pitchFamily="49" charset="0"/>
              </a:rPr>
              <a:t>JOIN</a:t>
            </a:r>
            <a:r>
              <a:rPr lang="en-IN" sz="1250" dirty="0">
                <a:solidFill>
                  <a:schemeClr val="bg1"/>
                </a:solidFill>
                <a:latin typeface="Courier New" panose="02070309020205020404" pitchFamily="49" charset="0"/>
                <a:cs typeface="Courier New" panose="02070309020205020404" pitchFamily="49" charset="0"/>
              </a:rPr>
              <a:t> Orders o</a:t>
            </a:r>
          </a:p>
          <a:p>
            <a:r>
              <a:rPr lang="en-IN" sz="1250" dirty="0">
                <a:solidFill>
                  <a:schemeClr val="bg1"/>
                </a:solidFill>
                <a:latin typeface="Courier New" panose="02070309020205020404" pitchFamily="49" charset="0"/>
                <a:cs typeface="Courier New" panose="02070309020205020404" pitchFamily="49" charset="0"/>
              </a:rPr>
              <a:t>    </a:t>
            </a:r>
            <a:r>
              <a:rPr lang="en-IN" sz="1250" b="1" dirty="0">
                <a:solidFill>
                  <a:srgbClr val="E8D48A"/>
                </a:solidFill>
                <a:latin typeface="Courier New" panose="02070309020205020404" pitchFamily="49" charset="0"/>
                <a:cs typeface="Courier New" panose="02070309020205020404" pitchFamily="49" charset="0"/>
              </a:rPr>
              <a:t>ON</a:t>
            </a:r>
            <a:r>
              <a:rPr lang="en-IN" sz="1250" dirty="0">
                <a:solidFill>
                  <a:schemeClr val="bg1"/>
                </a:solidFill>
                <a:latin typeface="Courier New" panose="02070309020205020404" pitchFamily="49" charset="0"/>
                <a:cs typeface="Courier New" panose="02070309020205020404" pitchFamily="49" charset="0"/>
              </a:rPr>
              <a:t> c.Customer_ID = o.Customer_ID</a:t>
            </a:r>
          </a:p>
          <a:p>
            <a:r>
              <a:rPr lang="en-IN" sz="1250" b="1" dirty="0">
                <a:solidFill>
                  <a:srgbClr val="E8D48A"/>
                </a:solidFill>
                <a:latin typeface="Courier New" panose="02070309020205020404" pitchFamily="49" charset="0"/>
                <a:cs typeface="Courier New" panose="02070309020205020404" pitchFamily="49" charset="0"/>
              </a:rPr>
              <a:t>JOIN</a:t>
            </a:r>
            <a:r>
              <a:rPr lang="en-IN" sz="1250" dirty="0">
                <a:solidFill>
                  <a:schemeClr val="bg1"/>
                </a:solidFill>
                <a:latin typeface="Courier New" panose="02070309020205020404" pitchFamily="49" charset="0"/>
                <a:cs typeface="Courier New" panose="02070309020205020404" pitchFamily="49" charset="0"/>
              </a:rPr>
              <a:t> Books b</a:t>
            </a:r>
          </a:p>
          <a:p>
            <a:r>
              <a:rPr lang="en-IN" sz="1250" dirty="0">
                <a:solidFill>
                  <a:schemeClr val="bg1"/>
                </a:solidFill>
                <a:latin typeface="Courier New" panose="02070309020205020404" pitchFamily="49" charset="0"/>
                <a:cs typeface="Courier New" panose="02070309020205020404" pitchFamily="49" charset="0"/>
              </a:rPr>
              <a:t>    </a:t>
            </a:r>
            <a:r>
              <a:rPr lang="en-IN" sz="1250" b="1" dirty="0">
                <a:solidFill>
                  <a:srgbClr val="E8D48A"/>
                </a:solidFill>
                <a:latin typeface="Courier New" panose="02070309020205020404" pitchFamily="49" charset="0"/>
                <a:cs typeface="Courier New" panose="02070309020205020404" pitchFamily="49" charset="0"/>
              </a:rPr>
              <a:t>ON</a:t>
            </a:r>
            <a:r>
              <a:rPr lang="en-IN" sz="1250" dirty="0">
                <a:solidFill>
                  <a:schemeClr val="bg1"/>
                </a:solidFill>
                <a:latin typeface="Courier New" panose="02070309020205020404" pitchFamily="49" charset="0"/>
                <a:cs typeface="Courier New" panose="02070309020205020404" pitchFamily="49" charset="0"/>
              </a:rPr>
              <a:t> o.Book_ID = b.Book_ID</a:t>
            </a:r>
          </a:p>
          <a:p>
            <a:r>
              <a:rPr lang="en-IN" sz="1250" b="1" dirty="0">
                <a:solidFill>
                  <a:srgbClr val="E8D48A"/>
                </a:solidFill>
                <a:latin typeface="Courier New" panose="02070309020205020404" pitchFamily="49" charset="0"/>
                <a:cs typeface="Courier New" panose="02070309020205020404" pitchFamily="49" charset="0"/>
              </a:rPr>
              <a:t>GROUP BY</a:t>
            </a:r>
          </a:p>
          <a:p>
            <a:r>
              <a:rPr lang="en-IN" sz="1250" dirty="0">
                <a:solidFill>
                  <a:schemeClr val="bg1"/>
                </a:solidFill>
                <a:latin typeface="Courier New" panose="02070309020205020404" pitchFamily="49" charset="0"/>
                <a:cs typeface="Courier New" panose="02070309020205020404" pitchFamily="49" charset="0"/>
              </a:rPr>
              <a:t>    c.Customer_ID,</a:t>
            </a:r>
          </a:p>
          <a:p>
            <a:r>
              <a:rPr lang="en-IN" sz="1250" dirty="0">
                <a:solidFill>
                  <a:schemeClr val="bg1"/>
                </a:solidFill>
                <a:latin typeface="Courier New" panose="02070309020205020404" pitchFamily="49" charset="0"/>
                <a:cs typeface="Courier New" panose="02070309020205020404" pitchFamily="49" charset="0"/>
              </a:rPr>
              <a:t>    c.Name</a:t>
            </a:r>
          </a:p>
          <a:p>
            <a:r>
              <a:rPr lang="en-IN" sz="1250" b="1" dirty="0">
                <a:solidFill>
                  <a:srgbClr val="E8D48A"/>
                </a:solidFill>
                <a:latin typeface="Courier New" panose="02070309020205020404" pitchFamily="49" charset="0"/>
                <a:cs typeface="Courier New" panose="02070309020205020404" pitchFamily="49" charset="0"/>
              </a:rPr>
              <a:t>HAVING COUNT</a:t>
            </a:r>
            <a:r>
              <a:rPr lang="en-IN" sz="1250" dirty="0">
                <a:solidFill>
                  <a:schemeClr val="bg1"/>
                </a:solidFill>
                <a:latin typeface="Courier New" panose="02070309020205020404" pitchFamily="49" charset="0"/>
                <a:cs typeface="Courier New" panose="02070309020205020404" pitchFamily="49" charset="0"/>
              </a:rPr>
              <a:t>(DISTINCT b.Genre) &gt; 1</a:t>
            </a:r>
          </a:p>
          <a:p>
            <a:r>
              <a:rPr lang="en-IN" sz="1250" b="1" dirty="0">
                <a:solidFill>
                  <a:srgbClr val="E8D48A"/>
                </a:solidFill>
                <a:latin typeface="Courier New" panose="02070309020205020404" pitchFamily="49" charset="0"/>
                <a:cs typeface="Courier New" panose="02070309020205020404" pitchFamily="49" charset="0"/>
              </a:rPr>
              <a:t>ORDER BY </a:t>
            </a:r>
            <a:r>
              <a:rPr lang="en-IN" sz="1250" dirty="0">
                <a:solidFill>
                  <a:schemeClr val="bg1"/>
                </a:solidFill>
                <a:latin typeface="Courier New" panose="02070309020205020404" pitchFamily="49" charset="0"/>
                <a:cs typeface="Courier New" panose="02070309020205020404" pitchFamily="49" charset="0"/>
              </a:rPr>
              <a:t>Number_of_Genres </a:t>
            </a:r>
            <a:r>
              <a:rPr lang="en-IN" sz="1250" b="1" dirty="0">
                <a:solidFill>
                  <a:srgbClr val="E8D48A"/>
                </a:solidFill>
                <a:latin typeface="Courier New" panose="02070309020205020404" pitchFamily="49" charset="0"/>
                <a:cs typeface="Courier New" panose="02070309020205020404" pitchFamily="49" charset="0"/>
              </a:rPr>
              <a:t>DESC</a:t>
            </a:r>
          </a:p>
          <a:p>
            <a:r>
              <a:rPr lang="en-IN" sz="1250" b="1" dirty="0">
                <a:solidFill>
                  <a:srgbClr val="E8D48A"/>
                </a:solidFill>
                <a:latin typeface="Courier New" panose="02070309020205020404" pitchFamily="49" charset="0"/>
                <a:cs typeface="Courier New" panose="02070309020205020404" pitchFamily="49" charset="0"/>
              </a:rPr>
              <a:t>LIMIT </a:t>
            </a:r>
            <a:r>
              <a:rPr lang="en-IN" sz="1250" dirty="0">
                <a:solidFill>
                  <a:schemeClr val="bg1"/>
                </a:solidFill>
                <a:latin typeface="Courier New" panose="02070309020205020404" pitchFamily="49" charset="0"/>
                <a:cs typeface="Courier New" panose="02070309020205020404" pitchFamily="49" charset="0"/>
              </a:rPr>
              <a:t>10;</a:t>
            </a:r>
          </a:p>
        </p:txBody>
      </p:sp>
      <p:pic>
        <p:nvPicPr>
          <p:cNvPr id="5" name="Picture 4">
            <a:extLst>
              <a:ext uri="{FF2B5EF4-FFF2-40B4-BE49-F238E27FC236}">
                <a16:creationId xmlns:a16="http://schemas.microsoft.com/office/drawing/2014/main" id="{CC58CB48-0F48-50A3-4AC6-C13B74673E91}"/>
              </a:ext>
            </a:extLst>
          </p:cNvPr>
          <p:cNvPicPr>
            <a:picLocks noChangeAspect="1"/>
          </p:cNvPicPr>
          <p:nvPr/>
        </p:nvPicPr>
        <p:blipFill>
          <a:blip r:embed="rId3"/>
          <a:stretch>
            <a:fillRect/>
          </a:stretch>
        </p:blipFill>
        <p:spPr>
          <a:xfrm>
            <a:off x="5972961" y="1181097"/>
            <a:ext cx="5706975" cy="333217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Rectangle: Rounded Corners 3">
            <a:extLst>
              <a:ext uri="{FF2B5EF4-FFF2-40B4-BE49-F238E27FC236}">
                <a16:creationId xmlns:a16="http://schemas.microsoft.com/office/drawing/2014/main" id="{7EAC45FD-320F-7771-F357-F218FEAB07B1}"/>
              </a:ext>
            </a:extLst>
          </p:cNvPr>
          <p:cNvSpPr/>
          <p:nvPr/>
        </p:nvSpPr>
        <p:spPr>
          <a:xfrm>
            <a:off x="512064" y="4751876"/>
            <a:ext cx="11277295" cy="1816403"/>
          </a:xfrm>
          <a:prstGeom prst="roundRect">
            <a:avLst>
              <a:gd name="adj" fmla="val 4370"/>
            </a:avLst>
          </a:prstGeom>
          <a:solidFill>
            <a:srgbClr val="E7EAF2"/>
          </a:solidFill>
          <a:ln w="952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F30C2327-D8DA-804D-CA3A-A976D635BC45}"/>
              </a:ext>
            </a:extLst>
          </p:cNvPr>
          <p:cNvSpPr txBox="1"/>
          <p:nvPr/>
        </p:nvSpPr>
        <p:spPr>
          <a:xfrm>
            <a:off x="512064" y="4813953"/>
            <a:ext cx="11167872" cy="1754326"/>
          </a:xfrm>
          <a:prstGeom prst="rect">
            <a:avLst/>
          </a:prstGeom>
          <a:noFill/>
        </p:spPr>
        <p:txBody>
          <a:bodyPr wrap="square" rtlCol="0">
            <a:spAutoFit/>
          </a:bodyPr>
          <a:lstStyle/>
          <a:p>
            <a:pPr algn="just"/>
            <a:r>
              <a:rPr lang="en-US" sz="1350" b="1" dirty="0"/>
              <a:t>High Cross-Genre Engagement:</a:t>
            </a:r>
            <a:r>
              <a:rPr lang="en-US" sz="1350" dirty="0"/>
              <a:t> The top-performing customers are highly diversified readers. The highest-ranked individuals (</a:t>
            </a:r>
            <a:r>
              <a:rPr lang="en-US" sz="1350" b="1" dirty="0"/>
              <a:t>Emily Vargas, Carrie Perez, Ashley Perez, and Andrew Figueroa</a:t>
            </a:r>
            <a:r>
              <a:rPr lang="en-US" sz="1350" dirty="0"/>
              <a:t>) have each purchased books spanning </a:t>
            </a:r>
            <a:r>
              <a:rPr lang="en-US" sz="1350" b="1" dirty="0"/>
              <a:t>4 distinct genres</a:t>
            </a:r>
            <a:r>
              <a:rPr lang="en-US" sz="1350" dirty="0"/>
              <a:t>.</a:t>
            </a:r>
          </a:p>
          <a:p>
            <a:pPr algn="just"/>
            <a:endParaRPr lang="en-US" sz="1350" dirty="0"/>
          </a:p>
          <a:p>
            <a:pPr algn="just"/>
            <a:r>
              <a:rPr lang="en-US" sz="1350" b="1" dirty="0"/>
              <a:t>Concentration of Top Buyers:</a:t>
            </a:r>
            <a:r>
              <a:rPr lang="en-US" sz="1350" dirty="0"/>
              <a:t> There is a solid cluster of active readers just below the top tier. The remaining visible customers on the leaderboard (6 out of 10) have all purchased from </a:t>
            </a:r>
            <a:r>
              <a:rPr lang="en-US" sz="1350" b="1" dirty="0"/>
              <a:t>3 distinct genres</a:t>
            </a:r>
            <a:r>
              <a:rPr lang="en-US" sz="1350" dirty="0"/>
              <a:t>, showing that multi-genre purchasing is a consistent trend among your most active customer base.</a:t>
            </a:r>
          </a:p>
          <a:p>
            <a:pPr algn="just"/>
            <a:endParaRPr lang="en-US" sz="1350" dirty="0"/>
          </a:p>
          <a:p>
            <a:pPr algn="just"/>
            <a:r>
              <a:rPr lang="en-US" sz="1350" b="1" dirty="0"/>
              <a:t>Target Audience for Bundles:</a:t>
            </a:r>
            <a:r>
              <a:rPr lang="en-US" sz="1350" dirty="0"/>
              <a:t> These specific 10 individuals represent your highest-value prospects for multi-genre marketing campaigns, mixed-genre book bundles, or personalized recommendation engines.</a:t>
            </a:r>
          </a:p>
        </p:txBody>
      </p:sp>
      <p:sp>
        <p:nvSpPr>
          <p:cNvPr id="7" name="TextBox 6">
            <a:extLst>
              <a:ext uri="{FF2B5EF4-FFF2-40B4-BE49-F238E27FC236}">
                <a16:creationId xmlns:a16="http://schemas.microsoft.com/office/drawing/2014/main" id="{68F2CC90-4267-0518-E1C1-F4F28745CBEC}"/>
              </a:ext>
            </a:extLst>
          </p:cNvPr>
          <p:cNvSpPr txBox="1"/>
          <p:nvPr/>
        </p:nvSpPr>
        <p:spPr>
          <a:xfrm>
            <a:off x="512064" y="911793"/>
            <a:ext cx="4449533" cy="269304"/>
          </a:xfrm>
          <a:prstGeom prst="rect">
            <a:avLst/>
          </a:prstGeom>
          <a:noFill/>
        </p:spPr>
        <p:txBody>
          <a:bodyPr wrap="square" rtlCol="0">
            <a:spAutoFit/>
          </a:bodyPr>
          <a:lstStyle/>
          <a:p>
            <a:r>
              <a:rPr lang="en-US" sz="1150" b="1" dirty="0">
                <a:solidFill>
                  <a:srgbClr val="1B2A4A"/>
                </a:solidFill>
              </a:rPr>
              <a:t>WORKBENCH ANALYSIS COVERS</a:t>
            </a:r>
            <a:endParaRPr lang="en-IN" sz="1150" dirty="0">
              <a:solidFill>
                <a:srgbClr val="1B2A4A"/>
              </a:solidFill>
            </a:endParaRPr>
          </a:p>
        </p:txBody>
      </p:sp>
      <p:sp>
        <p:nvSpPr>
          <p:cNvPr id="8" name="TextBox 7">
            <a:extLst>
              <a:ext uri="{FF2B5EF4-FFF2-40B4-BE49-F238E27FC236}">
                <a16:creationId xmlns:a16="http://schemas.microsoft.com/office/drawing/2014/main" id="{544EF3E4-1AF3-2998-FB4A-3EDE66A3998F}"/>
              </a:ext>
            </a:extLst>
          </p:cNvPr>
          <p:cNvSpPr txBox="1"/>
          <p:nvPr/>
        </p:nvSpPr>
        <p:spPr>
          <a:xfrm>
            <a:off x="415636" y="6568279"/>
            <a:ext cx="4618182" cy="369332"/>
          </a:xfrm>
          <a:prstGeom prst="rect">
            <a:avLst/>
          </a:prstGeom>
          <a:noFill/>
        </p:spPr>
        <p:txBody>
          <a:bodyPr wrap="square" rtlCol="0">
            <a:spAutoFit/>
          </a:bodyPr>
          <a:lstStyle/>
          <a:p>
            <a:r>
              <a:rPr lang="en-US" sz="900" dirty="0">
                <a:solidFill>
                  <a:srgbClr val="6B7280"/>
                </a:solidFill>
              </a:rPr>
              <a:t>BookVerse Retail  -  Business Intelligence &amp; Sales Analytics</a:t>
            </a:r>
            <a:endParaRPr lang="en-IN" sz="900" dirty="0">
              <a:solidFill>
                <a:srgbClr val="6B7280"/>
              </a:solidFill>
            </a:endParaRPr>
          </a:p>
          <a:p>
            <a:endParaRPr lang="en-IN" sz="900" dirty="0">
              <a:solidFill>
                <a:srgbClr val="6B7280"/>
              </a:solidFill>
            </a:endParaRPr>
          </a:p>
        </p:txBody>
      </p:sp>
      <p:sp>
        <p:nvSpPr>
          <p:cNvPr id="9" name="TextBox 8">
            <a:extLst>
              <a:ext uri="{FF2B5EF4-FFF2-40B4-BE49-F238E27FC236}">
                <a16:creationId xmlns:a16="http://schemas.microsoft.com/office/drawing/2014/main" id="{B83D2F40-D696-A6A0-3D3B-842B7F6FC6A0}"/>
              </a:ext>
            </a:extLst>
          </p:cNvPr>
          <p:cNvSpPr txBox="1"/>
          <p:nvPr/>
        </p:nvSpPr>
        <p:spPr>
          <a:xfrm>
            <a:off x="11276708" y="6568725"/>
            <a:ext cx="659541" cy="230832"/>
          </a:xfrm>
          <a:prstGeom prst="rect">
            <a:avLst/>
          </a:prstGeom>
          <a:noFill/>
        </p:spPr>
        <p:txBody>
          <a:bodyPr wrap="square" rtlCol="0">
            <a:spAutoFit/>
          </a:bodyPr>
          <a:lstStyle/>
          <a:p>
            <a:r>
              <a:rPr lang="en-US" sz="900" dirty="0">
                <a:solidFill>
                  <a:srgbClr val="6B7280"/>
                </a:solidFill>
              </a:rPr>
              <a:t>11 / 19</a:t>
            </a:r>
            <a:endParaRPr lang="en-IN" sz="900" dirty="0">
              <a:solidFill>
                <a:srgbClr val="6B7280"/>
              </a:solidFill>
            </a:endParaRPr>
          </a:p>
        </p:txBody>
      </p:sp>
      <p:sp>
        <p:nvSpPr>
          <p:cNvPr id="10" name="TextBox 9">
            <a:extLst>
              <a:ext uri="{FF2B5EF4-FFF2-40B4-BE49-F238E27FC236}">
                <a16:creationId xmlns:a16="http://schemas.microsoft.com/office/drawing/2014/main" id="{2FBE0A01-6B61-4722-F09F-7DE2BDA9526A}"/>
              </a:ext>
            </a:extLst>
          </p:cNvPr>
          <p:cNvSpPr txBox="1"/>
          <p:nvPr/>
        </p:nvSpPr>
        <p:spPr>
          <a:xfrm>
            <a:off x="729507" y="1271451"/>
            <a:ext cx="4232089" cy="246221"/>
          </a:xfrm>
          <a:prstGeom prst="rect">
            <a:avLst/>
          </a:prstGeom>
          <a:noFill/>
        </p:spPr>
        <p:txBody>
          <a:bodyPr wrap="square" rtlCol="0">
            <a:spAutoFit/>
          </a:bodyPr>
          <a:lstStyle/>
          <a:p>
            <a:r>
              <a:rPr lang="en-US" sz="1000" b="1" kern="0" spc="100" dirty="0">
                <a:solidFill>
                  <a:srgbClr val="C9A227"/>
                </a:solidFill>
                <a:latin typeface="Calibri" pitchFamily="34" charset="0"/>
                <a:ea typeface="Calibri" pitchFamily="34" charset="-122"/>
                <a:cs typeface="Calibri" pitchFamily="34" charset="-120"/>
              </a:rPr>
              <a:t>REPRESENTATIVE QUERY - CUSTOMERS + ORDERS + GENERS</a:t>
            </a:r>
            <a:endParaRPr lang="en-US" sz="1000" dirty="0"/>
          </a:p>
        </p:txBody>
      </p:sp>
    </p:spTree>
    <p:extLst>
      <p:ext uri="{BB962C8B-B14F-4D97-AF65-F5344CB8AC3E}">
        <p14:creationId xmlns:p14="http://schemas.microsoft.com/office/powerpoint/2010/main" val="1666231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0-#ppt_w/2"/>
                                          </p:val>
                                        </p:tav>
                                        <p:tav tm="100000">
                                          <p:val>
                                            <p:strVal val="#ppt_x"/>
                                          </p:val>
                                        </p:tav>
                                      </p:tavLst>
                                    </p:anim>
                                    <p:anim calcmode="lin" valueType="num">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0-#ppt_w/2"/>
                                          </p:val>
                                        </p:tav>
                                        <p:tav tm="100000">
                                          <p:val>
                                            <p:strVal val="#ppt_x"/>
                                          </p:val>
                                        </p:tav>
                                      </p:tavLst>
                                    </p:anim>
                                    <p:anim calcmode="lin" valueType="num">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500" fill="hold"/>
                                        <p:tgtEl>
                                          <p:spTgt spid="45"/>
                                        </p:tgtEl>
                                        <p:attrNameLst>
                                          <p:attrName>ppt_x</p:attrName>
                                        </p:attrNameLst>
                                      </p:cBhvr>
                                      <p:tavLst>
                                        <p:tav tm="0">
                                          <p:val>
                                            <p:strVal val="0-#ppt_w/2"/>
                                          </p:val>
                                        </p:tav>
                                        <p:tav tm="100000">
                                          <p:val>
                                            <p:strVal val="#ppt_x"/>
                                          </p:val>
                                        </p:tav>
                                      </p:tavLst>
                                    </p:anim>
                                    <p:anim calcmode="lin" valueType="num">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anim calcmode="lin" valueType="num">
                                      <p:cBhvr additive="base">
                                        <p:cTn id="19" dur="500" fill="hold"/>
                                        <p:tgtEl>
                                          <p:spTgt spid="46"/>
                                        </p:tgtEl>
                                        <p:attrNameLst>
                                          <p:attrName>ppt_x</p:attrName>
                                        </p:attrNameLst>
                                      </p:cBhvr>
                                      <p:tavLst>
                                        <p:tav tm="0">
                                          <p:val>
                                            <p:strVal val="0-#ppt_w/2"/>
                                          </p:val>
                                        </p:tav>
                                        <p:tav tm="100000">
                                          <p:val>
                                            <p:strVal val="#ppt_x"/>
                                          </p:val>
                                        </p:tav>
                                      </p:tavLst>
                                    </p:anim>
                                    <p:anim calcmode="lin" valueType="num">
                                      <p:cBhvr additive="base">
                                        <p:cTn id="20" dur="500" fill="hold"/>
                                        <p:tgtEl>
                                          <p:spTgt spid="46"/>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anim calcmode="lin" valueType="num">
                                      <p:cBhvr additive="base">
                                        <p:cTn id="23" dur="500" fill="hold"/>
                                        <p:tgtEl>
                                          <p:spTgt spid="47"/>
                                        </p:tgtEl>
                                        <p:attrNameLst>
                                          <p:attrName>ppt_x</p:attrName>
                                        </p:attrNameLst>
                                      </p:cBhvr>
                                      <p:tavLst>
                                        <p:tav tm="0">
                                          <p:val>
                                            <p:strVal val="0-#ppt_w/2"/>
                                          </p:val>
                                        </p:tav>
                                        <p:tav tm="100000">
                                          <p:val>
                                            <p:strVal val="#ppt_x"/>
                                          </p:val>
                                        </p:tav>
                                      </p:tavLst>
                                    </p:anim>
                                    <p:anim calcmode="lin" valueType="num">
                                      <p:cBhvr additive="base">
                                        <p:cTn id="24"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0-#ppt_w/2"/>
                                          </p:val>
                                        </p:tav>
                                        <p:tav tm="100000">
                                          <p:val>
                                            <p:strVal val="#ppt_x"/>
                                          </p:val>
                                        </p:tav>
                                      </p:tavLst>
                                    </p:anim>
                                    <p:anim calcmode="lin" valueType="num">
                                      <p:cBhvr additive="base">
                                        <p:cTn id="35" dur="500" fill="hold"/>
                                        <p:tgtEl>
                                          <p:spTgt spid="2"/>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additive="base">
                                        <p:cTn id="38" dur="500" fill="hold"/>
                                        <p:tgtEl>
                                          <p:spTgt spid="3"/>
                                        </p:tgtEl>
                                        <p:attrNameLst>
                                          <p:attrName>ppt_x</p:attrName>
                                        </p:attrNameLst>
                                      </p:cBhvr>
                                      <p:tavLst>
                                        <p:tav tm="0">
                                          <p:val>
                                            <p:strVal val="0-#ppt_w/2"/>
                                          </p:val>
                                        </p:tav>
                                        <p:tav tm="100000">
                                          <p:val>
                                            <p:strVal val="#ppt_x"/>
                                          </p:val>
                                        </p:tav>
                                      </p:tavLst>
                                    </p:anim>
                                    <p:anim calcmode="lin" valueType="num">
                                      <p:cBhvr additive="base">
                                        <p:cTn id="3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additive="base">
                                        <p:cTn id="44" dur="500" fill="hold"/>
                                        <p:tgtEl>
                                          <p:spTgt spid="5"/>
                                        </p:tgtEl>
                                        <p:attrNameLst>
                                          <p:attrName>ppt_x</p:attrName>
                                        </p:attrNameLst>
                                      </p:cBhvr>
                                      <p:tavLst>
                                        <p:tav tm="0">
                                          <p:val>
                                            <p:strVal val="1+#ppt_w/2"/>
                                          </p:val>
                                        </p:tav>
                                        <p:tav tm="100000">
                                          <p:val>
                                            <p:strVal val="#ppt_x"/>
                                          </p:val>
                                        </p:tav>
                                      </p:tavLst>
                                    </p:anim>
                                    <p:anim calcmode="lin" valueType="num">
                                      <p:cBhvr additive="base">
                                        <p:cTn id="45"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fade">
                                      <p:cBhvr>
                                        <p:cTn id="50" dur="1000"/>
                                        <p:tgtEl>
                                          <p:spTgt spid="4"/>
                                        </p:tgtEl>
                                      </p:cBhvr>
                                    </p:animEffect>
                                    <p:anim calcmode="lin" valueType="num">
                                      <p:cBhvr>
                                        <p:cTn id="51" dur="1000" fill="hold"/>
                                        <p:tgtEl>
                                          <p:spTgt spid="4"/>
                                        </p:tgtEl>
                                        <p:attrNameLst>
                                          <p:attrName>ppt_x</p:attrName>
                                        </p:attrNameLst>
                                      </p:cBhvr>
                                      <p:tavLst>
                                        <p:tav tm="0">
                                          <p:val>
                                            <p:strVal val="#ppt_x"/>
                                          </p:val>
                                        </p:tav>
                                        <p:tav tm="100000">
                                          <p:val>
                                            <p:strVal val="#ppt_x"/>
                                          </p:val>
                                        </p:tav>
                                      </p:tavLst>
                                    </p:anim>
                                    <p:anim calcmode="lin" valueType="num">
                                      <p:cBhvr>
                                        <p:cTn id="52" dur="1000" fill="hold"/>
                                        <p:tgtEl>
                                          <p:spTgt spid="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1000"/>
                                        <p:tgtEl>
                                          <p:spTgt spid="6"/>
                                        </p:tgtEl>
                                      </p:cBhvr>
                                    </p:animEffect>
                                    <p:anim calcmode="lin" valueType="num">
                                      <p:cBhvr>
                                        <p:cTn id="56" dur="1000" fill="hold"/>
                                        <p:tgtEl>
                                          <p:spTgt spid="6"/>
                                        </p:tgtEl>
                                        <p:attrNameLst>
                                          <p:attrName>ppt_x</p:attrName>
                                        </p:attrNameLst>
                                      </p:cBhvr>
                                      <p:tavLst>
                                        <p:tav tm="0">
                                          <p:val>
                                            <p:strVal val="#ppt_x"/>
                                          </p:val>
                                        </p:tav>
                                        <p:tav tm="100000">
                                          <p:val>
                                            <p:strVal val="#ppt_x"/>
                                          </p:val>
                                        </p:tav>
                                      </p:tavLst>
                                    </p:anim>
                                    <p:anim calcmode="lin" valueType="num">
                                      <p:cBhvr>
                                        <p:cTn id="5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6" grpId="0" animBg="1"/>
      <p:bldP spid="47" grpId="0" animBg="1"/>
      <p:bldP spid="2" grpId="0" animBg="1"/>
      <p:bldP spid="3" grpId="0"/>
      <p:bldP spid="4" grpId="0" animBg="1"/>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913C4784-B9AD-393A-8FBE-3BF802CF2537}"/>
              </a:ext>
            </a:extLst>
          </p:cNvPr>
          <p:cNvSpPr/>
          <p:nvPr/>
        </p:nvSpPr>
        <p:spPr>
          <a:xfrm>
            <a:off x="372291" y="4624096"/>
            <a:ext cx="11534503" cy="1597307"/>
          </a:xfrm>
          <a:prstGeom prst="roundRect">
            <a:avLst>
              <a:gd name="adj" fmla="val 3929"/>
            </a:avLst>
          </a:prstGeom>
          <a:solidFill>
            <a:srgbClr val="E7EAF2"/>
          </a:solidFill>
          <a:ln w="9525">
            <a:solidFill>
              <a:schemeClr val="tx1"/>
            </a:solidFill>
            <a:prstDash val="lgDash"/>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2" name="Text 0"/>
          <p:cNvSpPr txBox="1"/>
          <p:nvPr/>
        </p:nvSpPr>
        <p:spPr>
          <a:xfrm>
            <a:off x="457200" y="365760"/>
            <a:ext cx="11277295" cy="27432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PRODUCT &amp; GENRE PERFORMANCE</a:t>
            </a:r>
            <a:endParaRPr lang="en-US" sz="1200" dirty="0"/>
          </a:p>
        </p:txBody>
      </p:sp>
      <p:sp>
        <p:nvSpPr>
          <p:cNvPr id="3" name="Text 1"/>
          <p:cNvSpPr txBox="1"/>
          <p:nvPr/>
        </p:nvSpPr>
        <p:spPr>
          <a:xfrm>
            <a:off x="457200" y="621792"/>
            <a:ext cx="11277295" cy="548640"/>
          </a:xfrm>
          <a:prstGeom prst="rect">
            <a:avLst/>
          </a:prstGeom>
          <a:noFill/>
          <a:ln/>
        </p:spPr>
        <p:txBody>
          <a:bodyPr wrap="square" rtlCol="0" anchor="ctr"/>
          <a:lstStyle/>
          <a:p>
            <a:pPr marL="0" indent="0">
              <a:buNone/>
            </a:pPr>
            <a:r>
              <a:rPr lang="en-US" sz="2900" b="1" dirty="0">
                <a:solidFill>
                  <a:srgbClr val="1B2A4A"/>
                </a:solidFill>
                <a:latin typeface="Cambria" pitchFamily="34" charset="0"/>
                <a:ea typeface="Cambria" pitchFamily="34" charset="-122"/>
                <a:cs typeface="Cambria" pitchFamily="34" charset="-120"/>
              </a:rPr>
              <a:t>Product &amp; Genre Performance</a:t>
            </a:r>
            <a:endParaRPr lang="en-US" sz="2900" dirty="0"/>
          </a:p>
        </p:txBody>
      </p:sp>
      <p:sp>
        <p:nvSpPr>
          <p:cNvPr id="4" name="Text 2"/>
          <p:cNvSpPr txBox="1"/>
          <p:nvPr/>
        </p:nvSpPr>
        <p:spPr>
          <a:xfrm>
            <a:off x="457200" y="1331976"/>
            <a:ext cx="5410048" cy="274320"/>
          </a:xfrm>
          <a:prstGeom prst="rect">
            <a:avLst/>
          </a:prstGeom>
          <a:noFill/>
          <a:ln/>
        </p:spPr>
        <p:txBody>
          <a:bodyPr wrap="square" rtlCol="0" anchor="ctr"/>
          <a:lstStyle/>
          <a:p>
            <a:pPr marL="0" indent="0">
              <a:buNone/>
            </a:pPr>
            <a:r>
              <a:rPr lang="en-US" sz="1150" b="1" kern="0" spc="100" dirty="0">
                <a:solidFill>
                  <a:srgbClr val="1B2A4A"/>
                </a:solidFill>
                <a:latin typeface="Calibri" pitchFamily="34" charset="0"/>
                <a:ea typeface="Calibri" pitchFamily="34" charset="-122"/>
                <a:cs typeface="Calibri" pitchFamily="34" charset="-120"/>
              </a:rPr>
              <a:t>WORKBENCH ANALYSIS COVERS</a:t>
            </a:r>
            <a:endParaRPr lang="en-US" sz="1150" dirty="0"/>
          </a:p>
        </p:txBody>
      </p:sp>
      <p:sp>
        <p:nvSpPr>
          <p:cNvPr id="6" name="Shape 4"/>
          <p:cNvSpPr/>
          <p:nvPr/>
        </p:nvSpPr>
        <p:spPr>
          <a:xfrm>
            <a:off x="372291" y="1837565"/>
            <a:ext cx="4646023" cy="2480523"/>
          </a:xfrm>
          <a:prstGeom prst="roundRect">
            <a:avLst>
              <a:gd name="adj" fmla="val 3478"/>
            </a:avLst>
          </a:prstGeom>
          <a:solidFill>
            <a:srgbClr val="121D33"/>
          </a:solidFill>
          <a:ln/>
        </p:spPr>
        <p:txBody>
          <a:bodyPr/>
          <a:lstStyle/>
          <a:p>
            <a:endParaRPr lang="en-IN"/>
          </a:p>
        </p:txBody>
      </p:sp>
      <p:sp>
        <p:nvSpPr>
          <p:cNvPr id="7" name="Text 5"/>
          <p:cNvSpPr txBox="1"/>
          <p:nvPr/>
        </p:nvSpPr>
        <p:spPr>
          <a:xfrm>
            <a:off x="479591" y="1993620"/>
            <a:ext cx="4431422" cy="256032"/>
          </a:xfrm>
          <a:prstGeom prst="rect">
            <a:avLst/>
          </a:prstGeom>
          <a:noFill/>
          <a:ln/>
        </p:spPr>
        <p:txBody>
          <a:bodyPr wrap="square" rtlCol="0" anchor="ctr"/>
          <a:lstStyle/>
          <a:p>
            <a:r>
              <a:rPr lang="en-US" sz="1050" b="1" dirty="0">
                <a:solidFill>
                  <a:srgbClr val="D6A300"/>
                </a:solidFill>
              </a:rPr>
              <a:t>REPRESENTATIVE QUERY - BOOKS WITH ZERO SALES</a:t>
            </a:r>
            <a:endParaRPr lang="en-IN" sz="1050" dirty="0">
              <a:solidFill>
                <a:srgbClr val="D6A300"/>
              </a:solidFill>
              <a:effectLst/>
            </a:endParaRPr>
          </a:p>
        </p:txBody>
      </p:sp>
      <p:sp>
        <p:nvSpPr>
          <p:cNvPr id="8" name="Text 6"/>
          <p:cNvSpPr txBox="1"/>
          <p:nvPr/>
        </p:nvSpPr>
        <p:spPr>
          <a:xfrm>
            <a:off x="479591" y="2383216"/>
            <a:ext cx="4219303" cy="1609344"/>
          </a:xfrm>
          <a:prstGeom prst="rect">
            <a:avLst/>
          </a:prstGeom>
          <a:noFill/>
          <a:ln/>
        </p:spPr>
        <p:txBody>
          <a:bodyPr wrap="square" rtlCol="0" anchor="t"/>
          <a:lstStyle/>
          <a:p>
            <a:pPr marL="0" indent="0">
              <a:lnSpc>
                <a:spcPct val="106000"/>
              </a:lnSpc>
              <a:buNone/>
            </a:pPr>
            <a:r>
              <a:rPr lang="en-US" sz="1250" b="1" dirty="0">
                <a:solidFill>
                  <a:srgbClr val="E8D48A"/>
                </a:solidFill>
                <a:latin typeface="Courier New" pitchFamily="34" charset="0"/>
                <a:ea typeface="Courier New" pitchFamily="34" charset="-122"/>
                <a:cs typeface="Courier New" pitchFamily="34" charset="-120"/>
              </a:rPr>
              <a:t>SELECT</a:t>
            </a:r>
            <a:endParaRPr lang="en-US" sz="1250" dirty="0">
              <a:solidFill>
                <a:srgbClr val="E8D48A"/>
              </a:solidFill>
            </a:endParaRPr>
          </a:p>
          <a:p>
            <a:pPr marL="0" indent="0">
              <a:lnSpc>
                <a:spcPct val="106000"/>
              </a:lnSpc>
              <a:buNone/>
            </a:pPr>
            <a:r>
              <a:rPr lang="en-US" sz="1250" dirty="0">
                <a:solidFill>
                  <a:srgbClr val="FFFFFF"/>
                </a:solidFill>
                <a:latin typeface="Courier New" pitchFamily="34" charset="0"/>
                <a:ea typeface="Courier New" pitchFamily="34" charset="-122"/>
                <a:cs typeface="Courier New" pitchFamily="34" charset="-120"/>
              </a:rPr>
              <a:t>    b.Book_ID, b.Title, b.Author,</a:t>
            </a:r>
            <a:endParaRPr lang="en-US" sz="1250" dirty="0"/>
          </a:p>
          <a:p>
            <a:pPr marL="0" indent="0">
              <a:lnSpc>
                <a:spcPct val="106000"/>
              </a:lnSpc>
              <a:buNone/>
            </a:pPr>
            <a:r>
              <a:rPr lang="en-US" sz="1250" dirty="0">
                <a:solidFill>
                  <a:srgbClr val="FFFFFF"/>
                </a:solidFill>
                <a:latin typeface="Courier New" pitchFamily="34" charset="0"/>
                <a:ea typeface="Courier New" pitchFamily="34" charset="-122"/>
                <a:cs typeface="Courier New" pitchFamily="34" charset="-120"/>
              </a:rPr>
              <a:t>    b.Genre, b.Price, b.Stock</a:t>
            </a:r>
            <a:endParaRPr lang="en-US" sz="1250" dirty="0"/>
          </a:p>
          <a:p>
            <a:pPr marL="0" indent="0">
              <a:lnSpc>
                <a:spcPct val="106000"/>
              </a:lnSpc>
              <a:buNone/>
            </a:pPr>
            <a:r>
              <a:rPr lang="en-US" sz="1250" b="1" dirty="0">
                <a:solidFill>
                  <a:srgbClr val="E8D48A"/>
                </a:solidFill>
                <a:latin typeface="Courier New" pitchFamily="34" charset="0"/>
                <a:ea typeface="Courier New" pitchFamily="34" charset="-122"/>
                <a:cs typeface="Courier New" pitchFamily="34" charset="-120"/>
              </a:rPr>
              <a:t>FROM</a:t>
            </a:r>
            <a:r>
              <a:rPr lang="en-US" sz="1250" dirty="0">
                <a:solidFill>
                  <a:srgbClr val="FFFFFF"/>
                </a:solidFill>
                <a:latin typeface="Courier New" pitchFamily="34" charset="0"/>
                <a:ea typeface="Courier New" pitchFamily="34" charset="-122"/>
                <a:cs typeface="Courier New" pitchFamily="34" charset="-120"/>
              </a:rPr>
              <a:t> Books b</a:t>
            </a:r>
            <a:endParaRPr lang="en-US" sz="1250" dirty="0"/>
          </a:p>
          <a:p>
            <a:pPr marL="0" indent="0">
              <a:lnSpc>
                <a:spcPct val="106000"/>
              </a:lnSpc>
              <a:buNone/>
            </a:pPr>
            <a:r>
              <a:rPr lang="en-US" sz="1250" b="1" dirty="0">
                <a:solidFill>
                  <a:srgbClr val="E8D48A"/>
                </a:solidFill>
                <a:latin typeface="Courier New" pitchFamily="34" charset="0"/>
                <a:ea typeface="Courier New" pitchFamily="34" charset="-122"/>
                <a:cs typeface="Courier New" pitchFamily="34" charset="-120"/>
              </a:rPr>
              <a:t>LEFT</a:t>
            </a:r>
            <a:r>
              <a:rPr lang="en-US" sz="1250" dirty="0">
                <a:solidFill>
                  <a:srgbClr val="FFFFFF"/>
                </a:solidFill>
                <a:latin typeface="Courier New" pitchFamily="34" charset="0"/>
                <a:ea typeface="Courier New" pitchFamily="34" charset="-122"/>
                <a:cs typeface="Courier New" pitchFamily="34" charset="-120"/>
              </a:rPr>
              <a:t> </a:t>
            </a:r>
            <a:r>
              <a:rPr lang="en-US" sz="1250" b="1" dirty="0">
                <a:solidFill>
                  <a:srgbClr val="E8D48A"/>
                </a:solidFill>
                <a:latin typeface="Courier New" pitchFamily="34" charset="0"/>
                <a:ea typeface="Courier New" pitchFamily="34" charset="-122"/>
                <a:cs typeface="Courier New" pitchFamily="34" charset="-120"/>
              </a:rPr>
              <a:t>JOIN</a:t>
            </a:r>
            <a:r>
              <a:rPr lang="en-US" sz="1250" dirty="0">
                <a:solidFill>
                  <a:srgbClr val="FFFFFF"/>
                </a:solidFill>
                <a:latin typeface="Courier New" pitchFamily="34" charset="0"/>
                <a:ea typeface="Courier New" pitchFamily="34" charset="-122"/>
                <a:cs typeface="Courier New" pitchFamily="34" charset="-120"/>
              </a:rPr>
              <a:t> Orders o</a:t>
            </a:r>
            <a:endParaRPr lang="en-US" sz="1250" dirty="0"/>
          </a:p>
          <a:p>
            <a:pPr marL="0" indent="0">
              <a:lnSpc>
                <a:spcPct val="106000"/>
              </a:lnSpc>
              <a:buNone/>
            </a:pPr>
            <a:r>
              <a:rPr lang="en-US" sz="1250" dirty="0">
                <a:solidFill>
                  <a:srgbClr val="FFFFFF"/>
                </a:solidFill>
                <a:latin typeface="Courier New" pitchFamily="34" charset="0"/>
                <a:ea typeface="Courier New" pitchFamily="34" charset="-122"/>
                <a:cs typeface="Courier New" pitchFamily="34" charset="-120"/>
              </a:rPr>
              <a:t>    </a:t>
            </a:r>
            <a:r>
              <a:rPr lang="en-US" sz="1250" b="1" dirty="0">
                <a:solidFill>
                  <a:srgbClr val="E8D48A"/>
                </a:solidFill>
                <a:latin typeface="Courier New" pitchFamily="34" charset="0"/>
                <a:ea typeface="Courier New" pitchFamily="34" charset="-122"/>
                <a:cs typeface="Courier New" pitchFamily="34" charset="-120"/>
              </a:rPr>
              <a:t>ON</a:t>
            </a:r>
            <a:r>
              <a:rPr lang="en-US" sz="1250" dirty="0">
                <a:solidFill>
                  <a:srgbClr val="FFFFFF"/>
                </a:solidFill>
                <a:latin typeface="Courier New" pitchFamily="34" charset="0"/>
                <a:ea typeface="Courier New" pitchFamily="34" charset="-122"/>
                <a:cs typeface="Courier New" pitchFamily="34" charset="-120"/>
              </a:rPr>
              <a:t> b.Book_ID = o.Book_ID</a:t>
            </a:r>
            <a:endParaRPr lang="en-US" sz="1250" dirty="0"/>
          </a:p>
          <a:p>
            <a:pPr marL="0" indent="0">
              <a:lnSpc>
                <a:spcPct val="106000"/>
              </a:lnSpc>
              <a:buNone/>
            </a:pPr>
            <a:r>
              <a:rPr lang="en-US" sz="1250" b="1" dirty="0">
                <a:solidFill>
                  <a:srgbClr val="E8D48A"/>
                </a:solidFill>
                <a:latin typeface="Courier New" pitchFamily="34" charset="0"/>
                <a:ea typeface="Courier New" pitchFamily="34" charset="-122"/>
                <a:cs typeface="Courier New" pitchFamily="34" charset="-120"/>
              </a:rPr>
              <a:t>WHERE</a:t>
            </a:r>
            <a:r>
              <a:rPr lang="en-US" sz="1250" dirty="0">
                <a:solidFill>
                  <a:srgbClr val="FFFFFF"/>
                </a:solidFill>
                <a:latin typeface="Courier New" pitchFamily="34" charset="0"/>
                <a:ea typeface="Courier New" pitchFamily="34" charset="-122"/>
                <a:cs typeface="Courier New" pitchFamily="34" charset="-120"/>
              </a:rPr>
              <a:t> o.Book_ID </a:t>
            </a:r>
            <a:r>
              <a:rPr lang="en-US" sz="1250" b="1" dirty="0">
                <a:solidFill>
                  <a:srgbClr val="E8D48A"/>
                </a:solidFill>
                <a:latin typeface="Courier New" pitchFamily="34" charset="0"/>
                <a:ea typeface="Courier New" pitchFamily="34" charset="-122"/>
                <a:cs typeface="Courier New" pitchFamily="34" charset="-120"/>
              </a:rPr>
              <a:t>IS</a:t>
            </a:r>
            <a:r>
              <a:rPr lang="en-US" sz="1250" dirty="0">
                <a:solidFill>
                  <a:srgbClr val="FFFFFF"/>
                </a:solidFill>
                <a:latin typeface="Courier New" pitchFamily="34" charset="0"/>
                <a:ea typeface="Courier New" pitchFamily="34" charset="-122"/>
                <a:cs typeface="Courier New" pitchFamily="34" charset="-120"/>
              </a:rPr>
              <a:t> </a:t>
            </a:r>
            <a:r>
              <a:rPr lang="en-US" sz="1250" b="1" dirty="0">
                <a:solidFill>
                  <a:srgbClr val="E8D48A"/>
                </a:solidFill>
                <a:latin typeface="Courier New" pitchFamily="34" charset="0"/>
                <a:ea typeface="Courier New" pitchFamily="34" charset="-122"/>
                <a:cs typeface="Courier New" pitchFamily="34" charset="-120"/>
              </a:rPr>
              <a:t>NULL</a:t>
            </a:r>
            <a:endParaRPr lang="en-US" sz="1250" b="1" dirty="0">
              <a:solidFill>
                <a:srgbClr val="FFFFFF"/>
              </a:solidFill>
              <a:latin typeface="Courier New" pitchFamily="34" charset="0"/>
              <a:ea typeface="Courier New" pitchFamily="34" charset="-122"/>
              <a:cs typeface="Courier New" pitchFamily="34" charset="-120"/>
            </a:endParaRPr>
          </a:p>
          <a:p>
            <a:pPr marL="0" indent="0">
              <a:lnSpc>
                <a:spcPct val="106000"/>
              </a:lnSpc>
              <a:buNone/>
            </a:pPr>
            <a:r>
              <a:rPr lang="en-US" sz="1250" b="1" dirty="0">
                <a:solidFill>
                  <a:srgbClr val="E8D48A"/>
                </a:solidFill>
                <a:latin typeface="Courier New" pitchFamily="34" charset="0"/>
                <a:cs typeface="Courier New" pitchFamily="34" charset="-120"/>
              </a:rPr>
              <a:t>LIMIT</a:t>
            </a:r>
            <a:r>
              <a:rPr lang="en-US" sz="1250" b="1" dirty="0">
                <a:solidFill>
                  <a:srgbClr val="FFFFFF"/>
                </a:solidFill>
                <a:latin typeface="Courier New" pitchFamily="34" charset="0"/>
                <a:cs typeface="Courier New" pitchFamily="34" charset="-120"/>
              </a:rPr>
              <a:t> </a:t>
            </a:r>
            <a:r>
              <a:rPr lang="en-US" sz="1250" dirty="0">
                <a:solidFill>
                  <a:srgbClr val="FFFFFF"/>
                </a:solidFill>
                <a:latin typeface="Courier New" pitchFamily="34" charset="0"/>
                <a:cs typeface="Courier New" pitchFamily="34" charset="-120"/>
              </a:rPr>
              <a:t>10</a:t>
            </a:r>
            <a:r>
              <a:rPr lang="en-US" sz="1250" b="1" dirty="0">
                <a:solidFill>
                  <a:srgbClr val="FFFFFF"/>
                </a:solidFill>
                <a:latin typeface="Courier New" pitchFamily="34" charset="0"/>
                <a:cs typeface="Courier New" pitchFamily="34" charset="-120"/>
              </a:rPr>
              <a:t>;</a:t>
            </a:r>
            <a:endParaRPr lang="en-US" sz="1250" dirty="0"/>
          </a:p>
        </p:txBody>
      </p:sp>
      <p:sp>
        <p:nvSpPr>
          <p:cNvPr id="24" name="Text 22"/>
          <p:cNvSpPr txBox="1"/>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25" name="Text 23"/>
          <p:cNvSpPr txBox="1"/>
          <p:nvPr/>
        </p:nvSpPr>
        <p:spPr>
          <a:xfrm>
            <a:off x="10637215" y="6547104"/>
            <a:ext cx="1097280"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 / 19</a:t>
            </a:r>
            <a:endParaRPr lang="en-US" sz="900" dirty="0"/>
          </a:p>
        </p:txBody>
      </p:sp>
      <p:pic>
        <p:nvPicPr>
          <p:cNvPr id="27" name="Picture 26">
            <a:extLst>
              <a:ext uri="{FF2B5EF4-FFF2-40B4-BE49-F238E27FC236}">
                <a16:creationId xmlns:a16="http://schemas.microsoft.com/office/drawing/2014/main" id="{96391269-EB8C-C799-F358-AD269384A138}"/>
              </a:ext>
            </a:extLst>
          </p:cNvPr>
          <p:cNvPicPr>
            <a:picLocks noChangeAspect="1"/>
          </p:cNvPicPr>
          <p:nvPr/>
        </p:nvPicPr>
        <p:blipFill>
          <a:blip r:embed="rId3"/>
          <a:stretch>
            <a:fillRect/>
          </a:stretch>
        </p:blipFill>
        <p:spPr>
          <a:xfrm>
            <a:off x="5427677" y="1620664"/>
            <a:ext cx="6394210" cy="263347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9" name="TextBox 8">
            <a:extLst>
              <a:ext uri="{FF2B5EF4-FFF2-40B4-BE49-F238E27FC236}">
                <a16:creationId xmlns:a16="http://schemas.microsoft.com/office/drawing/2014/main" id="{9623E8CD-84D6-990B-ED4D-701F7447E406}"/>
              </a:ext>
            </a:extLst>
          </p:cNvPr>
          <p:cNvSpPr txBox="1"/>
          <p:nvPr/>
        </p:nvSpPr>
        <p:spPr>
          <a:xfrm>
            <a:off x="413657" y="4784489"/>
            <a:ext cx="11364686" cy="1131079"/>
          </a:xfrm>
          <a:prstGeom prst="rect">
            <a:avLst/>
          </a:prstGeom>
          <a:noFill/>
        </p:spPr>
        <p:txBody>
          <a:bodyPr wrap="square" rtlCol="0">
            <a:spAutoFit/>
          </a:bodyPr>
          <a:lstStyle/>
          <a:p>
            <a:pPr lvl="0" algn="just" eaLnBrk="0" fontAlgn="base" hangingPunct="0">
              <a:spcBef>
                <a:spcPct val="0"/>
              </a:spcBef>
              <a:spcAft>
                <a:spcPct val="0"/>
              </a:spcAft>
              <a:buFontTx/>
              <a:buChar char="•"/>
            </a:pPr>
            <a:r>
              <a:rPr lang="en-US" altLang="en-US" sz="1350" b="1" dirty="0">
                <a:latin typeface="Google Sans"/>
              </a:rPr>
              <a:t> The Largest Financial Risk is Non-Fiction:</a:t>
            </a:r>
            <a:r>
              <a:rPr lang="en-US" altLang="en-US" sz="1350" dirty="0">
                <a:latin typeface="Google Sans"/>
              </a:rPr>
              <a:t> The </a:t>
            </a:r>
            <a:r>
              <a:rPr lang="en-US" altLang="en-US" sz="1350" b="1" dirty="0">
                <a:latin typeface="Google Sans"/>
              </a:rPr>
              <a:t>Non-Fiction</a:t>
            </a:r>
            <a:r>
              <a:rPr lang="en-US" altLang="en-US" sz="1350" dirty="0">
                <a:latin typeface="Google Sans"/>
              </a:rPr>
              <a:t> category accounts for </a:t>
            </a:r>
            <a:r>
              <a:rPr lang="en-US" altLang="en-US" sz="1350" b="1" dirty="0">
                <a:latin typeface="Google Sans"/>
              </a:rPr>
              <a:t>$6,190.55</a:t>
            </a:r>
            <a:r>
              <a:rPr lang="en-US" altLang="en-US" sz="1350" dirty="0">
                <a:latin typeface="Google Sans"/>
              </a:rPr>
              <a:t> (roughly 42.5%) of the total stagnant financial value. This is driven heavily by high retail prices across the genre, such as </a:t>
            </a:r>
            <a:r>
              <a:rPr lang="en-US" altLang="en-US" sz="1350" dirty="0">
                <a:cs typeface="Courier New" panose="02070309020205020404" pitchFamily="49" charset="0"/>
              </a:rPr>
              <a:t>Face-to-face systematic throughput</a:t>
            </a:r>
            <a:r>
              <a:rPr lang="en-US" altLang="en-US" sz="1350" dirty="0"/>
              <a:t> </a:t>
            </a:r>
            <a:r>
              <a:rPr lang="en-US" altLang="en-US" sz="1350" dirty="0">
                <a:latin typeface="Google Sans"/>
              </a:rPr>
              <a:t>priced at </a:t>
            </a:r>
            <a:r>
              <a:rPr lang="en-US" altLang="en-US" sz="1350" b="1" dirty="0">
                <a:latin typeface="Google Sans"/>
              </a:rPr>
              <a:t>$48.13</a:t>
            </a:r>
            <a:r>
              <a:rPr lang="en-US" altLang="en-US" sz="1350" dirty="0">
                <a:latin typeface="Google Sans"/>
              </a:rPr>
              <a:t> per unit (the highest-priced book in the dataset).</a:t>
            </a:r>
          </a:p>
          <a:p>
            <a:pPr lvl="0" algn="just" eaLnBrk="0" fontAlgn="base" hangingPunct="0">
              <a:spcBef>
                <a:spcPct val="0"/>
              </a:spcBef>
              <a:spcAft>
                <a:spcPct val="0"/>
              </a:spcAft>
              <a:buFontTx/>
              <a:buChar char="•"/>
            </a:pPr>
            <a:endParaRPr lang="en-US" altLang="en-US" sz="1350" dirty="0">
              <a:latin typeface="Google Sans"/>
            </a:endParaRPr>
          </a:p>
          <a:p>
            <a:pPr lvl="0" algn="just" eaLnBrk="0" fontAlgn="base" hangingPunct="0">
              <a:spcBef>
                <a:spcPct val="0"/>
              </a:spcBef>
              <a:spcAft>
                <a:spcPct val="0"/>
              </a:spcAft>
              <a:buFontTx/>
              <a:buChar char="•"/>
            </a:pPr>
            <a:r>
              <a:rPr lang="en-US" altLang="en-US" sz="1350" b="1" dirty="0">
                <a:latin typeface="Google Sans"/>
              </a:rPr>
              <a:t> Science Fiction has a Bulk Volume Issue</a:t>
            </a:r>
            <a:r>
              <a:rPr lang="en-US" altLang="en-US" sz="1350" b="1" dirty="0"/>
              <a:t>:</a:t>
            </a:r>
            <a:r>
              <a:rPr lang="en-US" altLang="en-US" sz="1350" dirty="0"/>
              <a:t> </a:t>
            </a:r>
            <a:r>
              <a:rPr lang="en-US" altLang="en-US" sz="1350" dirty="0">
                <a:cs typeface="Courier New" panose="02070309020205020404" pitchFamily="49" charset="0"/>
              </a:rPr>
              <a:t>Re-engineered demand-driven parallelism</a:t>
            </a:r>
            <a:r>
              <a:rPr lang="en-US" altLang="en-US" sz="1350" dirty="0"/>
              <a:t> </a:t>
            </a:r>
            <a:r>
              <a:rPr lang="en-US" altLang="en-US" sz="1350" dirty="0">
                <a:latin typeface="Google Sans"/>
              </a:rPr>
              <a:t>holds the highest individual unit risk with </a:t>
            </a:r>
            <a:r>
              <a:rPr lang="en-US" altLang="en-US" sz="1350" b="1" dirty="0">
                <a:latin typeface="Google Sans"/>
              </a:rPr>
              <a:t>95 copies in stock</a:t>
            </a:r>
            <a:r>
              <a:rPr lang="en-US" altLang="en-US" sz="1350" dirty="0">
                <a:latin typeface="Google Sans"/>
              </a:rPr>
              <a:t>, even though its lower price point ($6.04) limits its overall budget damage.</a:t>
            </a:r>
            <a:r>
              <a:rPr lang="en-US" altLang="en-US" sz="1350" dirty="0"/>
              <a:t> </a:t>
            </a:r>
            <a:endParaRPr lang="en-US" altLang="en-US" sz="1350" dirty="0">
              <a:latin typeface="Arial" panose="020B0604020202020204"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0-#ppt_w/2"/>
                                          </p:val>
                                        </p:tav>
                                        <p:tav tm="100000">
                                          <p:val>
                                            <p:strVal val="#ppt_x"/>
                                          </p:val>
                                        </p:tav>
                                      </p:tavLst>
                                    </p:anim>
                                    <p:anim calcmode="lin" valueType="num">
                                      <p:cBhvr additive="base">
                                        <p:cTn id="17" dur="500" fill="hold"/>
                                        <p:tgtEl>
                                          <p:spTgt spid="7"/>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0-#ppt_w/2"/>
                                          </p:val>
                                        </p:tav>
                                        <p:tav tm="100000">
                                          <p:val>
                                            <p:strVal val="#ppt_x"/>
                                          </p:val>
                                        </p:tav>
                                      </p:tavLst>
                                    </p:anim>
                                    <p:anim calcmode="lin" valueType="num">
                                      <p:cBhvr additive="base">
                                        <p:cTn id="21"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randombar(horizontal)">
                                      <p:cBhvr>
                                        <p:cTn id="26" dur="500"/>
                                        <p:tgtEl>
                                          <p:spTgt spid="27"/>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1000"/>
                                        <p:tgtEl>
                                          <p:spTgt spid="28"/>
                                        </p:tgtEl>
                                      </p:cBhvr>
                                    </p:animEffect>
                                    <p:anim calcmode="lin" valueType="num">
                                      <p:cBhvr>
                                        <p:cTn id="32" dur="1000" fill="hold"/>
                                        <p:tgtEl>
                                          <p:spTgt spid="28"/>
                                        </p:tgtEl>
                                        <p:attrNameLst>
                                          <p:attrName>ppt_x</p:attrName>
                                        </p:attrNameLst>
                                      </p:cBhvr>
                                      <p:tavLst>
                                        <p:tav tm="0">
                                          <p:val>
                                            <p:strVal val="#ppt_x"/>
                                          </p:val>
                                        </p:tav>
                                        <p:tav tm="100000">
                                          <p:val>
                                            <p:strVal val="#ppt_x"/>
                                          </p:val>
                                        </p:tav>
                                      </p:tavLst>
                                    </p:anim>
                                    <p:anim calcmode="lin" valueType="num">
                                      <p:cBhvr>
                                        <p:cTn id="33" dur="1000" fill="hold"/>
                                        <p:tgtEl>
                                          <p:spTgt spid="28"/>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4" grpId="0" animBg="1"/>
      <p:bldP spid="6" grpId="0" animBg="1"/>
      <p:bldP spid="7" grpId="0" animBg="1"/>
      <p:bldP spid="8" grpId="0" animBg="1"/>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20A1638F-0D69-82A1-0AF8-0DAA629325C0}"/>
              </a:ext>
            </a:extLst>
          </p:cNvPr>
          <p:cNvSpPr/>
          <p:nvPr/>
        </p:nvSpPr>
        <p:spPr>
          <a:xfrm>
            <a:off x="457200" y="1463040"/>
            <a:ext cx="5455768" cy="2098766"/>
          </a:xfrm>
          <a:prstGeom prst="roundRect">
            <a:avLst>
              <a:gd name="adj" fmla="val 2927"/>
            </a:avLst>
          </a:prstGeom>
          <a:solidFill>
            <a:srgbClr val="E7EAF2"/>
          </a:solidFill>
          <a:ln>
            <a:solidFill>
              <a:srgbClr val="E7EAF2"/>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2" name="Text 0"/>
          <p:cNvSpPr txBox="1"/>
          <p:nvPr/>
        </p:nvSpPr>
        <p:spPr>
          <a:xfrm>
            <a:off x="457200" y="365760"/>
            <a:ext cx="11277295" cy="27432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INVENTORY ANALYSIS</a:t>
            </a:r>
            <a:endParaRPr lang="en-US" sz="1200" dirty="0"/>
          </a:p>
        </p:txBody>
      </p:sp>
      <p:sp>
        <p:nvSpPr>
          <p:cNvPr id="3" name="Text 1"/>
          <p:cNvSpPr txBox="1"/>
          <p:nvPr/>
        </p:nvSpPr>
        <p:spPr>
          <a:xfrm>
            <a:off x="457200" y="566928"/>
            <a:ext cx="11277295" cy="548640"/>
          </a:xfrm>
          <a:prstGeom prst="rect">
            <a:avLst/>
          </a:prstGeom>
          <a:noFill/>
          <a:ln/>
        </p:spPr>
        <p:txBody>
          <a:bodyPr wrap="square" rtlCol="0" anchor="ctr"/>
          <a:lstStyle/>
          <a:p>
            <a:pPr marL="0" indent="0">
              <a:buNone/>
            </a:pPr>
            <a:r>
              <a:rPr lang="en-US" sz="2900" b="1" dirty="0">
                <a:solidFill>
                  <a:srgbClr val="1B2A4A"/>
                </a:solidFill>
                <a:latin typeface="Cambria" pitchFamily="34" charset="0"/>
                <a:ea typeface="Cambria" pitchFamily="34" charset="-122"/>
                <a:cs typeface="Cambria" pitchFamily="34" charset="-120"/>
              </a:rPr>
              <a:t>Inventory Position Analysis</a:t>
            </a:r>
            <a:endParaRPr lang="en-US" sz="2900" dirty="0"/>
          </a:p>
        </p:txBody>
      </p:sp>
      <p:sp>
        <p:nvSpPr>
          <p:cNvPr id="4" name="Text 2"/>
          <p:cNvSpPr txBox="1"/>
          <p:nvPr/>
        </p:nvSpPr>
        <p:spPr>
          <a:xfrm>
            <a:off x="607422" y="1497330"/>
            <a:ext cx="5410048" cy="274320"/>
          </a:xfrm>
          <a:prstGeom prst="rect">
            <a:avLst/>
          </a:prstGeom>
          <a:noFill/>
          <a:ln/>
        </p:spPr>
        <p:txBody>
          <a:bodyPr wrap="square" rtlCol="0" anchor="ctr"/>
          <a:lstStyle/>
          <a:p>
            <a:pPr marL="0" indent="0">
              <a:buNone/>
            </a:pPr>
            <a:r>
              <a:rPr lang="en-US" sz="1150" b="1" kern="0" spc="100" dirty="0">
                <a:solidFill>
                  <a:srgbClr val="1B2A4A"/>
                </a:solidFill>
                <a:latin typeface="Calibri" pitchFamily="34" charset="0"/>
                <a:ea typeface="Calibri" pitchFamily="34" charset="-122"/>
                <a:cs typeface="Calibri" pitchFamily="34" charset="-120"/>
              </a:rPr>
              <a:t>WORKBENCH ANALYSIS COVERS</a:t>
            </a:r>
            <a:endParaRPr lang="en-US" sz="1150" dirty="0"/>
          </a:p>
        </p:txBody>
      </p:sp>
      <p:sp>
        <p:nvSpPr>
          <p:cNvPr id="5" name="Text 3"/>
          <p:cNvSpPr txBox="1"/>
          <p:nvPr/>
        </p:nvSpPr>
        <p:spPr>
          <a:xfrm>
            <a:off x="607422" y="1847088"/>
            <a:ext cx="3903618" cy="1874520"/>
          </a:xfrm>
          <a:prstGeom prst="rect">
            <a:avLst/>
          </a:prstGeom>
          <a:noFill/>
          <a:ln/>
        </p:spPr>
        <p:txBody>
          <a:bodyPr wrap="square" rtlCol="0" anchor="t"/>
          <a:lstStyle/>
          <a:p>
            <a:pPr marL="177800" indent="-177800" algn="just">
              <a:lnSpc>
                <a:spcPct val="115000"/>
              </a:lnSpc>
              <a:spcAft>
                <a:spcPts val="1000"/>
              </a:spcAft>
              <a:buSzPct val="100000"/>
              <a:buChar char="•"/>
            </a:pPr>
            <a:r>
              <a:rPr lang="en-US" sz="1350" dirty="0">
                <a:solidFill>
                  <a:srgbClr val="23262F"/>
                </a:solidFill>
                <a:latin typeface="Calibri" pitchFamily="34" charset="0"/>
                <a:ea typeface="Calibri" pitchFamily="34" charset="-122"/>
                <a:cs typeface="Calibri" pitchFamily="34" charset="-120"/>
              </a:rPr>
              <a:t>Current stock levels for every book</a:t>
            </a:r>
            <a:endParaRPr lang="en-US" sz="1350" dirty="0"/>
          </a:p>
          <a:p>
            <a:pPr marL="177800" indent="-177800" algn="just">
              <a:lnSpc>
                <a:spcPct val="115000"/>
              </a:lnSpc>
              <a:spcAft>
                <a:spcPts val="1000"/>
              </a:spcAft>
              <a:buSzPct val="100000"/>
              <a:buChar char="•"/>
            </a:pPr>
            <a:r>
              <a:rPr lang="en-US" sz="1350" dirty="0">
                <a:solidFill>
                  <a:srgbClr val="23262F"/>
                </a:solidFill>
                <a:latin typeface="Calibri" pitchFamily="34" charset="0"/>
                <a:ea typeface="Calibri" pitchFamily="34" charset="-122"/>
                <a:cs typeface="Calibri" pitchFamily="34" charset="-120"/>
              </a:rPr>
              <a:t>Low-stock identification (Stock &lt; 20)</a:t>
            </a:r>
            <a:endParaRPr lang="en-US" sz="1350" dirty="0"/>
          </a:p>
          <a:p>
            <a:pPr marL="177800" indent="-177800" algn="just">
              <a:lnSpc>
                <a:spcPct val="115000"/>
              </a:lnSpc>
              <a:spcAft>
                <a:spcPts val="1000"/>
              </a:spcAft>
              <a:buSzPct val="100000"/>
              <a:buChar char="•"/>
            </a:pPr>
            <a:r>
              <a:rPr lang="en-US" sz="1350" dirty="0">
                <a:solidFill>
                  <a:srgbClr val="23262F"/>
                </a:solidFill>
                <a:latin typeface="Calibri" pitchFamily="34" charset="0"/>
                <a:ea typeface="Calibri" pitchFamily="34" charset="-122"/>
                <a:cs typeface="Calibri" pitchFamily="34" charset="-120"/>
              </a:rPr>
              <a:t>Inventory value by author (Price × Stock)</a:t>
            </a:r>
            <a:endParaRPr lang="en-US" sz="1350" dirty="0"/>
          </a:p>
          <a:p>
            <a:pPr marL="177800" indent="-177800" algn="just">
              <a:lnSpc>
                <a:spcPct val="115000"/>
              </a:lnSpc>
              <a:spcAft>
                <a:spcPts val="1000"/>
              </a:spcAft>
              <a:buSzPct val="100000"/>
              <a:buChar char="•"/>
            </a:pPr>
            <a:r>
              <a:rPr lang="en-US" sz="1350" dirty="0">
                <a:solidFill>
                  <a:srgbClr val="23262F"/>
                </a:solidFill>
                <a:latin typeface="Calibri" pitchFamily="34" charset="0"/>
                <a:ea typeface="Calibri" pitchFamily="34" charset="-122"/>
                <a:cs typeface="Calibri" pitchFamily="34" charset="-120"/>
              </a:rPr>
              <a:t>High-stock identification (Stock ≥ 80)</a:t>
            </a:r>
            <a:endParaRPr lang="en-US" sz="1350" dirty="0"/>
          </a:p>
        </p:txBody>
      </p:sp>
      <p:sp>
        <p:nvSpPr>
          <p:cNvPr id="6" name="Shape 4"/>
          <p:cNvSpPr/>
          <p:nvPr/>
        </p:nvSpPr>
        <p:spPr>
          <a:xfrm>
            <a:off x="6278728" y="1463040"/>
            <a:ext cx="5455768" cy="2098766"/>
          </a:xfrm>
          <a:prstGeom prst="roundRect">
            <a:avLst>
              <a:gd name="adj" fmla="val 4000"/>
            </a:avLst>
          </a:prstGeom>
          <a:solidFill>
            <a:srgbClr val="E7EAF2"/>
          </a:solidFill>
          <a:ln/>
          <a:effectLst>
            <a:outerShdw blurRad="76200" dist="25400" dir="5400000" algn="bl" rotWithShape="0">
              <a:srgbClr val="1B2A4A">
                <a:alpha val="12000"/>
              </a:srgbClr>
            </a:outerShdw>
          </a:effectLst>
        </p:spPr>
        <p:txBody>
          <a:bodyPr/>
          <a:lstStyle/>
          <a:p>
            <a:endParaRPr lang="en-IN"/>
          </a:p>
        </p:txBody>
      </p:sp>
      <p:sp>
        <p:nvSpPr>
          <p:cNvPr id="7" name="Text 5"/>
          <p:cNvSpPr txBox="1"/>
          <p:nvPr/>
        </p:nvSpPr>
        <p:spPr>
          <a:xfrm>
            <a:off x="6324448" y="1719072"/>
            <a:ext cx="5410048" cy="274320"/>
          </a:xfrm>
          <a:prstGeom prst="rect">
            <a:avLst/>
          </a:prstGeom>
          <a:noFill/>
          <a:ln/>
        </p:spPr>
        <p:txBody>
          <a:bodyPr wrap="square" rtlCol="0" anchor="ctr"/>
          <a:lstStyle/>
          <a:p>
            <a:pPr marL="0" indent="0" algn="ctr">
              <a:buNone/>
            </a:pPr>
            <a:r>
              <a:rPr lang="en-US" sz="1200" b="1" kern="0" spc="100" dirty="0">
                <a:solidFill>
                  <a:srgbClr val="1B2A4A"/>
                </a:solidFill>
                <a:latin typeface="Calibri" pitchFamily="34" charset="0"/>
                <a:ea typeface="Calibri" pitchFamily="34" charset="-122"/>
                <a:cs typeface="Calibri" pitchFamily="34" charset="-120"/>
              </a:rPr>
              <a:t>Inventory Value Formula</a:t>
            </a:r>
            <a:endParaRPr lang="en-US" sz="1200" dirty="0"/>
          </a:p>
        </p:txBody>
      </p:sp>
      <p:sp>
        <p:nvSpPr>
          <p:cNvPr id="8" name="Text 6"/>
          <p:cNvSpPr txBox="1"/>
          <p:nvPr/>
        </p:nvSpPr>
        <p:spPr>
          <a:xfrm>
            <a:off x="6324448" y="2121408"/>
            <a:ext cx="5410048" cy="548640"/>
          </a:xfrm>
          <a:prstGeom prst="rect">
            <a:avLst/>
          </a:prstGeom>
          <a:noFill/>
          <a:ln/>
        </p:spPr>
        <p:txBody>
          <a:bodyPr wrap="square" rtlCol="0" anchor="ctr"/>
          <a:lstStyle/>
          <a:p>
            <a:pPr marL="0" indent="0" algn="ctr">
              <a:buNone/>
            </a:pPr>
            <a:r>
              <a:rPr lang="en-US" sz="2600" b="1" dirty="0">
                <a:solidFill>
                  <a:srgbClr val="1B2A4A"/>
                </a:solidFill>
                <a:latin typeface="Courier New" pitchFamily="34" charset="0"/>
                <a:ea typeface="Courier New" pitchFamily="34" charset="-122"/>
                <a:cs typeface="Courier New" pitchFamily="34" charset="-120"/>
              </a:rPr>
              <a:t>Price × Stock</a:t>
            </a:r>
            <a:endParaRPr lang="en-US" sz="2600" dirty="0"/>
          </a:p>
        </p:txBody>
      </p:sp>
      <p:sp>
        <p:nvSpPr>
          <p:cNvPr id="9" name="Text 7"/>
          <p:cNvSpPr txBox="1"/>
          <p:nvPr/>
        </p:nvSpPr>
        <p:spPr>
          <a:xfrm>
            <a:off x="6690208" y="2743200"/>
            <a:ext cx="4678528" cy="457200"/>
          </a:xfrm>
          <a:prstGeom prst="rect">
            <a:avLst/>
          </a:prstGeom>
          <a:noFill/>
          <a:ln/>
        </p:spPr>
        <p:txBody>
          <a:bodyPr wrap="square" rtlCol="0" anchor="t"/>
          <a:lstStyle/>
          <a:p>
            <a:pPr marL="0" indent="0" algn="ctr">
              <a:buNone/>
            </a:pPr>
            <a:r>
              <a:rPr lang="en-US" sz="1100" i="1" dirty="0">
                <a:solidFill>
                  <a:srgbClr val="6B7280"/>
                </a:solidFill>
                <a:latin typeface="Calibri" pitchFamily="34" charset="0"/>
                <a:ea typeface="Calibri" pitchFamily="34" charset="-122"/>
                <a:cs typeface="Calibri" pitchFamily="34" charset="-120"/>
              </a:rPr>
              <a:t>Computed per book to value the catalog currently sitting on the shelf.</a:t>
            </a:r>
            <a:endParaRPr lang="en-US" sz="1100" dirty="0"/>
          </a:p>
        </p:txBody>
      </p:sp>
      <p:sp>
        <p:nvSpPr>
          <p:cNvPr id="10" name="Shape 8"/>
          <p:cNvSpPr/>
          <p:nvPr/>
        </p:nvSpPr>
        <p:spPr>
          <a:xfrm>
            <a:off x="457200" y="3886200"/>
            <a:ext cx="5455768" cy="1234440"/>
          </a:xfrm>
          <a:prstGeom prst="roundRect">
            <a:avLst>
              <a:gd name="adj" fmla="val 5926"/>
            </a:avLst>
          </a:prstGeom>
          <a:solidFill>
            <a:srgbClr val="F5E2E2"/>
          </a:solidFill>
          <a:ln/>
          <a:effectLst>
            <a:outerShdw blurRad="76200" dist="25400" dir="5400000" algn="bl" rotWithShape="0">
              <a:srgbClr val="1B2A4A">
                <a:alpha val="12000"/>
              </a:srgbClr>
            </a:outerShdw>
          </a:effectLst>
        </p:spPr>
        <p:txBody>
          <a:bodyPr/>
          <a:lstStyle/>
          <a:p>
            <a:endParaRPr lang="en-IN"/>
          </a:p>
        </p:txBody>
      </p:sp>
      <p:sp>
        <p:nvSpPr>
          <p:cNvPr id="11" name="Shape 9"/>
          <p:cNvSpPr/>
          <p:nvPr/>
        </p:nvSpPr>
        <p:spPr>
          <a:xfrm>
            <a:off x="685800" y="4251960"/>
            <a:ext cx="502920" cy="502920"/>
          </a:xfrm>
          <a:prstGeom prst="ellipse">
            <a:avLst/>
          </a:prstGeom>
          <a:solidFill>
            <a:srgbClr val="1B2A4A"/>
          </a:solidFill>
          <a:ln/>
        </p:spPr>
        <p:txBody>
          <a:bodyPr/>
          <a:lstStyle/>
          <a:p>
            <a:endParaRPr lang="en-IN"/>
          </a:p>
        </p:txBody>
      </p:sp>
      <p:pic>
        <p:nvPicPr>
          <p:cNvPr id="12" name="Image 0" descr="/home/claude/bookverse/icons/warning.png"/>
          <p:cNvPicPr>
            <a:picLocks noChangeAspect="1"/>
          </p:cNvPicPr>
          <p:nvPr/>
        </p:nvPicPr>
        <p:blipFill>
          <a:blip r:embed="rId3"/>
          <a:stretch>
            <a:fillRect/>
          </a:stretch>
        </p:blipFill>
        <p:spPr>
          <a:xfrm>
            <a:off x="761238" y="4327398"/>
            <a:ext cx="352044" cy="352044"/>
          </a:xfrm>
          <a:prstGeom prst="rect">
            <a:avLst/>
          </a:prstGeom>
        </p:spPr>
      </p:pic>
      <p:sp>
        <p:nvSpPr>
          <p:cNvPr id="13" name="Text 10"/>
          <p:cNvSpPr txBox="1"/>
          <p:nvPr/>
        </p:nvSpPr>
        <p:spPr>
          <a:xfrm>
            <a:off x="1371600" y="4032504"/>
            <a:ext cx="4358488" cy="256032"/>
          </a:xfrm>
          <a:prstGeom prst="rect">
            <a:avLst/>
          </a:prstGeom>
          <a:noFill/>
          <a:ln/>
        </p:spPr>
        <p:txBody>
          <a:bodyPr wrap="square" rtlCol="0" anchor="ctr"/>
          <a:lstStyle/>
          <a:p>
            <a:pPr marL="0" indent="0">
              <a:buNone/>
            </a:pPr>
            <a:r>
              <a:rPr lang="en-US" sz="1200" b="1" kern="0" spc="100" dirty="0">
                <a:solidFill>
                  <a:srgbClr val="1B2A4A"/>
                </a:solidFill>
                <a:latin typeface="Calibri" pitchFamily="34" charset="0"/>
                <a:ea typeface="Calibri" pitchFamily="34" charset="-122"/>
                <a:cs typeface="Calibri" pitchFamily="34" charset="-120"/>
              </a:rPr>
              <a:t>LOW STOCK</a:t>
            </a:r>
            <a:endParaRPr lang="en-US" sz="1200" dirty="0"/>
          </a:p>
        </p:txBody>
      </p:sp>
      <p:sp>
        <p:nvSpPr>
          <p:cNvPr id="14" name="Text 11"/>
          <p:cNvSpPr txBox="1"/>
          <p:nvPr/>
        </p:nvSpPr>
        <p:spPr>
          <a:xfrm>
            <a:off x="1371600" y="4288536"/>
            <a:ext cx="4358488" cy="365760"/>
          </a:xfrm>
          <a:prstGeom prst="rect">
            <a:avLst/>
          </a:prstGeom>
          <a:noFill/>
          <a:ln/>
        </p:spPr>
        <p:txBody>
          <a:bodyPr wrap="square" rtlCol="0" anchor="ctr"/>
          <a:lstStyle/>
          <a:p>
            <a:pPr marL="0" indent="0">
              <a:buNone/>
            </a:pPr>
            <a:r>
              <a:rPr lang="en-US" sz="1700" b="1" dirty="0">
                <a:solidFill>
                  <a:srgbClr val="23262F"/>
                </a:solidFill>
                <a:latin typeface="Courier New" pitchFamily="34" charset="0"/>
                <a:ea typeface="Courier New" pitchFamily="34" charset="-122"/>
                <a:cs typeface="Courier New" pitchFamily="34" charset="-120"/>
              </a:rPr>
              <a:t>Stock &lt; 20</a:t>
            </a:r>
            <a:endParaRPr lang="en-US" sz="1700" dirty="0"/>
          </a:p>
        </p:txBody>
      </p:sp>
      <p:sp>
        <p:nvSpPr>
          <p:cNvPr id="15" name="Text 12"/>
          <p:cNvSpPr txBox="1"/>
          <p:nvPr/>
        </p:nvSpPr>
        <p:spPr>
          <a:xfrm>
            <a:off x="1371600" y="4672584"/>
            <a:ext cx="4358488" cy="32004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Flagged for replenishment review.</a:t>
            </a:r>
            <a:endParaRPr lang="en-US" sz="1100" dirty="0"/>
          </a:p>
        </p:txBody>
      </p:sp>
      <p:sp>
        <p:nvSpPr>
          <p:cNvPr id="16" name="Shape 13"/>
          <p:cNvSpPr/>
          <p:nvPr/>
        </p:nvSpPr>
        <p:spPr>
          <a:xfrm>
            <a:off x="6279034" y="3886200"/>
            <a:ext cx="5455768" cy="1234440"/>
          </a:xfrm>
          <a:prstGeom prst="roundRect">
            <a:avLst>
              <a:gd name="adj" fmla="val 5926"/>
            </a:avLst>
          </a:prstGeom>
          <a:solidFill>
            <a:srgbClr val="F7EFD9"/>
          </a:solidFill>
          <a:ln/>
          <a:effectLst>
            <a:outerShdw blurRad="76200" dist="25400" dir="5400000" algn="bl" rotWithShape="0">
              <a:srgbClr val="1B2A4A">
                <a:alpha val="12000"/>
              </a:srgbClr>
            </a:outerShdw>
          </a:effectLst>
        </p:spPr>
        <p:txBody>
          <a:bodyPr/>
          <a:lstStyle/>
          <a:p>
            <a:endParaRPr lang="en-IN"/>
          </a:p>
        </p:txBody>
      </p:sp>
      <p:sp>
        <p:nvSpPr>
          <p:cNvPr id="17" name="Shape 14"/>
          <p:cNvSpPr/>
          <p:nvPr/>
        </p:nvSpPr>
        <p:spPr>
          <a:xfrm>
            <a:off x="6507634" y="4251960"/>
            <a:ext cx="502920" cy="502920"/>
          </a:xfrm>
          <a:prstGeom prst="ellipse">
            <a:avLst/>
          </a:prstGeom>
          <a:solidFill>
            <a:srgbClr val="1B2A4A"/>
          </a:solidFill>
          <a:ln/>
        </p:spPr>
        <p:txBody>
          <a:bodyPr/>
          <a:lstStyle/>
          <a:p>
            <a:endParaRPr lang="en-IN"/>
          </a:p>
        </p:txBody>
      </p:sp>
      <p:pic>
        <p:nvPicPr>
          <p:cNvPr id="18" name="Image 1" descr="/home/claude/bookverse/icons/inventory.png"/>
          <p:cNvPicPr>
            <a:picLocks noChangeAspect="1"/>
          </p:cNvPicPr>
          <p:nvPr/>
        </p:nvPicPr>
        <p:blipFill>
          <a:blip r:embed="rId4"/>
          <a:stretch>
            <a:fillRect/>
          </a:stretch>
        </p:blipFill>
        <p:spPr>
          <a:xfrm>
            <a:off x="6583072" y="4327398"/>
            <a:ext cx="352044" cy="352044"/>
          </a:xfrm>
          <a:prstGeom prst="rect">
            <a:avLst/>
          </a:prstGeom>
        </p:spPr>
      </p:pic>
      <p:sp>
        <p:nvSpPr>
          <p:cNvPr id="19" name="Text 15"/>
          <p:cNvSpPr txBox="1"/>
          <p:nvPr/>
        </p:nvSpPr>
        <p:spPr>
          <a:xfrm>
            <a:off x="7193434" y="4032504"/>
            <a:ext cx="4358488" cy="256032"/>
          </a:xfrm>
          <a:prstGeom prst="rect">
            <a:avLst/>
          </a:prstGeom>
          <a:noFill/>
          <a:ln/>
        </p:spPr>
        <p:txBody>
          <a:bodyPr wrap="square" rtlCol="0" anchor="ctr"/>
          <a:lstStyle/>
          <a:p>
            <a:pPr marL="0" indent="0">
              <a:buNone/>
            </a:pPr>
            <a:r>
              <a:rPr lang="en-US" sz="1200" b="1" kern="0" spc="100" dirty="0">
                <a:solidFill>
                  <a:srgbClr val="1B2A4A"/>
                </a:solidFill>
                <a:latin typeface="Calibri" pitchFamily="34" charset="0"/>
                <a:ea typeface="Calibri" pitchFamily="34" charset="-122"/>
                <a:cs typeface="Calibri" pitchFamily="34" charset="-120"/>
              </a:rPr>
              <a:t>HIGH STOCK</a:t>
            </a:r>
            <a:endParaRPr lang="en-US" sz="1200" dirty="0"/>
          </a:p>
        </p:txBody>
      </p:sp>
      <p:sp>
        <p:nvSpPr>
          <p:cNvPr id="20" name="Text 16"/>
          <p:cNvSpPr txBox="1"/>
          <p:nvPr/>
        </p:nvSpPr>
        <p:spPr>
          <a:xfrm>
            <a:off x="7193434" y="4288536"/>
            <a:ext cx="4358488" cy="365760"/>
          </a:xfrm>
          <a:prstGeom prst="rect">
            <a:avLst/>
          </a:prstGeom>
          <a:noFill/>
          <a:ln/>
        </p:spPr>
        <p:txBody>
          <a:bodyPr wrap="square" rtlCol="0" anchor="ctr"/>
          <a:lstStyle/>
          <a:p>
            <a:pPr marL="0" indent="0">
              <a:buNone/>
            </a:pPr>
            <a:r>
              <a:rPr lang="en-US" sz="1700" b="1" dirty="0">
                <a:solidFill>
                  <a:srgbClr val="23262F"/>
                </a:solidFill>
                <a:latin typeface="Courier New" pitchFamily="34" charset="0"/>
                <a:ea typeface="Courier New" pitchFamily="34" charset="-122"/>
                <a:cs typeface="Courier New" pitchFamily="34" charset="-120"/>
              </a:rPr>
              <a:t>Stock ≥ 80</a:t>
            </a:r>
            <a:endParaRPr lang="en-US" sz="1700" dirty="0"/>
          </a:p>
        </p:txBody>
      </p:sp>
      <p:sp>
        <p:nvSpPr>
          <p:cNvPr id="21" name="Text 17"/>
          <p:cNvSpPr txBox="1"/>
          <p:nvPr/>
        </p:nvSpPr>
        <p:spPr>
          <a:xfrm>
            <a:off x="7193434" y="4672584"/>
            <a:ext cx="4358488" cy="32004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Monitor for slow-moving inventory.</a:t>
            </a:r>
            <a:endParaRPr lang="en-US" sz="1100" dirty="0"/>
          </a:p>
        </p:txBody>
      </p:sp>
      <p:sp>
        <p:nvSpPr>
          <p:cNvPr id="22" name="Text 18"/>
          <p:cNvSpPr txBox="1"/>
          <p:nvPr/>
        </p:nvSpPr>
        <p:spPr>
          <a:xfrm>
            <a:off x="378823" y="5650992"/>
            <a:ext cx="11277295" cy="365760"/>
          </a:xfrm>
          <a:prstGeom prst="rect">
            <a:avLst/>
          </a:prstGeom>
          <a:noFill/>
          <a:ln/>
        </p:spPr>
        <p:txBody>
          <a:bodyPr wrap="square" rtlCol="0" anchor="ctr"/>
          <a:lstStyle/>
          <a:p>
            <a:pPr marL="0" indent="0" algn="ctr">
              <a:buNone/>
            </a:pPr>
            <a:r>
              <a:rPr lang="en-US" sz="1250" i="1" dirty="0">
                <a:solidFill>
                  <a:srgbClr val="1B2A4A"/>
                </a:solidFill>
                <a:latin typeface="Calibri" pitchFamily="34" charset="0"/>
                <a:ea typeface="Calibri" pitchFamily="34" charset="-122"/>
                <a:cs typeface="Calibri" pitchFamily="34" charset="-120"/>
              </a:rPr>
              <a:t>*Business purpose: identify products that may require attention before the next procurement cycle.</a:t>
            </a:r>
            <a:endParaRPr lang="en-US" sz="1250" dirty="0"/>
          </a:p>
        </p:txBody>
      </p:sp>
      <p:sp>
        <p:nvSpPr>
          <p:cNvPr id="23" name="Text 19"/>
          <p:cNvSpPr txBox="1"/>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24" name="Text 20"/>
          <p:cNvSpPr txBox="1"/>
          <p:nvPr/>
        </p:nvSpPr>
        <p:spPr>
          <a:xfrm>
            <a:off x="10637215" y="6547104"/>
            <a:ext cx="1097280"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 / 19</a:t>
            </a:r>
            <a:endParaRPr lang="en-US" sz="9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ppt_x"/>
                                          </p:val>
                                        </p:tav>
                                        <p:tav tm="100000">
                                          <p:val>
                                            <p:strVal val="#ppt_x"/>
                                          </p:val>
                                        </p:tav>
                                      </p:tavLst>
                                    </p:anim>
                                    <p:anim calcmode="lin" valueType="num">
                                      <p:cBhvr additive="base">
                                        <p:cTn id="56" dur="500" fill="hold"/>
                                        <p:tgtEl>
                                          <p:spTgt spid="14"/>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500" fill="hold"/>
                                        <p:tgtEl>
                                          <p:spTgt spid="15"/>
                                        </p:tgtEl>
                                        <p:attrNameLst>
                                          <p:attrName>ppt_x</p:attrName>
                                        </p:attrNameLst>
                                      </p:cBhvr>
                                      <p:tavLst>
                                        <p:tav tm="0">
                                          <p:val>
                                            <p:strVal val="#ppt_x"/>
                                          </p:val>
                                        </p:tav>
                                        <p:tav tm="100000">
                                          <p:val>
                                            <p:strVal val="#ppt_x"/>
                                          </p:val>
                                        </p:tav>
                                      </p:tavLst>
                                    </p:anim>
                                    <p:anim calcmode="lin" valueType="num">
                                      <p:cBhvr additive="base">
                                        <p:cTn id="6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anim calcmode="lin" valueType="num">
                                      <p:cBhvr additive="base">
                                        <p:cTn id="65" dur="500" fill="hold"/>
                                        <p:tgtEl>
                                          <p:spTgt spid="16"/>
                                        </p:tgtEl>
                                        <p:attrNameLst>
                                          <p:attrName>ppt_x</p:attrName>
                                        </p:attrNameLst>
                                      </p:cBhvr>
                                      <p:tavLst>
                                        <p:tav tm="0">
                                          <p:val>
                                            <p:strVal val="#ppt_x"/>
                                          </p:val>
                                        </p:tav>
                                        <p:tav tm="100000">
                                          <p:val>
                                            <p:strVal val="#ppt_x"/>
                                          </p:val>
                                        </p:tav>
                                      </p:tavLst>
                                    </p:anim>
                                    <p:anim calcmode="lin" valueType="num">
                                      <p:cBhvr additive="base">
                                        <p:cTn id="66" dur="500" fill="hold"/>
                                        <p:tgtEl>
                                          <p:spTgt spid="16"/>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additive="base">
                                        <p:cTn id="69" dur="500" fill="hold"/>
                                        <p:tgtEl>
                                          <p:spTgt spid="17"/>
                                        </p:tgtEl>
                                        <p:attrNameLst>
                                          <p:attrName>ppt_x</p:attrName>
                                        </p:attrNameLst>
                                      </p:cBhvr>
                                      <p:tavLst>
                                        <p:tav tm="0">
                                          <p:val>
                                            <p:strVal val="#ppt_x"/>
                                          </p:val>
                                        </p:tav>
                                        <p:tav tm="100000">
                                          <p:val>
                                            <p:strVal val="#ppt_x"/>
                                          </p:val>
                                        </p:tav>
                                      </p:tavLst>
                                    </p:anim>
                                    <p:anim calcmode="lin" valueType="num">
                                      <p:cBhvr additive="base">
                                        <p:cTn id="70" dur="500" fill="hold"/>
                                        <p:tgtEl>
                                          <p:spTgt spid="17"/>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8"/>
                                        </p:tgtEl>
                                        <p:attrNameLst>
                                          <p:attrName>style.visibility</p:attrName>
                                        </p:attrNameLst>
                                      </p:cBhvr>
                                      <p:to>
                                        <p:strVal val="visible"/>
                                      </p:to>
                                    </p:se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additive="base">
                                        <p:cTn id="77" dur="500" fill="hold"/>
                                        <p:tgtEl>
                                          <p:spTgt spid="19"/>
                                        </p:tgtEl>
                                        <p:attrNameLst>
                                          <p:attrName>ppt_x</p:attrName>
                                        </p:attrNameLst>
                                      </p:cBhvr>
                                      <p:tavLst>
                                        <p:tav tm="0">
                                          <p:val>
                                            <p:strVal val="#ppt_x"/>
                                          </p:val>
                                        </p:tav>
                                        <p:tav tm="100000">
                                          <p:val>
                                            <p:strVal val="#ppt_x"/>
                                          </p:val>
                                        </p:tav>
                                      </p:tavLst>
                                    </p:anim>
                                    <p:anim calcmode="lin" valueType="num">
                                      <p:cBhvr additive="base">
                                        <p:cTn id="78" dur="500" fill="hold"/>
                                        <p:tgtEl>
                                          <p:spTgt spid="19"/>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anim calcmode="lin" valueType="num">
                                      <p:cBhvr additive="base">
                                        <p:cTn id="81" dur="500" fill="hold"/>
                                        <p:tgtEl>
                                          <p:spTgt spid="20"/>
                                        </p:tgtEl>
                                        <p:attrNameLst>
                                          <p:attrName>ppt_x</p:attrName>
                                        </p:attrNameLst>
                                      </p:cBhvr>
                                      <p:tavLst>
                                        <p:tav tm="0">
                                          <p:val>
                                            <p:strVal val="#ppt_x"/>
                                          </p:val>
                                        </p:tav>
                                        <p:tav tm="100000">
                                          <p:val>
                                            <p:strVal val="#ppt_x"/>
                                          </p:val>
                                        </p:tav>
                                      </p:tavLst>
                                    </p:anim>
                                    <p:anim calcmode="lin" valueType="num">
                                      <p:cBhvr additive="base">
                                        <p:cTn id="82" dur="500" fill="hold"/>
                                        <p:tgtEl>
                                          <p:spTgt spid="20"/>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21"/>
                                        </p:tgtEl>
                                        <p:attrNameLst>
                                          <p:attrName>style.visibility</p:attrName>
                                        </p:attrNameLst>
                                      </p:cBhvr>
                                      <p:to>
                                        <p:strVal val="visible"/>
                                      </p:to>
                                    </p:set>
                                    <p:anim calcmode="lin" valueType="num">
                                      <p:cBhvr additive="base">
                                        <p:cTn id="85" dur="500" fill="hold"/>
                                        <p:tgtEl>
                                          <p:spTgt spid="21"/>
                                        </p:tgtEl>
                                        <p:attrNameLst>
                                          <p:attrName>ppt_x</p:attrName>
                                        </p:attrNameLst>
                                      </p:cBhvr>
                                      <p:tavLst>
                                        <p:tav tm="0">
                                          <p:val>
                                            <p:strVal val="#ppt_x"/>
                                          </p:val>
                                        </p:tav>
                                        <p:tav tm="100000">
                                          <p:val>
                                            <p:strVal val="#ppt_x"/>
                                          </p:val>
                                        </p:tav>
                                      </p:tavLst>
                                    </p:anim>
                                    <p:anim calcmode="lin" valueType="num">
                                      <p:cBhvr additive="base">
                                        <p:cTn id="8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4" grpId="0" animBg="1"/>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SALES + INVENTORY</a:t>
            </a:r>
            <a:endParaRPr lang="en-US" sz="1200" dirty="0"/>
          </a:p>
        </p:txBody>
      </p:sp>
      <p:sp>
        <p:nvSpPr>
          <p:cNvPr id="3" name="Text 1"/>
          <p:cNvSpPr txBox="1"/>
          <p:nvPr/>
        </p:nvSpPr>
        <p:spPr>
          <a:xfrm>
            <a:off x="457200" y="621792"/>
            <a:ext cx="11277295" cy="548640"/>
          </a:xfrm>
          <a:prstGeom prst="rect">
            <a:avLst/>
          </a:prstGeom>
          <a:noFill/>
          <a:ln/>
        </p:spPr>
        <p:txBody>
          <a:bodyPr wrap="square" rtlCol="0" anchor="ctr"/>
          <a:lstStyle/>
          <a:p>
            <a:pPr marL="0" indent="0">
              <a:buNone/>
            </a:pPr>
            <a:r>
              <a:rPr lang="en-US" sz="2900" b="1" dirty="0">
                <a:solidFill>
                  <a:srgbClr val="1B2A4A"/>
                </a:solidFill>
                <a:latin typeface="Cambria" pitchFamily="34" charset="0"/>
                <a:ea typeface="Cambria" pitchFamily="34" charset="-122"/>
                <a:cs typeface="Cambria" pitchFamily="34" charset="-120"/>
              </a:rPr>
              <a:t>Connecting Sales Performance with Inventory</a:t>
            </a:r>
            <a:endParaRPr lang="en-US" sz="2900" dirty="0"/>
          </a:p>
        </p:txBody>
      </p:sp>
      <p:sp>
        <p:nvSpPr>
          <p:cNvPr id="4" name="Shape 2"/>
          <p:cNvSpPr/>
          <p:nvPr/>
        </p:nvSpPr>
        <p:spPr>
          <a:xfrm>
            <a:off x="3078328" y="1353312"/>
            <a:ext cx="6035040" cy="365760"/>
          </a:xfrm>
          <a:prstGeom prst="roundRect">
            <a:avLst>
              <a:gd name="adj" fmla="val 50000"/>
            </a:avLst>
          </a:prstGeom>
          <a:solidFill>
            <a:srgbClr val="1B2A4A"/>
          </a:solidFill>
          <a:ln/>
        </p:spPr>
        <p:txBody>
          <a:bodyPr/>
          <a:lstStyle/>
          <a:p>
            <a:endParaRPr lang="en-IN"/>
          </a:p>
        </p:txBody>
      </p:sp>
      <p:sp>
        <p:nvSpPr>
          <p:cNvPr id="5" name="Text 3"/>
          <p:cNvSpPr txBox="1"/>
          <p:nvPr/>
        </p:nvSpPr>
        <p:spPr>
          <a:xfrm>
            <a:off x="3124048" y="1353312"/>
            <a:ext cx="594360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SALES DEMAND  +  CURRENT STOCK  =  BUSINESS OPPORTUNITY</a:t>
            </a:r>
            <a:endParaRPr lang="en-US" sz="1200" dirty="0"/>
          </a:p>
        </p:txBody>
      </p:sp>
      <p:sp>
        <p:nvSpPr>
          <p:cNvPr id="6" name="Text 4"/>
          <p:cNvSpPr txBox="1"/>
          <p:nvPr/>
        </p:nvSpPr>
        <p:spPr>
          <a:xfrm rot="16200000">
            <a:off x="-502920" y="2926080"/>
            <a:ext cx="2651760" cy="274320"/>
          </a:xfrm>
          <a:prstGeom prst="rect">
            <a:avLst/>
          </a:prstGeom>
          <a:noFill/>
          <a:ln/>
        </p:spPr>
        <p:txBody>
          <a:bodyPr wrap="square" rtlCol="0" anchor="ctr"/>
          <a:lstStyle/>
          <a:p>
            <a:pPr marL="0" indent="0" algn="ctr">
              <a:buNone/>
            </a:pPr>
            <a:r>
              <a:rPr lang="en-US" sz="1000" b="1" dirty="0">
                <a:solidFill>
                  <a:srgbClr val="6B7280"/>
                </a:solidFill>
                <a:latin typeface="Calibri" pitchFamily="34" charset="0"/>
                <a:ea typeface="Calibri" pitchFamily="34" charset="-122"/>
                <a:cs typeface="Calibri" pitchFamily="34" charset="-120"/>
              </a:rPr>
              <a:t>UNITS SOLD  (Low → High)</a:t>
            </a:r>
            <a:endParaRPr lang="en-US" sz="1000" dirty="0"/>
          </a:p>
        </p:txBody>
      </p:sp>
      <p:sp>
        <p:nvSpPr>
          <p:cNvPr id="7" name="Shape 5"/>
          <p:cNvSpPr/>
          <p:nvPr/>
        </p:nvSpPr>
        <p:spPr>
          <a:xfrm>
            <a:off x="960120" y="1874520"/>
            <a:ext cx="5387188" cy="1188720"/>
          </a:xfrm>
          <a:prstGeom prst="roundRect">
            <a:avLst>
              <a:gd name="adj" fmla="val 6154"/>
            </a:avLst>
          </a:prstGeom>
          <a:solidFill>
            <a:srgbClr val="F5E2E2"/>
          </a:solidFill>
          <a:ln/>
        </p:spPr>
        <p:txBody>
          <a:bodyPr/>
          <a:lstStyle/>
          <a:p>
            <a:endParaRPr lang="en-IN"/>
          </a:p>
        </p:txBody>
      </p:sp>
      <p:sp>
        <p:nvSpPr>
          <p:cNvPr id="8" name="Text 6"/>
          <p:cNvSpPr txBox="1"/>
          <p:nvPr/>
        </p:nvSpPr>
        <p:spPr>
          <a:xfrm>
            <a:off x="1143000" y="2002536"/>
            <a:ext cx="5021428" cy="237744"/>
          </a:xfrm>
          <a:prstGeom prst="rect">
            <a:avLst/>
          </a:prstGeom>
          <a:noFill/>
          <a:ln/>
        </p:spPr>
        <p:txBody>
          <a:bodyPr wrap="square" rtlCol="0" anchor="ctr"/>
          <a:lstStyle/>
          <a:p>
            <a:pPr marL="0" indent="0">
              <a:buNone/>
            </a:pPr>
            <a:r>
              <a:rPr lang="en-US" sz="1150" b="1" dirty="0">
                <a:solidFill>
                  <a:srgbClr val="8C1F28"/>
                </a:solidFill>
                <a:latin typeface="Calibri" pitchFamily="34" charset="0"/>
                <a:ea typeface="Calibri" pitchFamily="34" charset="-122"/>
                <a:cs typeface="Calibri" pitchFamily="34" charset="-120"/>
              </a:rPr>
              <a:t>HIGH SALES + LOW STOCK</a:t>
            </a:r>
            <a:endParaRPr lang="en-US" sz="1150" dirty="0"/>
          </a:p>
        </p:txBody>
      </p:sp>
      <p:sp>
        <p:nvSpPr>
          <p:cNvPr id="9" name="Text 7"/>
          <p:cNvSpPr txBox="1"/>
          <p:nvPr/>
        </p:nvSpPr>
        <p:spPr>
          <a:xfrm>
            <a:off x="1143000" y="2276856"/>
            <a:ext cx="5021428" cy="256032"/>
          </a:xfrm>
          <a:prstGeom prst="rect">
            <a:avLst/>
          </a:prstGeom>
          <a:noFill/>
          <a:ln/>
        </p:spPr>
        <p:txBody>
          <a:bodyPr wrap="square" rtlCol="0" anchor="ctr"/>
          <a:lstStyle/>
          <a:p>
            <a:pPr marL="0" indent="0">
              <a:buNone/>
            </a:pPr>
            <a:r>
              <a:rPr lang="en-US" sz="1100" b="1" dirty="0">
                <a:solidFill>
                  <a:srgbClr val="23262F"/>
                </a:solidFill>
                <a:latin typeface="Courier New" pitchFamily="34" charset="0"/>
                <a:ea typeface="Courier New" pitchFamily="34" charset="-122"/>
                <a:cs typeface="Courier New" pitchFamily="34" charset="-120"/>
              </a:rPr>
              <a:t>Units Sold ≥ 10  AND  Stock &lt; 20</a:t>
            </a:r>
            <a:endParaRPr lang="en-US" sz="1100" dirty="0"/>
          </a:p>
        </p:txBody>
      </p:sp>
      <p:sp>
        <p:nvSpPr>
          <p:cNvPr id="10" name="Text 8"/>
          <p:cNvSpPr txBox="1"/>
          <p:nvPr/>
        </p:nvSpPr>
        <p:spPr>
          <a:xfrm>
            <a:off x="1143000" y="2569464"/>
            <a:ext cx="5021428" cy="457200"/>
          </a:xfrm>
          <a:prstGeom prst="rect">
            <a:avLst/>
          </a:prstGeom>
          <a:noFill/>
          <a:ln/>
        </p:spPr>
        <p:txBody>
          <a:bodyPr wrap="square"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 Replenishment priority</a:t>
            </a:r>
            <a:endParaRPr lang="en-US" sz="1150" dirty="0"/>
          </a:p>
        </p:txBody>
      </p:sp>
      <p:sp>
        <p:nvSpPr>
          <p:cNvPr id="11" name="Shape 9"/>
          <p:cNvSpPr/>
          <p:nvPr/>
        </p:nvSpPr>
        <p:spPr>
          <a:xfrm>
            <a:off x="6347308" y="1874520"/>
            <a:ext cx="5387188" cy="1188720"/>
          </a:xfrm>
          <a:prstGeom prst="roundRect">
            <a:avLst>
              <a:gd name="adj" fmla="val 6154"/>
            </a:avLst>
          </a:prstGeom>
          <a:solidFill>
            <a:srgbClr val="F1F1F5"/>
          </a:solidFill>
          <a:ln/>
        </p:spPr>
        <p:txBody>
          <a:bodyPr/>
          <a:lstStyle/>
          <a:p>
            <a:endParaRPr lang="en-IN"/>
          </a:p>
        </p:txBody>
      </p:sp>
      <p:sp>
        <p:nvSpPr>
          <p:cNvPr id="12" name="Text 10"/>
          <p:cNvSpPr txBox="1"/>
          <p:nvPr/>
        </p:nvSpPr>
        <p:spPr>
          <a:xfrm>
            <a:off x="6530188" y="2002536"/>
            <a:ext cx="5021428" cy="457200"/>
          </a:xfrm>
          <a:prstGeom prst="rect">
            <a:avLst/>
          </a:prstGeom>
          <a:noFill/>
          <a:ln/>
        </p:spPr>
        <p:txBody>
          <a:bodyPr wrap="square"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Healthy demand relative to stock on hand.</a:t>
            </a:r>
            <a:endParaRPr lang="en-US" sz="1250" dirty="0"/>
          </a:p>
        </p:txBody>
      </p:sp>
      <p:sp>
        <p:nvSpPr>
          <p:cNvPr id="13" name="Shape 11"/>
          <p:cNvSpPr/>
          <p:nvPr/>
        </p:nvSpPr>
        <p:spPr>
          <a:xfrm>
            <a:off x="960120" y="3063240"/>
            <a:ext cx="5387188" cy="1188720"/>
          </a:xfrm>
          <a:prstGeom prst="roundRect">
            <a:avLst>
              <a:gd name="adj" fmla="val 6154"/>
            </a:avLst>
          </a:prstGeom>
          <a:solidFill>
            <a:srgbClr val="F1F1F5"/>
          </a:solidFill>
          <a:ln/>
        </p:spPr>
        <p:txBody>
          <a:bodyPr/>
          <a:lstStyle/>
          <a:p>
            <a:endParaRPr lang="en-IN"/>
          </a:p>
        </p:txBody>
      </p:sp>
      <p:sp>
        <p:nvSpPr>
          <p:cNvPr id="14" name="Text 12"/>
          <p:cNvSpPr txBox="1"/>
          <p:nvPr/>
        </p:nvSpPr>
        <p:spPr>
          <a:xfrm>
            <a:off x="1143000" y="3191256"/>
            <a:ext cx="5021428" cy="457200"/>
          </a:xfrm>
          <a:prstGeom prst="rect">
            <a:avLst/>
          </a:prstGeom>
          <a:noFill/>
          <a:ln/>
        </p:spPr>
        <p:txBody>
          <a:bodyPr wrap="square"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Low turnover, low stock - low priority.</a:t>
            </a:r>
            <a:endParaRPr lang="en-US" sz="1250" dirty="0"/>
          </a:p>
        </p:txBody>
      </p:sp>
      <p:sp>
        <p:nvSpPr>
          <p:cNvPr id="15" name="Shape 13"/>
          <p:cNvSpPr/>
          <p:nvPr/>
        </p:nvSpPr>
        <p:spPr>
          <a:xfrm>
            <a:off x="6347308" y="3063240"/>
            <a:ext cx="5387188" cy="1188720"/>
          </a:xfrm>
          <a:prstGeom prst="roundRect">
            <a:avLst>
              <a:gd name="adj" fmla="val 6154"/>
            </a:avLst>
          </a:prstGeom>
          <a:solidFill>
            <a:srgbClr val="F7EFD9"/>
          </a:solidFill>
          <a:ln/>
        </p:spPr>
        <p:txBody>
          <a:bodyPr/>
          <a:lstStyle/>
          <a:p>
            <a:endParaRPr lang="en-IN"/>
          </a:p>
        </p:txBody>
      </p:sp>
      <p:sp>
        <p:nvSpPr>
          <p:cNvPr id="16" name="Text 14"/>
          <p:cNvSpPr txBox="1"/>
          <p:nvPr/>
        </p:nvSpPr>
        <p:spPr>
          <a:xfrm>
            <a:off x="6530188" y="3191256"/>
            <a:ext cx="5021428" cy="237744"/>
          </a:xfrm>
          <a:prstGeom prst="rect">
            <a:avLst/>
          </a:prstGeom>
          <a:noFill/>
          <a:ln/>
        </p:spPr>
        <p:txBody>
          <a:bodyPr wrap="square" rtlCol="0" anchor="ctr"/>
          <a:lstStyle/>
          <a:p>
            <a:pPr marL="0" indent="0">
              <a:buNone/>
            </a:pPr>
            <a:r>
              <a:rPr lang="en-US" sz="1150" b="1" dirty="0">
                <a:solidFill>
                  <a:srgbClr val="8A6C10"/>
                </a:solidFill>
                <a:latin typeface="Calibri" pitchFamily="34" charset="0"/>
                <a:ea typeface="Calibri" pitchFamily="34" charset="-122"/>
                <a:cs typeface="Calibri" pitchFamily="34" charset="-120"/>
              </a:rPr>
              <a:t>HIGH STOCK + LOW SALES</a:t>
            </a:r>
            <a:endParaRPr lang="en-US" sz="1150" dirty="0"/>
          </a:p>
        </p:txBody>
      </p:sp>
      <p:sp>
        <p:nvSpPr>
          <p:cNvPr id="17" name="Text 15"/>
          <p:cNvSpPr txBox="1"/>
          <p:nvPr/>
        </p:nvSpPr>
        <p:spPr>
          <a:xfrm>
            <a:off x="6530188" y="3465576"/>
            <a:ext cx="5021428" cy="256032"/>
          </a:xfrm>
          <a:prstGeom prst="rect">
            <a:avLst/>
          </a:prstGeom>
          <a:noFill/>
          <a:ln/>
        </p:spPr>
        <p:txBody>
          <a:bodyPr wrap="square" rtlCol="0" anchor="ctr"/>
          <a:lstStyle/>
          <a:p>
            <a:pPr marL="0" indent="0">
              <a:buNone/>
            </a:pPr>
            <a:r>
              <a:rPr lang="en-US" sz="1100" b="1" dirty="0">
                <a:solidFill>
                  <a:srgbClr val="23262F"/>
                </a:solidFill>
                <a:latin typeface="Courier New" pitchFamily="34" charset="0"/>
                <a:ea typeface="Courier New" pitchFamily="34" charset="-122"/>
                <a:cs typeface="Courier New" pitchFamily="34" charset="-120"/>
              </a:rPr>
              <a:t>Stock ≥ 50  AND  Units Sold ≤ 5</a:t>
            </a:r>
            <a:endParaRPr lang="en-US" sz="1100" dirty="0"/>
          </a:p>
        </p:txBody>
      </p:sp>
      <p:sp>
        <p:nvSpPr>
          <p:cNvPr id="18" name="Text 16"/>
          <p:cNvSpPr txBox="1"/>
          <p:nvPr/>
        </p:nvSpPr>
        <p:spPr>
          <a:xfrm>
            <a:off x="6530188" y="3758184"/>
            <a:ext cx="5021428" cy="457200"/>
          </a:xfrm>
          <a:prstGeom prst="rect">
            <a:avLst/>
          </a:prstGeom>
          <a:noFill/>
          <a:ln/>
        </p:spPr>
        <p:txBody>
          <a:bodyPr wrap="square"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 Promotion candidate</a:t>
            </a:r>
            <a:endParaRPr lang="en-US" sz="1150" dirty="0"/>
          </a:p>
        </p:txBody>
      </p:sp>
      <p:sp>
        <p:nvSpPr>
          <p:cNvPr id="19" name="Text 17"/>
          <p:cNvSpPr txBox="1"/>
          <p:nvPr/>
        </p:nvSpPr>
        <p:spPr>
          <a:xfrm>
            <a:off x="960120" y="4306824"/>
            <a:ext cx="10774375" cy="274320"/>
          </a:xfrm>
          <a:prstGeom prst="rect">
            <a:avLst/>
          </a:prstGeom>
          <a:noFill/>
          <a:ln/>
        </p:spPr>
        <p:txBody>
          <a:bodyPr wrap="square" rtlCol="0" anchor="ctr"/>
          <a:lstStyle/>
          <a:p>
            <a:pPr marL="0" indent="0" algn="ctr">
              <a:buNone/>
            </a:pPr>
            <a:r>
              <a:rPr lang="en-US" sz="1100" b="1" dirty="0">
                <a:solidFill>
                  <a:srgbClr val="6B7280"/>
                </a:solidFill>
                <a:latin typeface="Calibri" pitchFamily="34" charset="0"/>
                <a:ea typeface="Calibri" pitchFamily="34" charset="-122"/>
                <a:cs typeface="Calibri" pitchFamily="34" charset="-120"/>
              </a:rPr>
              <a:t>STOCK LEVEL  (Low → High)</a:t>
            </a:r>
            <a:endParaRPr lang="en-US" sz="1100" dirty="0"/>
          </a:p>
        </p:txBody>
      </p:sp>
      <p:sp>
        <p:nvSpPr>
          <p:cNvPr id="20" name="Shape 18"/>
          <p:cNvSpPr/>
          <p:nvPr/>
        </p:nvSpPr>
        <p:spPr>
          <a:xfrm>
            <a:off x="457200" y="4709160"/>
            <a:ext cx="11277295" cy="868680"/>
          </a:xfrm>
          <a:prstGeom prst="roundRect">
            <a:avLst>
              <a:gd name="adj" fmla="val 8421"/>
            </a:avLst>
          </a:prstGeom>
          <a:solidFill>
            <a:srgbClr val="E7EAF2"/>
          </a:solidFill>
          <a:ln/>
          <a:effectLst>
            <a:outerShdw blurRad="76200" dist="25400" dir="5400000" algn="bl" rotWithShape="0">
              <a:srgbClr val="1B2A4A">
                <a:alpha val="12000"/>
              </a:srgbClr>
            </a:outerShdw>
          </a:effectLst>
        </p:spPr>
        <p:txBody>
          <a:bodyPr/>
          <a:lstStyle/>
          <a:p>
            <a:endParaRPr lang="en-IN"/>
          </a:p>
        </p:txBody>
      </p:sp>
      <p:sp>
        <p:nvSpPr>
          <p:cNvPr id="21" name="Shape 19"/>
          <p:cNvSpPr/>
          <p:nvPr/>
        </p:nvSpPr>
        <p:spPr>
          <a:xfrm>
            <a:off x="685800" y="4892040"/>
            <a:ext cx="502920" cy="502920"/>
          </a:xfrm>
          <a:prstGeom prst="ellipse">
            <a:avLst/>
          </a:prstGeom>
          <a:solidFill>
            <a:srgbClr val="1B2A4A"/>
          </a:solidFill>
          <a:ln/>
        </p:spPr>
        <p:txBody>
          <a:bodyPr/>
          <a:lstStyle/>
          <a:p>
            <a:endParaRPr lang="en-IN"/>
          </a:p>
        </p:txBody>
      </p:sp>
      <p:pic>
        <p:nvPicPr>
          <p:cNvPr id="22" name="Image 0" descr="/home/claude/bookverse/icons/book.png"/>
          <p:cNvPicPr>
            <a:picLocks noChangeAspect="1"/>
          </p:cNvPicPr>
          <p:nvPr/>
        </p:nvPicPr>
        <p:blipFill>
          <a:blip r:embed="rId3"/>
          <a:stretch>
            <a:fillRect/>
          </a:stretch>
        </p:blipFill>
        <p:spPr>
          <a:xfrm>
            <a:off x="761238" y="4967478"/>
            <a:ext cx="352044" cy="352044"/>
          </a:xfrm>
          <a:prstGeom prst="rect">
            <a:avLst/>
          </a:prstGeom>
        </p:spPr>
      </p:pic>
      <p:sp>
        <p:nvSpPr>
          <p:cNvPr id="23" name="Text 20"/>
          <p:cNvSpPr txBox="1"/>
          <p:nvPr/>
        </p:nvSpPr>
        <p:spPr>
          <a:xfrm>
            <a:off x="1371600" y="4837176"/>
            <a:ext cx="10180015" cy="256032"/>
          </a:xfrm>
          <a:prstGeom prst="rect">
            <a:avLst/>
          </a:prstGeom>
          <a:noFill/>
          <a:ln/>
        </p:spPr>
        <p:txBody>
          <a:bodyPr wrap="square" rtlCol="0" anchor="ctr"/>
          <a:lstStyle/>
          <a:p>
            <a:pPr marL="0" indent="0">
              <a:buNone/>
            </a:pPr>
            <a:r>
              <a:rPr lang="en-US" sz="1200" b="1" kern="0" spc="100" dirty="0">
                <a:solidFill>
                  <a:srgbClr val="1B2A4A"/>
                </a:solidFill>
                <a:latin typeface="Calibri" pitchFamily="34" charset="0"/>
                <a:ea typeface="Calibri" pitchFamily="34" charset="-122"/>
                <a:cs typeface="Calibri" pitchFamily="34" charset="-120"/>
              </a:rPr>
              <a:t>NEVER ORDERED  +  STOCK &gt; 0</a:t>
            </a:r>
            <a:endParaRPr lang="en-US" sz="1200" dirty="0"/>
          </a:p>
        </p:txBody>
      </p:sp>
      <p:sp>
        <p:nvSpPr>
          <p:cNvPr id="24" name="Text 21"/>
          <p:cNvSpPr txBox="1"/>
          <p:nvPr/>
        </p:nvSpPr>
        <p:spPr>
          <a:xfrm>
            <a:off x="1371600" y="5111496"/>
            <a:ext cx="10180015" cy="384048"/>
          </a:xfrm>
          <a:prstGeom prst="rect">
            <a:avLst/>
          </a:prstGeom>
          <a:noFill/>
          <a:ln/>
        </p:spPr>
        <p:txBody>
          <a:bodyPr wrap="square" rtlCol="0" anchor="ctr"/>
          <a:lstStyle/>
          <a:p>
            <a:pPr marL="0" indent="0">
              <a:buNone/>
            </a:pPr>
            <a:r>
              <a:rPr lang="en-US" sz="1250" i="1" dirty="0">
                <a:solidFill>
                  <a:srgbClr val="1B2A4A"/>
                </a:solidFill>
                <a:latin typeface="Calibri" pitchFamily="34" charset="0"/>
                <a:ea typeface="Calibri" pitchFamily="34" charset="-122"/>
                <a:cs typeface="Calibri" pitchFamily="34" charset="-120"/>
              </a:rPr>
              <a:t>Books with zero matching Orders records, but Stock greater than zero → potential promotional or catalog-review opportunity.</a:t>
            </a:r>
            <a:endParaRPr lang="en-US" sz="1250" dirty="0"/>
          </a:p>
        </p:txBody>
      </p:sp>
      <p:sp>
        <p:nvSpPr>
          <p:cNvPr id="25" name="Text 22"/>
          <p:cNvSpPr txBox="1"/>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26" name="Text 23"/>
          <p:cNvSpPr txBox="1"/>
          <p:nvPr/>
        </p:nvSpPr>
        <p:spPr>
          <a:xfrm>
            <a:off x="10637215" y="6547104"/>
            <a:ext cx="1097280"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14 / 19</a:t>
            </a:r>
            <a:endParaRPr lang="en-US" sz="9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fltVal val="0"/>
                                          </p:val>
                                        </p:tav>
                                        <p:tav tm="100000">
                                          <p:val>
                                            <p:strVal val="#ppt_w"/>
                                          </p:val>
                                        </p:tav>
                                      </p:tavLst>
                                    </p:anim>
                                    <p:anim calcmode="lin" valueType="num">
                                      <p:cBhvr>
                                        <p:cTn id="58" dur="500" fill="hold"/>
                                        <p:tgtEl>
                                          <p:spTgt spid="16"/>
                                        </p:tgtEl>
                                        <p:attrNameLst>
                                          <p:attrName>ppt_h</p:attrName>
                                        </p:attrNameLst>
                                      </p:cBhvr>
                                      <p:tavLst>
                                        <p:tav tm="0">
                                          <p:val>
                                            <p:fltVal val="0"/>
                                          </p:val>
                                        </p:tav>
                                        <p:tav tm="100000">
                                          <p:val>
                                            <p:strVal val="#ppt_h"/>
                                          </p:val>
                                        </p:tav>
                                      </p:tavLst>
                                    </p:anim>
                                    <p:animEffect transition="in" filter="fade">
                                      <p:cBhvr>
                                        <p:cTn id="59" dur="500"/>
                                        <p:tgtEl>
                                          <p:spTgt spid="16"/>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p:cTn id="62" dur="500" fill="hold"/>
                                        <p:tgtEl>
                                          <p:spTgt spid="17"/>
                                        </p:tgtEl>
                                        <p:attrNameLst>
                                          <p:attrName>ppt_w</p:attrName>
                                        </p:attrNameLst>
                                      </p:cBhvr>
                                      <p:tavLst>
                                        <p:tav tm="0">
                                          <p:val>
                                            <p:fltVal val="0"/>
                                          </p:val>
                                        </p:tav>
                                        <p:tav tm="100000">
                                          <p:val>
                                            <p:strVal val="#ppt_w"/>
                                          </p:val>
                                        </p:tav>
                                      </p:tavLst>
                                    </p:anim>
                                    <p:anim calcmode="lin" valueType="num">
                                      <p:cBhvr>
                                        <p:cTn id="63" dur="500" fill="hold"/>
                                        <p:tgtEl>
                                          <p:spTgt spid="17"/>
                                        </p:tgtEl>
                                        <p:attrNameLst>
                                          <p:attrName>ppt_h</p:attrName>
                                        </p:attrNameLst>
                                      </p:cBhvr>
                                      <p:tavLst>
                                        <p:tav tm="0">
                                          <p:val>
                                            <p:fltVal val="0"/>
                                          </p:val>
                                        </p:tav>
                                        <p:tav tm="100000">
                                          <p:val>
                                            <p:strVal val="#ppt_h"/>
                                          </p:val>
                                        </p:tav>
                                      </p:tavLst>
                                    </p:anim>
                                    <p:animEffect transition="in" filter="fade">
                                      <p:cBhvr>
                                        <p:cTn id="64" dur="500"/>
                                        <p:tgtEl>
                                          <p:spTgt spid="17"/>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p:cTn id="67" dur="500" fill="hold"/>
                                        <p:tgtEl>
                                          <p:spTgt spid="18"/>
                                        </p:tgtEl>
                                        <p:attrNameLst>
                                          <p:attrName>ppt_w</p:attrName>
                                        </p:attrNameLst>
                                      </p:cBhvr>
                                      <p:tavLst>
                                        <p:tav tm="0">
                                          <p:val>
                                            <p:fltVal val="0"/>
                                          </p:val>
                                        </p:tav>
                                        <p:tav tm="100000">
                                          <p:val>
                                            <p:strVal val="#ppt_w"/>
                                          </p:val>
                                        </p:tav>
                                      </p:tavLst>
                                    </p:anim>
                                    <p:anim calcmode="lin" valueType="num">
                                      <p:cBhvr>
                                        <p:cTn id="68" dur="500" fill="hold"/>
                                        <p:tgtEl>
                                          <p:spTgt spid="18"/>
                                        </p:tgtEl>
                                        <p:attrNameLst>
                                          <p:attrName>ppt_h</p:attrName>
                                        </p:attrNameLst>
                                      </p:cBhvr>
                                      <p:tavLst>
                                        <p:tav tm="0">
                                          <p:val>
                                            <p:fltVal val="0"/>
                                          </p:val>
                                        </p:tav>
                                        <p:tav tm="100000">
                                          <p:val>
                                            <p:strVal val="#ppt_h"/>
                                          </p:val>
                                        </p:tav>
                                      </p:tavLst>
                                    </p:anim>
                                    <p:animEffect transition="in" filter="fade">
                                      <p:cBhvr>
                                        <p:cTn id="69" dur="500"/>
                                        <p:tgtEl>
                                          <p:spTgt spid="18"/>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9"/>
                                        </p:tgtEl>
                                        <p:attrNameLst>
                                          <p:attrName>style.visibility</p:attrName>
                                        </p:attrNameLst>
                                      </p:cBhvr>
                                      <p:to>
                                        <p:strVal val="visible"/>
                                      </p:to>
                                    </p:set>
                                    <p:anim calcmode="lin" valueType="num">
                                      <p:cBhvr>
                                        <p:cTn id="72" dur="500" fill="hold"/>
                                        <p:tgtEl>
                                          <p:spTgt spid="19"/>
                                        </p:tgtEl>
                                        <p:attrNameLst>
                                          <p:attrName>ppt_w</p:attrName>
                                        </p:attrNameLst>
                                      </p:cBhvr>
                                      <p:tavLst>
                                        <p:tav tm="0">
                                          <p:val>
                                            <p:fltVal val="0"/>
                                          </p:val>
                                        </p:tav>
                                        <p:tav tm="100000">
                                          <p:val>
                                            <p:strVal val="#ppt_w"/>
                                          </p:val>
                                        </p:tav>
                                      </p:tavLst>
                                    </p:anim>
                                    <p:anim calcmode="lin" valueType="num">
                                      <p:cBhvr>
                                        <p:cTn id="73" dur="500" fill="hold"/>
                                        <p:tgtEl>
                                          <p:spTgt spid="19"/>
                                        </p:tgtEl>
                                        <p:attrNameLst>
                                          <p:attrName>ppt_h</p:attrName>
                                        </p:attrNameLst>
                                      </p:cBhvr>
                                      <p:tavLst>
                                        <p:tav tm="0">
                                          <p:val>
                                            <p:fltVal val="0"/>
                                          </p:val>
                                        </p:tav>
                                        <p:tav tm="100000">
                                          <p:val>
                                            <p:strVal val="#ppt_h"/>
                                          </p:val>
                                        </p:tav>
                                      </p:tavLst>
                                    </p:anim>
                                    <p:animEffect transition="in" filter="fade">
                                      <p:cBhvr>
                                        <p:cTn id="74" dur="500"/>
                                        <p:tgtEl>
                                          <p:spTgt spid="19"/>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4"/>
                                        </p:tgtEl>
                                        <p:attrNameLst>
                                          <p:attrName>style.visibility</p:attrName>
                                        </p:attrNameLst>
                                      </p:cBhvr>
                                      <p:to>
                                        <p:strVal val="visible"/>
                                      </p:to>
                                    </p:set>
                                    <p:animEffect transition="in" filter="fade">
                                      <p:cBhvr>
                                        <p:cTn id="79" dur="500"/>
                                        <p:tgtEl>
                                          <p:spTgt spid="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
                                        </p:tgtEl>
                                        <p:attrNameLst>
                                          <p:attrName>style.visibility</p:attrName>
                                        </p:attrNameLst>
                                      </p:cBhvr>
                                      <p:to>
                                        <p:strVal val="visible"/>
                                      </p:to>
                                    </p:set>
                                    <p:animEffect transition="in" filter="fade">
                                      <p:cBhvr>
                                        <p:cTn id="82" dur="500"/>
                                        <p:tgtEl>
                                          <p:spTgt spid="5"/>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00"/>
                                        <p:tgtEl>
                                          <p:spTgt spid="2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500"/>
                                        <p:tgtEl>
                                          <p:spTgt spid="21"/>
                                        </p:tgtEl>
                                      </p:cBhvr>
                                    </p:animEffect>
                                  </p:childTnLst>
                                </p:cTn>
                              </p:par>
                              <p:par>
                                <p:cTn id="91" presetID="10" presetClass="entr" presetSubtype="0" fill="hold"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00"/>
                                        <p:tgtEl>
                                          <p:spTgt spid="2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3" grpId="0" animBg="1"/>
      <p:bldP spid="2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274320" y="155448"/>
            <a:ext cx="11277295" cy="548640"/>
          </a:xfrm>
          <a:prstGeom prst="rect">
            <a:avLst/>
          </a:prstGeom>
          <a:noFill/>
          <a:ln/>
        </p:spPr>
        <p:txBody>
          <a:bodyPr wrap="square" rtlCol="0" anchor="ctr"/>
          <a:lstStyle/>
          <a:p>
            <a:pPr marL="0" indent="0">
              <a:buNone/>
            </a:pPr>
            <a:r>
              <a:rPr lang="en-US" sz="2900" b="1" dirty="0">
                <a:solidFill>
                  <a:srgbClr val="1B2A4A"/>
                </a:solidFill>
                <a:latin typeface="Cambria" pitchFamily="34" charset="0"/>
                <a:ea typeface="Cambria" pitchFamily="34" charset="-122"/>
                <a:cs typeface="Cambria" pitchFamily="34" charset="-120"/>
              </a:rPr>
              <a:t>Inventory &amp; Operations Questions and Insights</a:t>
            </a:r>
            <a:endParaRPr lang="en-US" sz="2900" dirty="0"/>
          </a:p>
        </p:txBody>
      </p:sp>
      <p:sp>
        <p:nvSpPr>
          <p:cNvPr id="4" name="Shape 2"/>
          <p:cNvSpPr/>
          <p:nvPr/>
        </p:nvSpPr>
        <p:spPr>
          <a:xfrm>
            <a:off x="274320" y="722376"/>
            <a:ext cx="11277295" cy="603504"/>
          </a:xfrm>
          <a:prstGeom prst="roundRect">
            <a:avLst>
              <a:gd name="adj" fmla="val 5263"/>
            </a:avLst>
          </a:prstGeom>
          <a:solidFill>
            <a:srgbClr val="F1F1F5"/>
          </a:solidFill>
          <a:ln/>
          <a:effectLst>
            <a:outerShdw blurRad="76200" dist="25400" dir="5400000" algn="bl" rotWithShape="0">
              <a:srgbClr val="1B2A4A">
                <a:alpha val="12000"/>
              </a:srgbClr>
            </a:outerShdw>
          </a:effectLst>
        </p:spPr>
        <p:txBody>
          <a:bodyPr/>
          <a:lstStyle/>
          <a:p>
            <a:endParaRPr lang="en-IN"/>
          </a:p>
        </p:txBody>
      </p:sp>
      <p:sp>
        <p:nvSpPr>
          <p:cNvPr id="5" name="Shape 3"/>
          <p:cNvSpPr/>
          <p:nvPr/>
        </p:nvSpPr>
        <p:spPr>
          <a:xfrm>
            <a:off x="438912" y="850392"/>
            <a:ext cx="384048" cy="384048"/>
          </a:xfrm>
          <a:prstGeom prst="ellipse">
            <a:avLst/>
          </a:prstGeom>
          <a:solidFill>
            <a:srgbClr val="1B2A4A"/>
          </a:solidFill>
          <a:ln/>
        </p:spPr>
        <p:txBody>
          <a:bodyPr/>
          <a:lstStyle/>
          <a:p>
            <a:endParaRPr lang="en-IN"/>
          </a:p>
        </p:txBody>
      </p:sp>
      <p:pic>
        <p:nvPicPr>
          <p:cNvPr id="6" name="Image 0" descr="/home/claude/bookverse/icons/question.png"/>
          <p:cNvPicPr>
            <a:picLocks noChangeAspect="1"/>
          </p:cNvPicPr>
          <p:nvPr/>
        </p:nvPicPr>
        <p:blipFill>
          <a:blip r:embed="rId3"/>
          <a:stretch>
            <a:fillRect/>
          </a:stretch>
        </p:blipFill>
        <p:spPr>
          <a:xfrm>
            <a:off x="504200" y="915680"/>
            <a:ext cx="253472" cy="253472"/>
          </a:xfrm>
          <a:prstGeom prst="rect">
            <a:avLst/>
          </a:prstGeom>
        </p:spPr>
      </p:pic>
      <p:sp>
        <p:nvSpPr>
          <p:cNvPr id="7" name="Text 4"/>
          <p:cNvSpPr txBox="1"/>
          <p:nvPr/>
        </p:nvSpPr>
        <p:spPr>
          <a:xfrm>
            <a:off x="438912" y="850392"/>
            <a:ext cx="384048" cy="384048"/>
          </a:xfrm>
          <a:prstGeom prst="rect">
            <a:avLst/>
          </a:prstGeom>
          <a:noFill/>
          <a:ln/>
        </p:spPr>
        <p:txBody>
          <a:bodyPr wrap="square" rtlCol="0" anchor="ctr"/>
          <a:lstStyle/>
          <a:p>
            <a:pPr marL="0" indent="0" algn="ctr">
              <a:buNone/>
            </a:pPr>
            <a:r>
              <a:rPr lang="en-US" sz="1500" b="1" dirty="0">
                <a:solidFill>
                  <a:srgbClr val="C9A227"/>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982980" y="890451"/>
            <a:ext cx="10408615" cy="530352"/>
          </a:xfrm>
          <a:prstGeom prst="rect">
            <a:avLst/>
          </a:prstGeom>
          <a:noFill/>
          <a:ln/>
        </p:spPr>
        <p:txBody>
          <a:bodyPr wrap="square" rtlCol="0" anchor="t"/>
          <a:lstStyle/>
          <a:p>
            <a:pPr marL="0" indent="0">
              <a:lnSpc>
                <a:spcPct val="103000"/>
              </a:lnSpc>
              <a:buNone/>
            </a:pPr>
            <a:r>
              <a:rPr lang="en-US" sz="1350" b="1" i="1" dirty="0">
                <a:solidFill>
                  <a:srgbClr val="1B2A4A"/>
                </a:solidFill>
                <a:latin typeface="Calibri" pitchFamily="34" charset="0"/>
                <a:ea typeface="Calibri" pitchFamily="34" charset="-122"/>
                <a:cs typeface="Calibri" pitchFamily="34" charset="-120"/>
              </a:rPr>
              <a:t>“The Inventory team wants to identify books with low stock levels. Where would you find this information?”</a:t>
            </a:r>
            <a:endParaRPr lang="en-US" sz="1350" b="1" dirty="0"/>
          </a:p>
        </p:txBody>
      </p:sp>
      <p:sp>
        <p:nvSpPr>
          <p:cNvPr id="43" name="Text 38"/>
          <p:cNvSpPr txBox="1"/>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44" name="Text 39"/>
          <p:cNvSpPr txBox="1"/>
          <p:nvPr/>
        </p:nvSpPr>
        <p:spPr>
          <a:xfrm>
            <a:off x="10637215" y="6547104"/>
            <a:ext cx="1097280"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15 / 19</a:t>
            </a:r>
            <a:endParaRPr lang="en-US" sz="900" dirty="0"/>
          </a:p>
        </p:txBody>
      </p:sp>
      <p:sp>
        <p:nvSpPr>
          <p:cNvPr id="45" name="Rectangle: Rounded Corners 44">
            <a:extLst>
              <a:ext uri="{FF2B5EF4-FFF2-40B4-BE49-F238E27FC236}">
                <a16:creationId xmlns:a16="http://schemas.microsoft.com/office/drawing/2014/main" id="{69F7F5E0-6F66-0101-86CF-2C44E5B64768}"/>
              </a:ext>
            </a:extLst>
          </p:cNvPr>
          <p:cNvSpPr/>
          <p:nvPr/>
        </p:nvSpPr>
        <p:spPr>
          <a:xfrm>
            <a:off x="274320" y="1852427"/>
            <a:ext cx="4515794" cy="2683040"/>
          </a:xfrm>
          <a:prstGeom prst="roundRect">
            <a:avLst>
              <a:gd name="adj" fmla="val 3428"/>
            </a:avLst>
          </a:prstGeom>
          <a:solidFill>
            <a:srgbClr val="121D33"/>
          </a:solidFill>
          <a:ln/>
        </p:spPr>
        <p:txBody>
          <a:bodyPr/>
          <a:lstStyle/>
          <a:p>
            <a:endParaRPr lang="en-IN">
              <a:solidFill>
                <a:schemeClr val="tx1"/>
              </a:solidFill>
            </a:endParaRPr>
          </a:p>
        </p:txBody>
      </p:sp>
      <p:sp>
        <p:nvSpPr>
          <p:cNvPr id="46" name="TextBox 45">
            <a:extLst>
              <a:ext uri="{FF2B5EF4-FFF2-40B4-BE49-F238E27FC236}">
                <a16:creationId xmlns:a16="http://schemas.microsoft.com/office/drawing/2014/main" id="{45A4A10B-5CF5-60D1-2D02-9E837865452A}"/>
              </a:ext>
            </a:extLst>
          </p:cNvPr>
          <p:cNvSpPr txBox="1"/>
          <p:nvPr/>
        </p:nvSpPr>
        <p:spPr>
          <a:xfrm>
            <a:off x="504200" y="2259496"/>
            <a:ext cx="4432852" cy="2169825"/>
          </a:xfrm>
          <a:prstGeom prst="rect">
            <a:avLst/>
          </a:prstGeom>
          <a:noFill/>
        </p:spPr>
        <p:txBody>
          <a:bodyPr wrap="square" rtlCol="0">
            <a:spAutoFit/>
          </a:bodyPr>
          <a:lstStyle/>
          <a:p>
            <a:r>
              <a:rPr lang="en-US" sz="1350" b="1" dirty="0">
                <a:solidFill>
                  <a:srgbClr val="E8D48A"/>
                </a:solidFill>
                <a:latin typeface="Courier New" panose="02070309020205020404" pitchFamily="49" charset="0"/>
                <a:cs typeface="Courier New" panose="02070309020205020404" pitchFamily="49" charset="0"/>
              </a:rPr>
              <a:t>SELECT</a:t>
            </a:r>
          </a:p>
          <a:p>
            <a:r>
              <a:rPr lang="en-US" sz="1350" dirty="0">
                <a:solidFill>
                  <a:schemeClr val="bg1"/>
                </a:solidFill>
                <a:latin typeface="Courier New" panose="02070309020205020404" pitchFamily="49" charset="0"/>
                <a:cs typeface="Courier New" panose="02070309020205020404" pitchFamily="49" charset="0"/>
              </a:rPr>
              <a:t>    Book_ID,</a:t>
            </a:r>
          </a:p>
          <a:p>
            <a:r>
              <a:rPr lang="en-US" sz="1350" dirty="0">
                <a:solidFill>
                  <a:schemeClr val="bg1"/>
                </a:solidFill>
                <a:latin typeface="Courier New" panose="02070309020205020404" pitchFamily="49" charset="0"/>
                <a:cs typeface="Courier New" panose="02070309020205020404" pitchFamily="49" charset="0"/>
              </a:rPr>
              <a:t>    Title,</a:t>
            </a:r>
          </a:p>
          <a:p>
            <a:r>
              <a:rPr lang="en-US" sz="1350" dirty="0">
                <a:solidFill>
                  <a:schemeClr val="bg1"/>
                </a:solidFill>
                <a:latin typeface="Courier New" panose="02070309020205020404" pitchFamily="49" charset="0"/>
                <a:cs typeface="Courier New" panose="02070309020205020404" pitchFamily="49" charset="0"/>
              </a:rPr>
              <a:t>    Author,</a:t>
            </a:r>
          </a:p>
          <a:p>
            <a:r>
              <a:rPr lang="en-US" sz="1350" dirty="0">
                <a:solidFill>
                  <a:schemeClr val="bg1"/>
                </a:solidFill>
                <a:latin typeface="Courier New" panose="02070309020205020404" pitchFamily="49" charset="0"/>
                <a:cs typeface="Courier New" panose="02070309020205020404" pitchFamily="49" charset="0"/>
              </a:rPr>
              <a:t>    Genre,</a:t>
            </a:r>
          </a:p>
          <a:p>
            <a:r>
              <a:rPr lang="en-US" sz="1350" dirty="0">
                <a:solidFill>
                  <a:schemeClr val="bg1"/>
                </a:solidFill>
                <a:latin typeface="Courier New" panose="02070309020205020404" pitchFamily="49" charset="0"/>
                <a:cs typeface="Courier New" panose="02070309020205020404" pitchFamily="49" charset="0"/>
              </a:rPr>
              <a:t>    Stock</a:t>
            </a:r>
          </a:p>
          <a:p>
            <a:r>
              <a:rPr lang="en-US" sz="1350" b="1" dirty="0">
                <a:solidFill>
                  <a:srgbClr val="E8D48A"/>
                </a:solidFill>
                <a:latin typeface="Courier New" panose="02070309020205020404" pitchFamily="49" charset="0"/>
                <a:cs typeface="Courier New" panose="02070309020205020404" pitchFamily="49" charset="0"/>
              </a:rPr>
              <a:t>FROM</a:t>
            </a:r>
            <a:r>
              <a:rPr lang="en-US" sz="1350" dirty="0">
                <a:solidFill>
                  <a:schemeClr val="bg1"/>
                </a:solidFill>
                <a:latin typeface="Courier New" panose="02070309020205020404" pitchFamily="49" charset="0"/>
                <a:cs typeface="Courier New" panose="02070309020205020404" pitchFamily="49" charset="0"/>
              </a:rPr>
              <a:t> Books</a:t>
            </a:r>
          </a:p>
          <a:p>
            <a:r>
              <a:rPr lang="en-US" sz="1350" b="1" dirty="0">
                <a:solidFill>
                  <a:srgbClr val="E8D48A"/>
                </a:solidFill>
                <a:latin typeface="Courier New" panose="02070309020205020404" pitchFamily="49" charset="0"/>
                <a:cs typeface="Courier New" panose="02070309020205020404" pitchFamily="49" charset="0"/>
              </a:rPr>
              <a:t>WHERE</a:t>
            </a:r>
            <a:r>
              <a:rPr lang="en-US" sz="1350" dirty="0">
                <a:solidFill>
                  <a:schemeClr val="bg1"/>
                </a:solidFill>
                <a:latin typeface="Courier New" panose="02070309020205020404" pitchFamily="49" charset="0"/>
                <a:cs typeface="Courier New" panose="02070309020205020404" pitchFamily="49" charset="0"/>
              </a:rPr>
              <a:t> Stock &lt; 20</a:t>
            </a:r>
          </a:p>
          <a:p>
            <a:r>
              <a:rPr lang="en-US" sz="1350" b="1" dirty="0">
                <a:solidFill>
                  <a:srgbClr val="E8D48A"/>
                </a:solidFill>
                <a:latin typeface="Courier New" panose="02070309020205020404" pitchFamily="49" charset="0"/>
                <a:cs typeface="Courier New" panose="02070309020205020404" pitchFamily="49" charset="0"/>
              </a:rPr>
              <a:t>ORDER BY </a:t>
            </a:r>
            <a:r>
              <a:rPr lang="en-US" sz="1350" dirty="0">
                <a:solidFill>
                  <a:schemeClr val="bg1"/>
                </a:solidFill>
                <a:latin typeface="Courier New" panose="02070309020205020404" pitchFamily="49" charset="0"/>
                <a:cs typeface="Courier New" panose="02070309020205020404" pitchFamily="49" charset="0"/>
              </a:rPr>
              <a:t>Stock </a:t>
            </a:r>
            <a:r>
              <a:rPr lang="en-US" sz="1350" b="1" dirty="0">
                <a:solidFill>
                  <a:srgbClr val="E8D48A"/>
                </a:solidFill>
                <a:latin typeface="Courier New" panose="02070309020205020404" pitchFamily="49" charset="0"/>
                <a:cs typeface="Courier New" panose="02070309020205020404" pitchFamily="49" charset="0"/>
              </a:rPr>
              <a:t>ASC</a:t>
            </a:r>
          </a:p>
          <a:p>
            <a:r>
              <a:rPr lang="en-US" sz="1350" b="1" dirty="0">
                <a:solidFill>
                  <a:srgbClr val="E8D48A"/>
                </a:solidFill>
                <a:latin typeface="Courier New" panose="02070309020205020404" pitchFamily="49" charset="0"/>
                <a:cs typeface="Courier New" panose="02070309020205020404" pitchFamily="49" charset="0"/>
              </a:rPr>
              <a:t>LIMIT</a:t>
            </a:r>
            <a:r>
              <a:rPr lang="en-US" sz="1350" dirty="0">
                <a:solidFill>
                  <a:schemeClr val="bg1"/>
                </a:solidFill>
                <a:latin typeface="Courier New" panose="02070309020205020404" pitchFamily="49" charset="0"/>
                <a:cs typeface="Courier New" panose="02070309020205020404" pitchFamily="49" charset="0"/>
              </a:rPr>
              <a:t> 10;</a:t>
            </a:r>
            <a:endParaRPr lang="en-IN" sz="1350" dirty="0">
              <a:solidFill>
                <a:schemeClr val="bg1"/>
              </a:solidFill>
              <a:latin typeface="Courier New" panose="02070309020205020404" pitchFamily="49" charset="0"/>
              <a:cs typeface="Courier New" panose="02070309020205020404" pitchFamily="49" charset="0"/>
            </a:endParaRPr>
          </a:p>
        </p:txBody>
      </p:sp>
      <p:pic>
        <p:nvPicPr>
          <p:cNvPr id="48" name="Picture 47">
            <a:extLst>
              <a:ext uri="{FF2B5EF4-FFF2-40B4-BE49-F238E27FC236}">
                <a16:creationId xmlns:a16="http://schemas.microsoft.com/office/drawing/2014/main" id="{9DF3E39E-3E71-B018-5614-DA06C6DC779D}"/>
              </a:ext>
            </a:extLst>
          </p:cNvPr>
          <p:cNvPicPr>
            <a:picLocks noChangeAspect="1"/>
          </p:cNvPicPr>
          <p:nvPr/>
        </p:nvPicPr>
        <p:blipFill>
          <a:blip r:embed="rId4"/>
          <a:stretch>
            <a:fillRect/>
          </a:stretch>
        </p:blipFill>
        <p:spPr>
          <a:xfrm>
            <a:off x="5166932" y="1588878"/>
            <a:ext cx="6224663" cy="284044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2" name="Rectangle: Rounded Corners 1">
            <a:extLst>
              <a:ext uri="{FF2B5EF4-FFF2-40B4-BE49-F238E27FC236}">
                <a16:creationId xmlns:a16="http://schemas.microsoft.com/office/drawing/2014/main" id="{53CA4B04-55B4-D294-7D75-04ED5A7DEDA0}"/>
              </a:ext>
            </a:extLst>
          </p:cNvPr>
          <p:cNvSpPr/>
          <p:nvPr/>
        </p:nvSpPr>
        <p:spPr>
          <a:xfrm>
            <a:off x="274322" y="4642317"/>
            <a:ext cx="11277294" cy="1797937"/>
          </a:xfrm>
          <a:prstGeom prst="roundRect">
            <a:avLst>
              <a:gd name="adj" fmla="val 5026"/>
            </a:avLst>
          </a:prstGeom>
          <a:solidFill>
            <a:srgbClr val="E7EAF2"/>
          </a:solidFill>
          <a:ln w="952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B0AA3C5E-1A2A-E305-CFF4-F9291F93CFFA}"/>
              </a:ext>
            </a:extLst>
          </p:cNvPr>
          <p:cNvSpPr txBox="1"/>
          <p:nvPr/>
        </p:nvSpPr>
        <p:spPr>
          <a:xfrm>
            <a:off x="347445" y="4685928"/>
            <a:ext cx="11120305" cy="1754326"/>
          </a:xfrm>
          <a:prstGeom prst="rect">
            <a:avLst/>
          </a:prstGeom>
          <a:noFill/>
        </p:spPr>
        <p:txBody>
          <a:bodyPr wrap="square" rtlCol="0">
            <a:spAutoFit/>
          </a:bodyPr>
          <a:lstStyle/>
          <a:p>
            <a:pPr lvl="0" algn="just" eaLnBrk="0" fontAlgn="base" hangingPunct="0">
              <a:spcBef>
                <a:spcPct val="0"/>
              </a:spcBef>
              <a:spcAft>
                <a:spcPct val="0"/>
              </a:spcAft>
              <a:buFontTx/>
              <a:buChar char="•"/>
            </a:pPr>
            <a:r>
              <a:rPr lang="en-US" altLang="en-US" sz="1350" b="1" dirty="0">
                <a:latin typeface="Google Sans"/>
              </a:rPr>
              <a:t>Severe Out-of-Stock Risk:</a:t>
            </a:r>
            <a:r>
              <a:rPr lang="en-US" altLang="en-US" sz="1350" dirty="0">
                <a:latin typeface="Google Sans"/>
              </a:rPr>
              <a:t> Half of the top 10 low-stock books (5 out of 10) are completely out of stock with a value of </a:t>
            </a:r>
            <a:r>
              <a:rPr lang="en-US" altLang="en-US" sz="1350" b="1" dirty="0">
                <a:latin typeface="Google Sans"/>
              </a:rPr>
              <a:t>0</a:t>
            </a:r>
            <a:r>
              <a:rPr lang="en-US" altLang="en-US" sz="1350" dirty="0">
                <a:latin typeface="Google Sans"/>
              </a:rPr>
              <a:t>. This requires immediate reordering to prevent lost sales.</a:t>
            </a:r>
          </a:p>
          <a:p>
            <a:pPr lvl="0" algn="just" eaLnBrk="0" fontAlgn="base" hangingPunct="0">
              <a:spcBef>
                <a:spcPct val="0"/>
              </a:spcBef>
              <a:spcAft>
                <a:spcPct val="0"/>
              </a:spcAft>
              <a:buFontTx/>
              <a:buChar char="•"/>
            </a:pPr>
            <a:endParaRPr lang="en-US" altLang="en-US" sz="1350" dirty="0">
              <a:latin typeface="Google Sans"/>
            </a:endParaRPr>
          </a:p>
          <a:p>
            <a:pPr lvl="0" algn="just" eaLnBrk="0" fontAlgn="base" hangingPunct="0">
              <a:spcBef>
                <a:spcPct val="0"/>
              </a:spcBef>
              <a:spcAft>
                <a:spcPct val="0"/>
              </a:spcAft>
              <a:buFontTx/>
              <a:buChar char="•"/>
            </a:pPr>
            <a:r>
              <a:rPr lang="en-US" altLang="en-US" sz="1350" b="1" dirty="0">
                <a:latin typeface="Google Sans"/>
              </a:rPr>
              <a:t>Science Fiction is a High-Velocity Genre:</a:t>
            </a:r>
            <a:r>
              <a:rPr lang="en-US" altLang="en-US" sz="1350" dirty="0">
                <a:latin typeface="Google Sans"/>
              </a:rPr>
              <a:t> Out of the 10 lowest-stock books shown, </a:t>
            </a:r>
            <a:r>
              <a:rPr lang="en-US" altLang="en-US" sz="1350" b="1" dirty="0">
                <a:latin typeface="Google Sans"/>
              </a:rPr>
              <a:t>50% belong to the Science Fiction genre</a:t>
            </a:r>
            <a:r>
              <a:rPr lang="en-US" altLang="en-US" sz="1350" dirty="0">
                <a:latin typeface="Google Sans"/>
              </a:rPr>
              <a:t>. This indicates either exceptionally high demand or under-ordering for this category.</a:t>
            </a:r>
          </a:p>
          <a:p>
            <a:pPr lvl="0" algn="just" eaLnBrk="0" fontAlgn="base" hangingPunct="0">
              <a:spcBef>
                <a:spcPct val="0"/>
              </a:spcBef>
              <a:spcAft>
                <a:spcPct val="0"/>
              </a:spcAft>
              <a:buFontTx/>
              <a:buChar char="•"/>
            </a:pPr>
            <a:endParaRPr lang="en-US" altLang="en-US" sz="1350" dirty="0">
              <a:latin typeface="Google Sans"/>
            </a:endParaRPr>
          </a:p>
          <a:p>
            <a:pPr lvl="0" algn="just" eaLnBrk="0" fontAlgn="base" hangingPunct="0">
              <a:spcBef>
                <a:spcPct val="0"/>
              </a:spcBef>
              <a:spcAft>
                <a:spcPct val="0"/>
              </a:spcAft>
              <a:buFontTx/>
              <a:buChar char="•"/>
            </a:pPr>
            <a:r>
              <a:rPr lang="en-US" altLang="en-US" sz="1350" b="1" dirty="0">
                <a:latin typeface="Google Sans"/>
              </a:rPr>
              <a:t>Biography Popularity:</a:t>
            </a:r>
            <a:r>
              <a:rPr lang="en-US" altLang="en-US" sz="1350" dirty="0">
                <a:latin typeface="Google Sans"/>
              </a:rPr>
              <a:t> The Biography genre has multiple entries near the top of the low-stock list (including a book completely out of stock and another with just 1 unit remaining), marking it as another key area needing inventory attention.</a:t>
            </a:r>
            <a:r>
              <a:rPr lang="en-US" altLang="en-US" sz="1350" dirty="0"/>
              <a:t> </a:t>
            </a:r>
            <a:endParaRPr lang="en-US" altLang="en-US" sz="1350" dirty="0">
              <a:latin typeface="Arial" panose="020B0604020202020204" pitchFamily="34" charset="0"/>
            </a:endParaRPr>
          </a:p>
        </p:txBody>
      </p:sp>
      <p:sp>
        <p:nvSpPr>
          <p:cNvPr id="9" name="TextBox 8">
            <a:extLst>
              <a:ext uri="{FF2B5EF4-FFF2-40B4-BE49-F238E27FC236}">
                <a16:creationId xmlns:a16="http://schemas.microsoft.com/office/drawing/2014/main" id="{C170962C-0E7B-BFAB-159F-112B7E0A8914}"/>
              </a:ext>
            </a:extLst>
          </p:cNvPr>
          <p:cNvSpPr txBox="1"/>
          <p:nvPr/>
        </p:nvSpPr>
        <p:spPr>
          <a:xfrm>
            <a:off x="347445" y="1476273"/>
            <a:ext cx="4355184" cy="269304"/>
          </a:xfrm>
          <a:prstGeom prst="rect">
            <a:avLst/>
          </a:prstGeom>
          <a:noFill/>
        </p:spPr>
        <p:txBody>
          <a:bodyPr wrap="square" rtlCol="0">
            <a:spAutoFit/>
          </a:bodyPr>
          <a:lstStyle/>
          <a:p>
            <a:r>
              <a:rPr lang="en-US" sz="1150" b="1" dirty="0">
                <a:solidFill>
                  <a:srgbClr val="1B2A4A"/>
                </a:solidFill>
              </a:rPr>
              <a:t>WORKBENCH ANALYSIS COVERS</a:t>
            </a:r>
            <a:endParaRPr lang="en-IN" sz="1150" dirty="0">
              <a:solidFill>
                <a:srgbClr val="1B2A4A"/>
              </a:solidFill>
            </a:endParaRPr>
          </a:p>
        </p:txBody>
      </p:sp>
      <p:sp>
        <p:nvSpPr>
          <p:cNvPr id="10" name="TextBox 9">
            <a:extLst>
              <a:ext uri="{FF2B5EF4-FFF2-40B4-BE49-F238E27FC236}">
                <a16:creationId xmlns:a16="http://schemas.microsoft.com/office/drawing/2014/main" id="{917B92FB-F303-E09C-58B9-BC45EF27CDD6}"/>
              </a:ext>
            </a:extLst>
          </p:cNvPr>
          <p:cNvSpPr txBox="1"/>
          <p:nvPr/>
        </p:nvSpPr>
        <p:spPr>
          <a:xfrm>
            <a:off x="438912" y="1934823"/>
            <a:ext cx="3658497" cy="253916"/>
          </a:xfrm>
          <a:prstGeom prst="rect">
            <a:avLst/>
          </a:prstGeom>
          <a:noFill/>
        </p:spPr>
        <p:txBody>
          <a:bodyPr wrap="square" rtlCol="0">
            <a:spAutoFit/>
          </a:bodyPr>
          <a:lstStyle/>
          <a:p>
            <a:r>
              <a:rPr lang="en-US" sz="1050" b="1" dirty="0">
                <a:solidFill>
                  <a:srgbClr val="D6A300"/>
                </a:solidFill>
              </a:rPr>
              <a:t>REPRESENTATIVE QUERY - LOW STOCK BOOKS</a:t>
            </a:r>
            <a:endParaRPr lang="en-IN" sz="1050" dirty="0">
              <a:solidFill>
                <a:srgbClr val="D6A300"/>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0-#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45"/>
                                        </p:tgtEl>
                                        <p:attrNameLst>
                                          <p:attrName>style.visibility</p:attrName>
                                        </p:attrNameLst>
                                      </p:cBhvr>
                                      <p:to>
                                        <p:strVal val="visible"/>
                                      </p:to>
                                    </p:set>
                                    <p:anim calcmode="lin" valueType="num">
                                      <p:cBhvr additive="base">
                                        <p:cTn id="34" dur="500" fill="hold"/>
                                        <p:tgtEl>
                                          <p:spTgt spid="45"/>
                                        </p:tgtEl>
                                        <p:attrNameLst>
                                          <p:attrName>ppt_x</p:attrName>
                                        </p:attrNameLst>
                                      </p:cBhvr>
                                      <p:tavLst>
                                        <p:tav tm="0">
                                          <p:val>
                                            <p:strVal val="0-#ppt_w/2"/>
                                          </p:val>
                                        </p:tav>
                                        <p:tav tm="100000">
                                          <p:val>
                                            <p:strVal val="#ppt_x"/>
                                          </p:val>
                                        </p:tav>
                                      </p:tavLst>
                                    </p:anim>
                                    <p:anim calcmode="lin" valueType="num">
                                      <p:cBhvr additive="base">
                                        <p:cTn id="35" dur="500" fill="hold"/>
                                        <p:tgtEl>
                                          <p:spTgt spid="45"/>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0"/>
                                  </p:stCondLst>
                                  <p:childTnLst>
                                    <p:set>
                                      <p:cBhvr>
                                        <p:cTn id="37" dur="1" fill="hold">
                                          <p:stCondLst>
                                            <p:cond delay="0"/>
                                          </p:stCondLst>
                                        </p:cTn>
                                        <p:tgtEl>
                                          <p:spTgt spid="46"/>
                                        </p:tgtEl>
                                        <p:attrNameLst>
                                          <p:attrName>style.visibility</p:attrName>
                                        </p:attrNameLst>
                                      </p:cBhvr>
                                      <p:to>
                                        <p:strVal val="visible"/>
                                      </p:to>
                                    </p:set>
                                    <p:anim calcmode="lin" valueType="num">
                                      <p:cBhvr additive="base">
                                        <p:cTn id="38" dur="500" fill="hold"/>
                                        <p:tgtEl>
                                          <p:spTgt spid="46"/>
                                        </p:tgtEl>
                                        <p:attrNameLst>
                                          <p:attrName>ppt_x</p:attrName>
                                        </p:attrNameLst>
                                      </p:cBhvr>
                                      <p:tavLst>
                                        <p:tav tm="0">
                                          <p:val>
                                            <p:strVal val="0-#ppt_w/2"/>
                                          </p:val>
                                        </p:tav>
                                        <p:tav tm="100000">
                                          <p:val>
                                            <p:strVal val="#ppt_x"/>
                                          </p:val>
                                        </p:tav>
                                      </p:tavLst>
                                    </p:anim>
                                    <p:anim calcmode="lin" valueType="num">
                                      <p:cBhvr additive="base">
                                        <p:cTn id="39"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nodeType="clickEffect">
                                  <p:stCondLst>
                                    <p:cond delay="0"/>
                                  </p:stCondLst>
                                  <p:childTnLst>
                                    <p:set>
                                      <p:cBhvr>
                                        <p:cTn id="43" dur="1" fill="hold">
                                          <p:stCondLst>
                                            <p:cond delay="0"/>
                                          </p:stCondLst>
                                        </p:cTn>
                                        <p:tgtEl>
                                          <p:spTgt spid="48"/>
                                        </p:tgtEl>
                                        <p:attrNameLst>
                                          <p:attrName>style.visibility</p:attrName>
                                        </p:attrNameLst>
                                      </p:cBhvr>
                                      <p:to>
                                        <p:strVal val="visible"/>
                                      </p:to>
                                    </p:set>
                                    <p:anim calcmode="lin" valueType="num">
                                      <p:cBhvr additive="base">
                                        <p:cTn id="44" dur="500" fill="hold"/>
                                        <p:tgtEl>
                                          <p:spTgt spid="48"/>
                                        </p:tgtEl>
                                        <p:attrNameLst>
                                          <p:attrName>ppt_x</p:attrName>
                                        </p:attrNameLst>
                                      </p:cBhvr>
                                      <p:tavLst>
                                        <p:tav tm="0">
                                          <p:val>
                                            <p:strVal val="1+#ppt_w/2"/>
                                          </p:val>
                                        </p:tav>
                                        <p:tav tm="100000">
                                          <p:val>
                                            <p:strVal val="#ppt_x"/>
                                          </p:val>
                                        </p:tav>
                                      </p:tavLst>
                                    </p:anim>
                                    <p:anim calcmode="lin" valueType="num">
                                      <p:cBhvr additive="base">
                                        <p:cTn id="45"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fade">
                                      <p:cBhvr>
                                        <p:cTn id="50" dur="1000"/>
                                        <p:tgtEl>
                                          <p:spTgt spid="2"/>
                                        </p:tgtEl>
                                      </p:cBhvr>
                                    </p:animEffect>
                                    <p:anim calcmode="lin" valueType="num">
                                      <p:cBhvr>
                                        <p:cTn id="51" dur="1000" fill="hold"/>
                                        <p:tgtEl>
                                          <p:spTgt spid="2"/>
                                        </p:tgtEl>
                                        <p:attrNameLst>
                                          <p:attrName>ppt_x</p:attrName>
                                        </p:attrNameLst>
                                      </p:cBhvr>
                                      <p:tavLst>
                                        <p:tav tm="0">
                                          <p:val>
                                            <p:strVal val="#ppt_x"/>
                                          </p:val>
                                        </p:tav>
                                        <p:tav tm="100000">
                                          <p:val>
                                            <p:strVal val="#ppt_x"/>
                                          </p:val>
                                        </p:tav>
                                      </p:tavLst>
                                    </p:anim>
                                    <p:anim calcmode="lin" valueType="num">
                                      <p:cBhvr>
                                        <p:cTn id="52" dur="1000" fill="hold"/>
                                        <p:tgtEl>
                                          <p:spTgt spid="2"/>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1000"/>
                                        <p:tgtEl>
                                          <p:spTgt spid="16"/>
                                        </p:tgtEl>
                                      </p:cBhvr>
                                    </p:animEffect>
                                    <p:anim calcmode="lin" valueType="num">
                                      <p:cBhvr>
                                        <p:cTn id="56" dur="1000" fill="hold"/>
                                        <p:tgtEl>
                                          <p:spTgt spid="16"/>
                                        </p:tgtEl>
                                        <p:attrNameLst>
                                          <p:attrName>ppt_x</p:attrName>
                                        </p:attrNameLst>
                                      </p:cBhvr>
                                      <p:tavLst>
                                        <p:tav tm="0">
                                          <p:val>
                                            <p:strVal val="#ppt_x"/>
                                          </p:val>
                                        </p:tav>
                                        <p:tav tm="100000">
                                          <p:val>
                                            <p:strVal val="#ppt_x"/>
                                          </p:val>
                                        </p:tav>
                                      </p:tavLst>
                                    </p:anim>
                                    <p:anim calcmode="lin" valueType="num">
                                      <p:cBhvr>
                                        <p:cTn id="5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45" grpId="0" animBg="1"/>
      <p:bldP spid="46" grpId="0"/>
      <p:bldP spid="2" grpId="0" animBg="1"/>
      <p:bldP spid="16"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26"/>
          <p:cNvSpPr/>
          <p:nvPr/>
        </p:nvSpPr>
        <p:spPr>
          <a:xfrm>
            <a:off x="512064" y="318847"/>
            <a:ext cx="11277295" cy="603504"/>
          </a:xfrm>
          <a:prstGeom prst="roundRect">
            <a:avLst>
              <a:gd name="adj" fmla="val 5263"/>
            </a:avLst>
          </a:prstGeom>
          <a:solidFill>
            <a:srgbClr val="F1F1F5"/>
          </a:solidFill>
          <a:ln/>
          <a:effectLst>
            <a:outerShdw blurRad="76200" dist="25400" dir="5400000" algn="bl" rotWithShape="0">
              <a:srgbClr val="1B2A4A">
                <a:alpha val="12000"/>
              </a:srgbClr>
            </a:outerShdw>
          </a:effectLst>
        </p:spPr>
        <p:txBody>
          <a:bodyPr/>
          <a:lstStyle/>
          <a:p>
            <a:endParaRPr lang="en-IN"/>
          </a:p>
        </p:txBody>
      </p:sp>
      <p:sp>
        <p:nvSpPr>
          <p:cNvPr id="31" name="Shape 27"/>
          <p:cNvSpPr/>
          <p:nvPr/>
        </p:nvSpPr>
        <p:spPr>
          <a:xfrm>
            <a:off x="676656" y="446863"/>
            <a:ext cx="384048" cy="384048"/>
          </a:xfrm>
          <a:prstGeom prst="ellipse">
            <a:avLst/>
          </a:prstGeom>
          <a:solidFill>
            <a:srgbClr val="1B2A4A"/>
          </a:solidFill>
          <a:ln/>
        </p:spPr>
        <p:txBody>
          <a:bodyPr/>
          <a:lstStyle/>
          <a:p>
            <a:endParaRPr lang="en-IN"/>
          </a:p>
        </p:txBody>
      </p:sp>
      <p:pic>
        <p:nvPicPr>
          <p:cNvPr id="32" name="Image 2" descr="/home/claude/bookverse/icons/question.png"/>
          <p:cNvPicPr>
            <a:picLocks noChangeAspect="1"/>
          </p:cNvPicPr>
          <p:nvPr/>
        </p:nvPicPr>
        <p:blipFill>
          <a:blip r:embed="rId2"/>
          <a:stretch>
            <a:fillRect/>
          </a:stretch>
        </p:blipFill>
        <p:spPr>
          <a:xfrm>
            <a:off x="741944" y="512151"/>
            <a:ext cx="253472" cy="253472"/>
          </a:xfrm>
          <a:prstGeom prst="rect">
            <a:avLst/>
          </a:prstGeom>
        </p:spPr>
      </p:pic>
      <p:sp>
        <p:nvSpPr>
          <p:cNvPr id="33" name="Text 28"/>
          <p:cNvSpPr txBox="1"/>
          <p:nvPr/>
        </p:nvSpPr>
        <p:spPr>
          <a:xfrm>
            <a:off x="676656" y="446863"/>
            <a:ext cx="384048" cy="384048"/>
          </a:xfrm>
          <a:prstGeom prst="rect">
            <a:avLst/>
          </a:prstGeom>
          <a:noFill/>
          <a:ln/>
        </p:spPr>
        <p:txBody>
          <a:bodyPr wrap="square" rtlCol="0" anchor="ctr"/>
          <a:lstStyle/>
          <a:p>
            <a:pPr marL="0" indent="0" algn="ctr">
              <a:buNone/>
            </a:pPr>
            <a:r>
              <a:rPr lang="en-US" sz="1500" b="1" dirty="0">
                <a:solidFill>
                  <a:srgbClr val="C9A227"/>
                </a:solidFill>
                <a:latin typeface="Calibri" pitchFamily="34" charset="0"/>
                <a:ea typeface="Calibri" pitchFamily="34" charset="-122"/>
                <a:cs typeface="Calibri" pitchFamily="34" charset="-120"/>
              </a:rPr>
              <a:t>3</a:t>
            </a:r>
            <a:endParaRPr lang="en-US" sz="1500" dirty="0"/>
          </a:p>
        </p:txBody>
      </p:sp>
      <p:sp>
        <p:nvSpPr>
          <p:cNvPr id="34" name="Text 29"/>
          <p:cNvSpPr txBox="1"/>
          <p:nvPr/>
        </p:nvSpPr>
        <p:spPr>
          <a:xfrm>
            <a:off x="1197864" y="441751"/>
            <a:ext cx="10408615" cy="530352"/>
          </a:xfrm>
          <a:prstGeom prst="rect">
            <a:avLst/>
          </a:prstGeom>
          <a:noFill/>
          <a:ln/>
        </p:spPr>
        <p:txBody>
          <a:bodyPr wrap="square" rtlCol="0" anchor="t"/>
          <a:lstStyle/>
          <a:p>
            <a:pPr marL="0" indent="0">
              <a:lnSpc>
                <a:spcPct val="103000"/>
              </a:lnSpc>
              <a:buNone/>
            </a:pPr>
            <a:r>
              <a:rPr lang="en-US" sz="1350" b="1" i="1" dirty="0">
                <a:solidFill>
                  <a:srgbClr val="1B2A4A"/>
                </a:solidFill>
                <a:latin typeface="Calibri" pitchFamily="34" charset="0"/>
                <a:ea typeface="Calibri" pitchFamily="34" charset="-122"/>
                <a:cs typeface="Calibri" pitchFamily="34" charset="-120"/>
              </a:rPr>
              <a:t>“Management wants to identify books that have never been purchased. Which tables would you need to compare?”</a:t>
            </a:r>
            <a:endParaRPr lang="en-US" sz="1350" b="1" dirty="0"/>
          </a:p>
        </p:txBody>
      </p:sp>
      <p:sp>
        <p:nvSpPr>
          <p:cNvPr id="2" name="Rectangle: Rounded Corners 1">
            <a:extLst>
              <a:ext uri="{FF2B5EF4-FFF2-40B4-BE49-F238E27FC236}">
                <a16:creationId xmlns:a16="http://schemas.microsoft.com/office/drawing/2014/main" id="{CBD91F8E-51AA-4F89-A9E1-BBD66802F279}"/>
              </a:ext>
            </a:extLst>
          </p:cNvPr>
          <p:cNvSpPr/>
          <p:nvPr/>
        </p:nvSpPr>
        <p:spPr>
          <a:xfrm>
            <a:off x="512064" y="1331750"/>
            <a:ext cx="4403886" cy="3571044"/>
          </a:xfrm>
          <a:prstGeom prst="roundRect">
            <a:avLst>
              <a:gd name="adj" fmla="val 3316"/>
            </a:avLst>
          </a:prstGeom>
          <a:solidFill>
            <a:srgbClr val="121D33"/>
          </a:solidFill>
          <a:ln/>
        </p:spPr>
        <p:txBody>
          <a:bodyPr/>
          <a:lstStyle/>
          <a:p>
            <a:endParaRPr lang="en-IN" dirty="0">
              <a:solidFill>
                <a:schemeClr val="tx1"/>
              </a:solidFill>
            </a:endParaRPr>
          </a:p>
        </p:txBody>
      </p:sp>
      <p:sp>
        <p:nvSpPr>
          <p:cNvPr id="3" name="TextBox 2">
            <a:extLst>
              <a:ext uri="{FF2B5EF4-FFF2-40B4-BE49-F238E27FC236}">
                <a16:creationId xmlns:a16="http://schemas.microsoft.com/office/drawing/2014/main" id="{522FF3B4-CEF9-ADBB-9FF0-37537E1E1CDB}"/>
              </a:ext>
            </a:extLst>
          </p:cNvPr>
          <p:cNvSpPr txBox="1"/>
          <p:nvPr/>
        </p:nvSpPr>
        <p:spPr>
          <a:xfrm>
            <a:off x="676656" y="1637117"/>
            <a:ext cx="3912761" cy="3170099"/>
          </a:xfrm>
          <a:prstGeom prst="rect">
            <a:avLst/>
          </a:prstGeom>
          <a:noFill/>
        </p:spPr>
        <p:txBody>
          <a:bodyPr wrap="square" rtlCol="0">
            <a:spAutoFit/>
          </a:bodyPr>
          <a:lstStyle/>
          <a:p>
            <a:r>
              <a:rPr lang="en-IN" sz="1250" b="1" dirty="0">
                <a:solidFill>
                  <a:srgbClr val="E8D48A"/>
                </a:solidFill>
                <a:latin typeface="Courier New" panose="02070309020205020404" pitchFamily="49" charset="0"/>
                <a:cs typeface="Courier New" panose="02070309020205020404" pitchFamily="49" charset="0"/>
              </a:rPr>
              <a:t>SELECT</a:t>
            </a:r>
          </a:p>
          <a:p>
            <a:r>
              <a:rPr lang="en-IN" sz="1250" dirty="0">
                <a:solidFill>
                  <a:schemeClr val="bg1"/>
                </a:solidFill>
                <a:latin typeface="Courier New" panose="02070309020205020404" pitchFamily="49" charset="0"/>
                <a:cs typeface="Courier New" panose="02070309020205020404" pitchFamily="49" charset="0"/>
              </a:rPr>
              <a:t>    b.Book_ID,</a:t>
            </a:r>
          </a:p>
          <a:p>
            <a:r>
              <a:rPr lang="en-IN" sz="1250" dirty="0">
                <a:solidFill>
                  <a:schemeClr val="bg1"/>
                </a:solidFill>
                <a:latin typeface="Courier New" panose="02070309020205020404" pitchFamily="49" charset="0"/>
                <a:cs typeface="Courier New" panose="02070309020205020404" pitchFamily="49" charset="0"/>
              </a:rPr>
              <a:t>    b.Title,</a:t>
            </a:r>
          </a:p>
          <a:p>
            <a:r>
              <a:rPr lang="en-IN" sz="1250" dirty="0">
                <a:solidFill>
                  <a:schemeClr val="bg1"/>
                </a:solidFill>
                <a:latin typeface="Courier New" panose="02070309020205020404" pitchFamily="49" charset="0"/>
                <a:cs typeface="Courier New" panose="02070309020205020404" pitchFamily="49" charset="0"/>
              </a:rPr>
              <a:t>    b.Author,</a:t>
            </a:r>
          </a:p>
          <a:p>
            <a:r>
              <a:rPr lang="en-IN" sz="1250" dirty="0">
                <a:solidFill>
                  <a:schemeClr val="bg1"/>
                </a:solidFill>
                <a:latin typeface="Courier New" panose="02070309020205020404" pitchFamily="49" charset="0"/>
                <a:cs typeface="Courier New" panose="02070309020205020404" pitchFamily="49" charset="0"/>
              </a:rPr>
              <a:t>    b.Genre,</a:t>
            </a:r>
          </a:p>
          <a:p>
            <a:r>
              <a:rPr lang="en-IN" sz="1250" dirty="0">
                <a:solidFill>
                  <a:schemeClr val="bg1"/>
                </a:solidFill>
                <a:latin typeface="Courier New" panose="02070309020205020404" pitchFamily="49" charset="0"/>
                <a:cs typeface="Courier New" panose="02070309020205020404" pitchFamily="49" charset="0"/>
              </a:rPr>
              <a:t>    b.Price,</a:t>
            </a:r>
          </a:p>
          <a:p>
            <a:r>
              <a:rPr lang="en-IN" sz="1250" dirty="0">
                <a:solidFill>
                  <a:schemeClr val="bg1"/>
                </a:solidFill>
                <a:latin typeface="Courier New" panose="02070309020205020404" pitchFamily="49" charset="0"/>
                <a:cs typeface="Courier New" panose="02070309020205020404" pitchFamily="49" charset="0"/>
              </a:rPr>
              <a:t>    b.Stock,</a:t>
            </a:r>
          </a:p>
          <a:p>
            <a:r>
              <a:rPr lang="en-IN" sz="1250" dirty="0">
                <a:solidFill>
                  <a:schemeClr val="bg1"/>
                </a:solidFill>
                <a:latin typeface="Courier New" panose="02070309020205020404" pitchFamily="49" charset="0"/>
                <a:cs typeface="Courier New" panose="02070309020205020404" pitchFamily="49" charset="0"/>
              </a:rPr>
              <a:t>   </a:t>
            </a:r>
            <a:r>
              <a:rPr lang="en-IN" sz="1250" b="1" dirty="0">
                <a:solidFill>
                  <a:srgbClr val="D6A300"/>
                </a:solidFill>
                <a:latin typeface="Courier New" panose="02070309020205020404" pitchFamily="49" charset="0"/>
                <a:cs typeface="Courier New" panose="02070309020205020404" pitchFamily="49" charset="0"/>
              </a:rPr>
              <a:t> </a:t>
            </a:r>
            <a:r>
              <a:rPr lang="en-IN" sz="1250" b="1" dirty="0">
                <a:solidFill>
                  <a:srgbClr val="E8D48A"/>
                </a:solidFill>
                <a:latin typeface="Courier New" panose="02070309020205020404" pitchFamily="49" charset="0"/>
                <a:cs typeface="Courier New" panose="02070309020205020404" pitchFamily="49" charset="0"/>
              </a:rPr>
              <a:t>ROUND</a:t>
            </a:r>
            <a:r>
              <a:rPr lang="en-IN" sz="1250" dirty="0">
                <a:solidFill>
                  <a:schemeClr val="bg1"/>
                </a:solidFill>
                <a:latin typeface="Courier New" panose="02070309020205020404" pitchFamily="49" charset="0"/>
                <a:cs typeface="Courier New" panose="02070309020205020404" pitchFamily="49" charset="0"/>
              </a:rPr>
              <a:t>(b.Price * b.Stock, 2) </a:t>
            </a:r>
            <a:r>
              <a:rPr lang="en-IN" sz="1250" b="1" dirty="0">
                <a:solidFill>
                  <a:srgbClr val="E8D48A"/>
                </a:solidFill>
                <a:latin typeface="Courier New" panose="02070309020205020404" pitchFamily="49" charset="0"/>
                <a:cs typeface="Courier New" panose="02070309020205020404" pitchFamily="49" charset="0"/>
              </a:rPr>
              <a:t>AS</a:t>
            </a:r>
            <a:r>
              <a:rPr lang="en-IN" sz="1250" dirty="0">
                <a:solidFill>
                  <a:schemeClr val="bg1"/>
                </a:solidFill>
                <a:latin typeface="Courier New" panose="02070309020205020404" pitchFamily="49" charset="0"/>
                <a:cs typeface="Courier New" panose="02070309020205020404" pitchFamily="49" charset="0"/>
              </a:rPr>
              <a:t> Inventory_Value</a:t>
            </a:r>
          </a:p>
          <a:p>
            <a:r>
              <a:rPr lang="en-IN" sz="1250" b="1" dirty="0">
                <a:solidFill>
                  <a:srgbClr val="E8D48A"/>
                </a:solidFill>
                <a:latin typeface="Courier New" panose="02070309020205020404" pitchFamily="49" charset="0"/>
                <a:cs typeface="Courier New" panose="02070309020205020404" pitchFamily="49" charset="0"/>
              </a:rPr>
              <a:t>FROM</a:t>
            </a:r>
            <a:r>
              <a:rPr lang="en-IN" sz="1250" b="1" dirty="0">
                <a:solidFill>
                  <a:srgbClr val="D6A300"/>
                </a:solidFill>
                <a:latin typeface="Courier New" panose="02070309020205020404" pitchFamily="49" charset="0"/>
                <a:cs typeface="Courier New" panose="02070309020205020404" pitchFamily="49" charset="0"/>
              </a:rPr>
              <a:t> </a:t>
            </a:r>
            <a:r>
              <a:rPr lang="en-IN" sz="1250" dirty="0">
                <a:solidFill>
                  <a:schemeClr val="bg1"/>
                </a:solidFill>
                <a:latin typeface="Courier New" panose="02070309020205020404" pitchFamily="49" charset="0"/>
                <a:cs typeface="Courier New" panose="02070309020205020404" pitchFamily="49" charset="0"/>
              </a:rPr>
              <a:t>Books b</a:t>
            </a:r>
          </a:p>
          <a:p>
            <a:r>
              <a:rPr lang="en-IN" sz="1250" b="1" dirty="0">
                <a:solidFill>
                  <a:srgbClr val="E8D48A"/>
                </a:solidFill>
                <a:latin typeface="Courier New" panose="02070309020205020404" pitchFamily="49" charset="0"/>
                <a:cs typeface="Courier New" panose="02070309020205020404" pitchFamily="49" charset="0"/>
              </a:rPr>
              <a:t>LEFT JOIN </a:t>
            </a:r>
            <a:r>
              <a:rPr lang="en-IN" sz="1250" dirty="0">
                <a:solidFill>
                  <a:schemeClr val="bg1"/>
                </a:solidFill>
                <a:latin typeface="Courier New" panose="02070309020205020404" pitchFamily="49" charset="0"/>
                <a:cs typeface="Courier New" panose="02070309020205020404" pitchFamily="49" charset="0"/>
              </a:rPr>
              <a:t>Orders o</a:t>
            </a:r>
          </a:p>
          <a:p>
            <a:r>
              <a:rPr lang="en-IN" sz="1250" dirty="0">
                <a:solidFill>
                  <a:schemeClr val="bg1"/>
                </a:solidFill>
                <a:latin typeface="Courier New" panose="02070309020205020404" pitchFamily="49" charset="0"/>
                <a:cs typeface="Courier New" panose="02070309020205020404" pitchFamily="49" charset="0"/>
              </a:rPr>
              <a:t>   </a:t>
            </a:r>
            <a:r>
              <a:rPr lang="en-IN" sz="1250" b="1" dirty="0">
                <a:solidFill>
                  <a:srgbClr val="D6A300"/>
                </a:solidFill>
                <a:latin typeface="Courier New" panose="02070309020205020404" pitchFamily="49" charset="0"/>
                <a:cs typeface="Courier New" panose="02070309020205020404" pitchFamily="49" charset="0"/>
              </a:rPr>
              <a:t> </a:t>
            </a:r>
            <a:r>
              <a:rPr lang="en-IN" sz="1250" b="1" dirty="0">
                <a:solidFill>
                  <a:srgbClr val="E8D48A"/>
                </a:solidFill>
                <a:latin typeface="Courier New" panose="02070309020205020404" pitchFamily="49" charset="0"/>
                <a:cs typeface="Courier New" panose="02070309020205020404" pitchFamily="49" charset="0"/>
              </a:rPr>
              <a:t>ON </a:t>
            </a:r>
            <a:r>
              <a:rPr lang="en-IN" sz="1250" dirty="0">
                <a:solidFill>
                  <a:schemeClr val="bg1"/>
                </a:solidFill>
                <a:latin typeface="Courier New" panose="02070309020205020404" pitchFamily="49" charset="0"/>
                <a:cs typeface="Courier New" panose="02070309020205020404" pitchFamily="49" charset="0"/>
              </a:rPr>
              <a:t>b.Book_ID = o.Book_ID</a:t>
            </a:r>
          </a:p>
          <a:p>
            <a:r>
              <a:rPr lang="en-IN" sz="1250" b="1" dirty="0">
                <a:solidFill>
                  <a:srgbClr val="E8D48A"/>
                </a:solidFill>
                <a:latin typeface="Courier New" panose="02070309020205020404" pitchFamily="49" charset="0"/>
                <a:cs typeface="Courier New" panose="02070309020205020404" pitchFamily="49" charset="0"/>
              </a:rPr>
              <a:t>WHERE</a:t>
            </a:r>
            <a:r>
              <a:rPr lang="en-IN" sz="1250" dirty="0">
                <a:solidFill>
                  <a:schemeClr val="bg1"/>
                </a:solidFill>
                <a:latin typeface="Courier New" panose="02070309020205020404" pitchFamily="49" charset="0"/>
                <a:cs typeface="Courier New" panose="02070309020205020404" pitchFamily="49" charset="0"/>
              </a:rPr>
              <a:t> o.Book_ID </a:t>
            </a:r>
            <a:r>
              <a:rPr lang="en-IN" sz="1250" b="1" dirty="0">
                <a:solidFill>
                  <a:srgbClr val="E8D48A"/>
                </a:solidFill>
                <a:latin typeface="Courier New" panose="02070309020205020404" pitchFamily="49" charset="0"/>
                <a:cs typeface="Courier New" panose="02070309020205020404" pitchFamily="49" charset="0"/>
              </a:rPr>
              <a:t>IS NULL</a:t>
            </a:r>
          </a:p>
          <a:p>
            <a:r>
              <a:rPr lang="en-IN" sz="1250" dirty="0">
                <a:solidFill>
                  <a:schemeClr val="bg1"/>
                </a:solidFill>
                <a:latin typeface="Courier New" panose="02070309020205020404" pitchFamily="49" charset="0"/>
                <a:cs typeface="Courier New" panose="02070309020205020404" pitchFamily="49" charset="0"/>
              </a:rPr>
              <a:t>  </a:t>
            </a:r>
            <a:r>
              <a:rPr lang="en-IN" sz="1250" b="1" dirty="0">
                <a:solidFill>
                  <a:srgbClr val="E8D48A"/>
                </a:solidFill>
                <a:latin typeface="Courier New" panose="02070309020205020404" pitchFamily="49" charset="0"/>
                <a:cs typeface="Courier New" panose="02070309020205020404" pitchFamily="49" charset="0"/>
              </a:rPr>
              <a:t>AND </a:t>
            </a:r>
            <a:r>
              <a:rPr lang="en-IN" sz="1250" dirty="0">
                <a:solidFill>
                  <a:schemeClr val="bg1"/>
                </a:solidFill>
                <a:latin typeface="Courier New" panose="02070309020205020404" pitchFamily="49" charset="0"/>
                <a:cs typeface="Courier New" panose="02070309020205020404" pitchFamily="49" charset="0"/>
              </a:rPr>
              <a:t>b.Stock &gt; 0</a:t>
            </a:r>
          </a:p>
          <a:p>
            <a:r>
              <a:rPr lang="en-IN" sz="1250" b="1" dirty="0">
                <a:solidFill>
                  <a:srgbClr val="E8D48A"/>
                </a:solidFill>
                <a:latin typeface="Courier New" panose="02070309020205020404" pitchFamily="49" charset="0"/>
                <a:cs typeface="Courier New" panose="02070309020205020404" pitchFamily="49" charset="0"/>
              </a:rPr>
              <a:t>ORDER BY </a:t>
            </a:r>
            <a:r>
              <a:rPr lang="en-IN" sz="1250" dirty="0">
                <a:solidFill>
                  <a:schemeClr val="bg1"/>
                </a:solidFill>
                <a:latin typeface="Courier New" panose="02070309020205020404" pitchFamily="49" charset="0"/>
                <a:cs typeface="Courier New" panose="02070309020205020404" pitchFamily="49" charset="0"/>
              </a:rPr>
              <a:t>Inventory_Value </a:t>
            </a:r>
            <a:r>
              <a:rPr lang="en-IN" sz="1250" b="1" dirty="0">
                <a:solidFill>
                  <a:srgbClr val="E8D48A"/>
                </a:solidFill>
                <a:latin typeface="Courier New" panose="02070309020205020404" pitchFamily="49" charset="0"/>
                <a:cs typeface="Courier New" panose="02070309020205020404" pitchFamily="49" charset="0"/>
              </a:rPr>
              <a:t>DESC</a:t>
            </a:r>
          </a:p>
          <a:p>
            <a:r>
              <a:rPr lang="en-IN" sz="1250" b="1" dirty="0">
                <a:solidFill>
                  <a:srgbClr val="E8D48A"/>
                </a:solidFill>
                <a:latin typeface="Courier New" panose="02070309020205020404" pitchFamily="49" charset="0"/>
                <a:cs typeface="Courier New" panose="02070309020205020404" pitchFamily="49" charset="0"/>
              </a:rPr>
              <a:t>LIMIT</a:t>
            </a:r>
            <a:r>
              <a:rPr lang="en-IN" sz="1250" dirty="0">
                <a:solidFill>
                  <a:schemeClr val="bg1"/>
                </a:solidFill>
                <a:latin typeface="Courier New" panose="02070309020205020404" pitchFamily="49" charset="0"/>
                <a:cs typeface="Courier New" panose="02070309020205020404" pitchFamily="49" charset="0"/>
              </a:rPr>
              <a:t> 10;</a:t>
            </a:r>
          </a:p>
        </p:txBody>
      </p:sp>
      <p:pic>
        <p:nvPicPr>
          <p:cNvPr id="5" name="Picture 4">
            <a:extLst>
              <a:ext uri="{FF2B5EF4-FFF2-40B4-BE49-F238E27FC236}">
                <a16:creationId xmlns:a16="http://schemas.microsoft.com/office/drawing/2014/main" id="{199427B1-05E8-B124-A278-E960E0467837}"/>
              </a:ext>
            </a:extLst>
          </p:cNvPr>
          <p:cNvPicPr>
            <a:picLocks noChangeAspect="1"/>
          </p:cNvPicPr>
          <p:nvPr/>
        </p:nvPicPr>
        <p:blipFill>
          <a:blip r:embed="rId3"/>
          <a:stretch>
            <a:fillRect/>
          </a:stretch>
        </p:blipFill>
        <p:spPr>
          <a:xfrm>
            <a:off x="5259897" y="1270176"/>
            <a:ext cx="6420039" cy="353704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Rectangle: Rounded Corners 3">
            <a:extLst>
              <a:ext uri="{FF2B5EF4-FFF2-40B4-BE49-F238E27FC236}">
                <a16:creationId xmlns:a16="http://schemas.microsoft.com/office/drawing/2014/main" id="{5E942F18-91B0-C2E8-2FA3-76102BC21EB5}"/>
              </a:ext>
            </a:extLst>
          </p:cNvPr>
          <p:cNvSpPr/>
          <p:nvPr/>
        </p:nvSpPr>
        <p:spPr>
          <a:xfrm>
            <a:off x="512064" y="5033554"/>
            <a:ext cx="11366427" cy="1377583"/>
          </a:xfrm>
          <a:prstGeom prst="roundRect">
            <a:avLst>
              <a:gd name="adj" fmla="val 6256"/>
            </a:avLst>
          </a:prstGeom>
          <a:solidFill>
            <a:srgbClr val="E7EAF2"/>
          </a:solidFill>
          <a:ln w="952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9D3ABF5-9D6F-60B5-7C38-BAB81D60524F}"/>
              </a:ext>
            </a:extLst>
          </p:cNvPr>
          <p:cNvSpPr txBox="1"/>
          <p:nvPr/>
        </p:nvSpPr>
        <p:spPr>
          <a:xfrm>
            <a:off x="676656" y="5181600"/>
            <a:ext cx="11112703" cy="1131079"/>
          </a:xfrm>
          <a:prstGeom prst="rect">
            <a:avLst/>
          </a:prstGeom>
          <a:noFill/>
        </p:spPr>
        <p:txBody>
          <a:bodyPr wrap="square" rtlCol="0">
            <a:spAutoFit/>
          </a:bodyPr>
          <a:lstStyle/>
          <a:p>
            <a:pPr marL="285750" indent="-285750" algn="just">
              <a:buFont typeface="Arial" panose="020B0604020202020204" pitchFamily="34" charset="0"/>
              <a:buChar char="•"/>
            </a:pPr>
            <a:r>
              <a:rPr lang="en-US" sz="1350" b="1" dirty="0">
                <a:solidFill>
                  <a:srgbClr val="1B2A4A"/>
                </a:solidFill>
                <a:latin typeface="Cambria" panose="02040503050406030204" pitchFamily="18" charset="0"/>
                <a:ea typeface="Cambria" panose="02040503050406030204" pitchFamily="18" charset="0"/>
              </a:rPr>
              <a:t>High Risk / Dead Stock</a:t>
            </a:r>
            <a:r>
              <a:rPr lang="en-US" sz="1350" b="1" dirty="0"/>
              <a:t>:</a:t>
            </a:r>
            <a:r>
              <a:rPr lang="en-US" sz="1350" dirty="0"/>
              <a:t> Titles like </a:t>
            </a:r>
            <a:r>
              <a:rPr lang="en-US" sz="1350" i="1" dirty="0"/>
              <a:t>"Ergonomic foreground Graphic Interface"</a:t>
            </a:r>
            <a:r>
              <a:rPr lang="en-US" sz="1350" dirty="0"/>
              <a:t> (Fiction) and </a:t>
            </a:r>
            <a:r>
              <a:rPr lang="en-US" sz="1350" i="1" dirty="0"/>
              <a:t>"Customer-focused tertiary methodology"</a:t>
            </a:r>
            <a:r>
              <a:rPr lang="en-US" sz="1350" dirty="0"/>
              <a:t> (Fantasy) each have 100 units in stock but have generated zero sales.</a:t>
            </a:r>
          </a:p>
          <a:p>
            <a:pPr marL="285750" indent="-285750" algn="just">
              <a:buFont typeface="Arial" panose="020B0604020202020204" pitchFamily="34" charset="0"/>
              <a:buChar char="•"/>
            </a:pPr>
            <a:endParaRPr lang="en-US" sz="1350" dirty="0"/>
          </a:p>
          <a:p>
            <a:pPr marL="285750" indent="-285750" algn="just">
              <a:buFont typeface="Arial" panose="020B0604020202020204" pitchFamily="34" charset="0"/>
              <a:buChar char="•"/>
            </a:pPr>
            <a:r>
              <a:rPr lang="en-US" sz="1350" b="1" dirty="0">
                <a:solidFill>
                  <a:srgbClr val="1B2A4A"/>
                </a:solidFill>
                <a:latin typeface="Cambria" panose="02040503050406030204" pitchFamily="18" charset="0"/>
                <a:ea typeface="Cambria" panose="02040503050406030204" pitchFamily="18" charset="0"/>
              </a:rPr>
              <a:t>Genre Breakdown</a:t>
            </a:r>
            <a:r>
              <a:rPr lang="en-US" sz="1350" b="1" dirty="0"/>
              <a:t>:</a:t>
            </a:r>
            <a:r>
              <a:rPr lang="en-US" sz="1350" dirty="0"/>
              <a:t> The unpurchased list contains a mix of </a:t>
            </a:r>
            <a:r>
              <a:rPr lang="en-US" sz="1350" dirty="0">
                <a:solidFill>
                  <a:srgbClr val="1B2A4A"/>
                </a:solidFill>
                <a:latin typeface="Cambria" panose="02040503050406030204" pitchFamily="18" charset="0"/>
                <a:ea typeface="Cambria" panose="02040503050406030204" pitchFamily="18" charset="0"/>
              </a:rPr>
              <a:t>Fiction, Fantasy, Romance, and Science Fiction</a:t>
            </a:r>
            <a:r>
              <a:rPr lang="en-US" sz="1350" dirty="0"/>
              <a:t>. Science Fiction appears multiple times at the bottom of the list (e.g., </a:t>
            </a:r>
            <a:r>
              <a:rPr lang="en-US" sz="1350" i="1" dirty="0"/>
              <a:t>"Progressive 24hour artificial intelligence"</a:t>
            </a:r>
            <a:r>
              <a:rPr lang="en-US" sz="1350" dirty="0"/>
              <a:t> and </a:t>
            </a:r>
            <a:r>
              <a:rPr lang="en-US" sz="1350" i="1" dirty="0"/>
              <a:t>"Synchronized impactful synergy"</a:t>
            </a:r>
            <a:r>
              <a:rPr lang="en-US" sz="1350" dirty="0"/>
              <a:t>).</a:t>
            </a:r>
          </a:p>
        </p:txBody>
      </p:sp>
      <p:sp>
        <p:nvSpPr>
          <p:cNvPr id="7" name="TextBox 6">
            <a:extLst>
              <a:ext uri="{FF2B5EF4-FFF2-40B4-BE49-F238E27FC236}">
                <a16:creationId xmlns:a16="http://schemas.microsoft.com/office/drawing/2014/main" id="{86FF9D4B-635C-19FE-91F7-FFFB930E5BF2}"/>
              </a:ext>
            </a:extLst>
          </p:cNvPr>
          <p:cNvSpPr txBox="1"/>
          <p:nvPr/>
        </p:nvSpPr>
        <p:spPr>
          <a:xfrm>
            <a:off x="592183" y="1000872"/>
            <a:ext cx="3912761" cy="269304"/>
          </a:xfrm>
          <a:prstGeom prst="rect">
            <a:avLst/>
          </a:prstGeom>
          <a:noFill/>
        </p:spPr>
        <p:txBody>
          <a:bodyPr wrap="square" rtlCol="0">
            <a:spAutoFit/>
          </a:bodyPr>
          <a:lstStyle/>
          <a:p>
            <a:r>
              <a:rPr lang="en-US" sz="1150" b="1" dirty="0">
                <a:solidFill>
                  <a:srgbClr val="1B2A4A"/>
                </a:solidFill>
              </a:rPr>
              <a:t>WORKBENCH ANALYSIS COVERS</a:t>
            </a:r>
            <a:endParaRPr lang="en-IN" sz="1150" dirty="0">
              <a:solidFill>
                <a:srgbClr val="1B2A4A"/>
              </a:solidFill>
            </a:endParaRPr>
          </a:p>
        </p:txBody>
      </p:sp>
      <p:sp>
        <p:nvSpPr>
          <p:cNvPr id="8" name="TextBox 7">
            <a:extLst>
              <a:ext uri="{FF2B5EF4-FFF2-40B4-BE49-F238E27FC236}">
                <a16:creationId xmlns:a16="http://schemas.microsoft.com/office/drawing/2014/main" id="{6A228450-4D6A-5A59-082F-1E91E5986386}"/>
              </a:ext>
            </a:extLst>
          </p:cNvPr>
          <p:cNvSpPr txBox="1"/>
          <p:nvPr/>
        </p:nvSpPr>
        <p:spPr>
          <a:xfrm>
            <a:off x="512064" y="6559183"/>
            <a:ext cx="3814618" cy="369332"/>
          </a:xfrm>
          <a:prstGeom prst="rect">
            <a:avLst/>
          </a:prstGeom>
          <a:noFill/>
        </p:spPr>
        <p:txBody>
          <a:bodyPr wrap="square" rtlCol="0">
            <a:spAutoFit/>
          </a:bodyPr>
          <a:lstStyle/>
          <a:p>
            <a:r>
              <a:rPr lang="en-US" sz="900" dirty="0">
                <a:solidFill>
                  <a:srgbClr val="6B7280"/>
                </a:solidFill>
              </a:rPr>
              <a:t>BookVerse Retail  -  Business Intelligence &amp; Sales Analytics</a:t>
            </a:r>
            <a:endParaRPr lang="en-IN" sz="900" dirty="0">
              <a:solidFill>
                <a:srgbClr val="6B7280"/>
              </a:solidFill>
            </a:endParaRPr>
          </a:p>
          <a:p>
            <a:endParaRPr lang="en-IN" sz="900" dirty="0">
              <a:solidFill>
                <a:srgbClr val="6B7280"/>
              </a:solidFill>
            </a:endParaRPr>
          </a:p>
        </p:txBody>
      </p:sp>
      <p:sp>
        <p:nvSpPr>
          <p:cNvPr id="9" name="TextBox 8">
            <a:extLst>
              <a:ext uri="{FF2B5EF4-FFF2-40B4-BE49-F238E27FC236}">
                <a16:creationId xmlns:a16="http://schemas.microsoft.com/office/drawing/2014/main" id="{C17E4882-6D0C-66D0-8DA1-154EF14FDE8D}"/>
              </a:ext>
            </a:extLst>
          </p:cNvPr>
          <p:cNvSpPr txBox="1"/>
          <p:nvPr/>
        </p:nvSpPr>
        <p:spPr>
          <a:xfrm>
            <a:off x="11255063" y="6541897"/>
            <a:ext cx="849746" cy="230832"/>
          </a:xfrm>
          <a:prstGeom prst="rect">
            <a:avLst/>
          </a:prstGeom>
          <a:noFill/>
        </p:spPr>
        <p:txBody>
          <a:bodyPr wrap="square" rtlCol="0">
            <a:spAutoFit/>
          </a:bodyPr>
          <a:lstStyle/>
          <a:p>
            <a:r>
              <a:rPr lang="en-US" sz="900" dirty="0">
                <a:solidFill>
                  <a:srgbClr val="6B7280"/>
                </a:solidFill>
              </a:rPr>
              <a:t>16 / 19</a:t>
            </a:r>
            <a:endParaRPr lang="en-IN" sz="900" dirty="0">
              <a:solidFill>
                <a:srgbClr val="6B7280"/>
              </a:solidFill>
            </a:endParaRPr>
          </a:p>
        </p:txBody>
      </p:sp>
      <p:sp>
        <p:nvSpPr>
          <p:cNvPr id="11" name="TextBox 10">
            <a:extLst>
              <a:ext uri="{FF2B5EF4-FFF2-40B4-BE49-F238E27FC236}">
                <a16:creationId xmlns:a16="http://schemas.microsoft.com/office/drawing/2014/main" id="{F8218AD9-914D-6C7C-8F89-C3B5AF4CBE27}"/>
              </a:ext>
            </a:extLst>
          </p:cNvPr>
          <p:cNvSpPr txBox="1"/>
          <p:nvPr/>
        </p:nvSpPr>
        <p:spPr>
          <a:xfrm>
            <a:off x="594359" y="1411701"/>
            <a:ext cx="4077354" cy="253916"/>
          </a:xfrm>
          <a:prstGeom prst="rect">
            <a:avLst/>
          </a:prstGeom>
          <a:noFill/>
        </p:spPr>
        <p:txBody>
          <a:bodyPr wrap="square" rtlCol="0">
            <a:spAutoFit/>
          </a:bodyPr>
          <a:lstStyle/>
          <a:p>
            <a:r>
              <a:rPr lang="en-US" sz="1050" b="1" dirty="0">
                <a:solidFill>
                  <a:srgbClr val="D6A300"/>
                </a:solidFill>
              </a:rPr>
              <a:t>REPRESENTATIVE QUERY - NEVER PURCHASED BOOKS (DEAD STOCK)</a:t>
            </a:r>
            <a:endParaRPr lang="en-IN" sz="1050" dirty="0">
              <a:solidFill>
                <a:srgbClr val="D6A300"/>
              </a:solidFill>
            </a:endParaRPr>
          </a:p>
        </p:txBody>
      </p:sp>
    </p:spTree>
    <p:extLst>
      <p:ext uri="{BB962C8B-B14F-4D97-AF65-F5344CB8AC3E}">
        <p14:creationId xmlns:p14="http://schemas.microsoft.com/office/powerpoint/2010/main" val="4076016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0-#ppt_w/2"/>
                                          </p:val>
                                        </p:tav>
                                        <p:tav tm="100000">
                                          <p:val>
                                            <p:strVal val="#ppt_x"/>
                                          </p:val>
                                        </p:tav>
                                      </p:tavLst>
                                    </p:anim>
                                    <p:anim calcmode="lin" valueType="num">
                                      <p:cBhvr additive="base">
                                        <p:cTn id="8" dur="500" fill="hold"/>
                                        <p:tgtEl>
                                          <p:spTgt spid="30"/>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0-#ppt_w/2"/>
                                          </p:val>
                                        </p:tav>
                                        <p:tav tm="100000">
                                          <p:val>
                                            <p:strVal val="#ppt_x"/>
                                          </p:val>
                                        </p:tav>
                                      </p:tavLst>
                                    </p:anim>
                                    <p:anim calcmode="lin" valueType="num">
                                      <p:cBhvr additive="base">
                                        <p:cTn id="12" dur="500" fill="hold"/>
                                        <p:tgtEl>
                                          <p:spTgt spid="31"/>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additive="base">
                                        <p:cTn id="15" dur="500" fill="hold"/>
                                        <p:tgtEl>
                                          <p:spTgt spid="32"/>
                                        </p:tgtEl>
                                        <p:attrNameLst>
                                          <p:attrName>ppt_x</p:attrName>
                                        </p:attrNameLst>
                                      </p:cBhvr>
                                      <p:tavLst>
                                        <p:tav tm="0">
                                          <p:val>
                                            <p:strVal val="0-#ppt_w/2"/>
                                          </p:val>
                                        </p:tav>
                                        <p:tav tm="100000">
                                          <p:val>
                                            <p:strVal val="#ppt_x"/>
                                          </p:val>
                                        </p:tav>
                                      </p:tavLst>
                                    </p:anim>
                                    <p:anim calcmode="lin" valueType="num">
                                      <p:cBhvr additive="base">
                                        <p:cTn id="16" dur="500" fill="hold"/>
                                        <p:tgtEl>
                                          <p:spTgt spid="32"/>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0-#ppt_w/2"/>
                                          </p:val>
                                        </p:tav>
                                        <p:tav tm="100000">
                                          <p:val>
                                            <p:strVal val="#ppt_x"/>
                                          </p:val>
                                        </p:tav>
                                      </p:tavLst>
                                    </p:anim>
                                    <p:anim calcmode="lin" valueType="num">
                                      <p:cBhvr additive="base">
                                        <p:cTn id="20" dur="500" fill="hold"/>
                                        <p:tgtEl>
                                          <p:spTgt spid="33"/>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 calcmode="lin" valueType="num">
                                      <p:cBhvr additive="base">
                                        <p:cTn id="23" dur="500" fill="hold"/>
                                        <p:tgtEl>
                                          <p:spTgt spid="34"/>
                                        </p:tgtEl>
                                        <p:attrNameLst>
                                          <p:attrName>ppt_x</p:attrName>
                                        </p:attrNameLst>
                                      </p:cBhvr>
                                      <p:tavLst>
                                        <p:tav tm="0">
                                          <p:val>
                                            <p:strVal val="0-#ppt_w/2"/>
                                          </p:val>
                                        </p:tav>
                                        <p:tav tm="100000">
                                          <p:val>
                                            <p:strVal val="#ppt_x"/>
                                          </p:val>
                                        </p:tav>
                                      </p:tavLst>
                                    </p:anim>
                                    <p:anim calcmode="lin" valueType="num">
                                      <p:cBhvr additive="base">
                                        <p:cTn id="24"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0-#ppt_w/2"/>
                                          </p:val>
                                        </p:tav>
                                        <p:tav tm="100000">
                                          <p:val>
                                            <p:strVal val="#ppt_x"/>
                                          </p:val>
                                        </p:tav>
                                      </p:tavLst>
                                    </p:anim>
                                    <p:anim calcmode="lin" valueType="num">
                                      <p:cBhvr additive="base">
                                        <p:cTn id="35" dur="500" fill="hold"/>
                                        <p:tgtEl>
                                          <p:spTgt spid="2"/>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additive="base">
                                        <p:cTn id="38" dur="500" fill="hold"/>
                                        <p:tgtEl>
                                          <p:spTgt spid="3"/>
                                        </p:tgtEl>
                                        <p:attrNameLst>
                                          <p:attrName>ppt_x</p:attrName>
                                        </p:attrNameLst>
                                      </p:cBhvr>
                                      <p:tavLst>
                                        <p:tav tm="0">
                                          <p:val>
                                            <p:strVal val="0-#ppt_w/2"/>
                                          </p:val>
                                        </p:tav>
                                        <p:tav tm="100000">
                                          <p:val>
                                            <p:strVal val="#ppt_x"/>
                                          </p:val>
                                        </p:tav>
                                      </p:tavLst>
                                    </p:anim>
                                    <p:anim calcmode="lin" valueType="num">
                                      <p:cBhvr additive="base">
                                        <p:cTn id="3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additive="base">
                                        <p:cTn id="44" dur="500" fill="hold"/>
                                        <p:tgtEl>
                                          <p:spTgt spid="5"/>
                                        </p:tgtEl>
                                        <p:attrNameLst>
                                          <p:attrName>ppt_x</p:attrName>
                                        </p:attrNameLst>
                                      </p:cBhvr>
                                      <p:tavLst>
                                        <p:tav tm="0">
                                          <p:val>
                                            <p:strVal val="1+#ppt_w/2"/>
                                          </p:val>
                                        </p:tav>
                                        <p:tav tm="100000">
                                          <p:val>
                                            <p:strVal val="#ppt_x"/>
                                          </p:val>
                                        </p:tav>
                                      </p:tavLst>
                                    </p:anim>
                                    <p:anim calcmode="lin" valueType="num">
                                      <p:cBhvr additive="base">
                                        <p:cTn id="45"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fade">
                                      <p:cBhvr>
                                        <p:cTn id="50" dur="1000"/>
                                        <p:tgtEl>
                                          <p:spTgt spid="4"/>
                                        </p:tgtEl>
                                      </p:cBhvr>
                                    </p:animEffect>
                                    <p:anim calcmode="lin" valueType="num">
                                      <p:cBhvr>
                                        <p:cTn id="51" dur="1000" fill="hold"/>
                                        <p:tgtEl>
                                          <p:spTgt spid="4"/>
                                        </p:tgtEl>
                                        <p:attrNameLst>
                                          <p:attrName>ppt_x</p:attrName>
                                        </p:attrNameLst>
                                      </p:cBhvr>
                                      <p:tavLst>
                                        <p:tav tm="0">
                                          <p:val>
                                            <p:strVal val="#ppt_x"/>
                                          </p:val>
                                        </p:tav>
                                        <p:tav tm="100000">
                                          <p:val>
                                            <p:strVal val="#ppt_x"/>
                                          </p:val>
                                        </p:tav>
                                      </p:tavLst>
                                    </p:anim>
                                    <p:anim calcmode="lin" valueType="num">
                                      <p:cBhvr>
                                        <p:cTn id="52" dur="1000" fill="hold"/>
                                        <p:tgtEl>
                                          <p:spTgt spid="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1000"/>
                                        <p:tgtEl>
                                          <p:spTgt spid="6"/>
                                        </p:tgtEl>
                                      </p:cBhvr>
                                    </p:animEffect>
                                    <p:anim calcmode="lin" valueType="num">
                                      <p:cBhvr>
                                        <p:cTn id="56" dur="1000" fill="hold"/>
                                        <p:tgtEl>
                                          <p:spTgt spid="6"/>
                                        </p:tgtEl>
                                        <p:attrNameLst>
                                          <p:attrName>ppt_x</p:attrName>
                                        </p:attrNameLst>
                                      </p:cBhvr>
                                      <p:tavLst>
                                        <p:tav tm="0">
                                          <p:val>
                                            <p:strVal val="#ppt_x"/>
                                          </p:val>
                                        </p:tav>
                                        <p:tav tm="100000">
                                          <p:val>
                                            <p:strVal val="#ppt_x"/>
                                          </p:val>
                                        </p:tav>
                                      </p:tavLst>
                                    </p:anim>
                                    <p:anim calcmode="lin" valueType="num">
                                      <p:cBhvr>
                                        <p:cTn id="5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3" grpId="0" animBg="1"/>
      <p:bldP spid="34" grpId="0" animBg="1"/>
      <p:bldP spid="2" grpId="0" animBg="1"/>
      <p:bldP spid="3" grpId="0"/>
      <p:bldP spid="4" grpId="0" animBg="1"/>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INSIGHTS &amp; RECOMMENDATIONS</a:t>
            </a:r>
            <a:endParaRPr lang="en-US" sz="1200" dirty="0"/>
          </a:p>
        </p:txBody>
      </p:sp>
      <p:sp>
        <p:nvSpPr>
          <p:cNvPr id="3" name="Text 1"/>
          <p:cNvSpPr txBox="1"/>
          <p:nvPr/>
        </p:nvSpPr>
        <p:spPr>
          <a:xfrm>
            <a:off x="457200" y="621792"/>
            <a:ext cx="11277295" cy="548640"/>
          </a:xfrm>
          <a:prstGeom prst="rect">
            <a:avLst/>
          </a:prstGeom>
          <a:noFill/>
          <a:ln/>
        </p:spPr>
        <p:txBody>
          <a:bodyPr wrap="square" rtlCol="0" anchor="ctr"/>
          <a:lstStyle/>
          <a:p>
            <a:pPr marL="0" indent="0">
              <a:buNone/>
            </a:pPr>
            <a:r>
              <a:rPr lang="en-US" sz="2900" b="1" dirty="0">
                <a:solidFill>
                  <a:srgbClr val="1B2A4A"/>
                </a:solidFill>
                <a:latin typeface="Cambria" pitchFamily="34" charset="0"/>
                <a:ea typeface="Cambria" pitchFamily="34" charset="-122"/>
                <a:cs typeface="Cambria" pitchFamily="34" charset="-120"/>
              </a:rPr>
              <a:t>Business Insights &amp; Recommendations</a:t>
            </a:r>
            <a:endParaRPr lang="en-US" sz="2900" dirty="0"/>
          </a:p>
        </p:txBody>
      </p:sp>
      <p:sp>
        <p:nvSpPr>
          <p:cNvPr id="4" name="Shape 2"/>
          <p:cNvSpPr/>
          <p:nvPr/>
        </p:nvSpPr>
        <p:spPr>
          <a:xfrm>
            <a:off x="457200" y="1417320"/>
            <a:ext cx="5410048" cy="3977640"/>
          </a:xfrm>
          <a:prstGeom prst="roundRect">
            <a:avLst>
              <a:gd name="adj" fmla="val 1839"/>
            </a:avLst>
          </a:prstGeom>
          <a:solidFill>
            <a:srgbClr val="F7EFD9"/>
          </a:solidFill>
          <a:ln>
            <a:solidFill>
              <a:srgbClr val="1B2A4A"/>
            </a:solidFill>
            <a:prstDash val="lgDash"/>
          </a:ln>
          <a:effectLst>
            <a:outerShdw blurRad="50800" dist="38100" dir="8100000" algn="tr" rotWithShape="0">
              <a:prstClr val="black">
                <a:alpha val="40000"/>
              </a:prstClr>
            </a:outerShdw>
          </a:effectLst>
        </p:spPr>
        <p:txBody>
          <a:bodyPr/>
          <a:lstStyle/>
          <a:p>
            <a:endParaRPr lang="en-IN"/>
          </a:p>
        </p:txBody>
      </p:sp>
      <p:sp>
        <p:nvSpPr>
          <p:cNvPr id="5" name="Shape 3"/>
          <p:cNvSpPr/>
          <p:nvPr/>
        </p:nvSpPr>
        <p:spPr>
          <a:xfrm>
            <a:off x="676656" y="1636776"/>
            <a:ext cx="420624" cy="420624"/>
          </a:xfrm>
          <a:prstGeom prst="ellipse">
            <a:avLst/>
          </a:prstGeom>
          <a:solidFill>
            <a:srgbClr val="1B2A4A"/>
          </a:solidFill>
          <a:ln/>
        </p:spPr>
        <p:txBody>
          <a:bodyPr/>
          <a:lstStyle/>
          <a:p>
            <a:endParaRPr lang="en-IN"/>
          </a:p>
        </p:txBody>
      </p:sp>
      <p:pic>
        <p:nvPicPr>
          <p:cNvPr id="6" name="Image 0" descr="/home/claude/bookverse/icons/insight.png"/>
          <p:cNvPicPr>
            <a:picLocks noChangeAspect="1"/>
          </p:cNvPicPr>
          <p:nvPr/>
        </p:nvPicPr>
        <p:blipFill>
          <a:blip r:embed="rId3"/>
          <a:stretch>
            <a:fillRect/>
          </a:stretch>
        </p:blipFill>
        <p:spPr>
          <a:xfrm>
            <a:off x="739750" y="1699870"/>
            <a:ext cx="294437" cy="294437"/>
          </a:xfrm>
          <a:prstGeom prst="rect">
            <a:avLst/>
          </a:prstGeom>
        </p:spPr>
      </p:pic>
      <p:sp>
        <p:nvSpPr>
          <p:cNvPr id="7" name="Text 4"/>
          <p:cNvSpPr txBox="1"/>
          <p:nvPr/>
        </p:nvSpPr>
        <p:spPr>
          <a:xfrm>
            <a:off x="1243584" y="1636776"/>
            <a:ext cx="4495648" cy="420624"/>
          </a:xfrm>
          <a:prstGeom prst="rect">
            <a:avLst/>
          </a:prstGeom>
          <a:noFill/>
          <a:ln/>
        </p:spPr>
        <p:txBody>
          <a:bodyPr wrap="square" rtlCol="0" anchor="ctr"/>
          <a:lstStyle/>
          <a:p>
            <a:pPr marL="0" indent="0">
              <a:buNone/>
            </a:pPr>
            <a:r>
              <a:rPr lang="en-US" sz="1400" b="1" kern="0" spc="100" dirty="0">
                <a:solidFill>
                  <a:srgbClr val="1B2A4A"/>
                </a:solidFill>
                <a:latin typeface="Calibri" pitchFamily="34" charset="0"/>
                <a:ea typeface="Calibri" pitchFamily="34" charset="-122"/>
                <a:cs typeface="Calibri" pitchFamily="34" charset="-120"/>
              </a:rPr>
              <a:t>INSIGHTS</a:t>
            </a:r>
            <a:endParaRPr lang="en-US" sz="1400" dirty="0"/>
          </a:p>
        </p:txBody>
      </p:sp>
      <p:sp>
        <p:nvSpPr>
          <p:cNvPr id="8" name="Text 5"/>
          <p:cNvSpPr txBox="1"/>
          <p:nvPr/>
        </p:nvSpPr>
        <p:spPr>
          <a:xfrm>
            <a:off x="739750" y="2405787"/>
            <a:ext cx="4999482" cy="2743200"/>
          </a:xfrm>
          <a:prstGeom prst="rect">
            <a:avLst/>
          </a:prstGeom>
          <a:noFill/>
          <a:ln/>
        </p:spPr>
        <p:txBody>
          <a:bodyPr wrap="square" rtlCol="0" anchor="t"/>
          <a:lstStyle/>
          <a:p>
            <a:pPr marL="177800" indent="-177800" algn="just">
              <a:lnSpc>
                <a:spcPct val="115000"/>
              </a:lnSpc>
              <a:spcAft>
                <a:spcPts val="1000"/>
              </a:spcAft>
              <a:buSzPct val="100000"/>
              <a:buChar char="•"/>
            </a:pPr>
            <a:r>
              <a:rPr lang="en-US" sz="1350" dirty="0">
                <a:solidFill>
                  <a:srgbClr val="1B2A4A"/>
                </a:solidFill>
                <a:latin typeface="Calibri" pitchFamily="34" charset="0"/>
                <a:ea typeface="Calibri" pitchFamily="34" charset="-122"/>
                <a:cs typeface="Calibri" pitchFamily="34" charset="-120"/>
              </a:rPr>
              <a:t>Highest Revenue by Gener i.e</a:t>
            </a:r>
            <a:r>
              <a:rPr lang="en-US" sz="1350" b="1" dirty="0">
                <a:solidFill>
                  <a:srgbClr val="1B2A4A"/>
                </a:solidFill>
                <a:latin typeface="Cambria" panose="02040503050406030204" pitchFamily="18" charset="0"/>
                <a:ea typeface="Cambria" panose="02040503050406030204" pitchFamily="18" charset="0"/>
                <a:cs typeface="Calibri" pitchFamily="34" charset="-120"/>
              </a:rPr>
              <a:t>. Romance</a:t>
            </a:r>
            <a:r>
              <a:rPr lang="en-US" sz="1350" dirty="0">
                <a:solidFill>
                  <a:srgbClr val="1B2A4A"/>
                </a:solidFill>
                <a:latin typeface="Cambria" panose="02040503050406030204" pitchFamily="18" charset="0"/>
                <a:ea typeface="Cambria" panose="02040503050406030204" pitchFamily="18" charset="0"/>
                <a:cs typeface="Calibri" pitchFamily="34" charset="-120"/>
              </a:rPr>
              <a:t> - </a:t>
            </a:r>
            <a:r>
              <a:rPr lang="en-US" sz="1350" b="1" dirty="0">
                <a:solidFill>
                  <a:srgbClr val="1B2A4A"/>
                </a:solidFill>
                <a:latin typeface="Cambria" panose="02040503050406030204" pitchFamily="18" charset="0"/>
                <a:ea typeface="Cambria" panose="02040503050406030204" pitchFamily="18" charset="0"/>
                <a:cs typeface="Calibri" pitchFamily="34" charset="-120"/>
              </a:rPr>
              <a:t>$12907.58</a:t>
            </a:r>
            <a:endParaRPr lang="en-US" sz="1350" b="1" dirty="0">
              <a:latin typeface="Cambria" panose="02040503050406030204" pitchFamily="18" charset="0"/>
              <a:ea typeface="Cambria" panose="02040503050406030204" pitchFamily="18" charset="0"/>
            </a:endParaRPr>
          </a:p>
          <a:p>
            <a:pPr marL="177800" indent="-177800" algn="just">
              <a:lnSpc>
                <a:spcPct val="115000"/>
              </a:lnSpc>
              <a:spcAft>
                <a:spcPts val="1000"/>
              </a:spcAft>
              <a:buSzPct val="100000"/>
              <a:buChar char="•"/>
            </a:pPr>
            <a:r>
              <a:rPr lang="en-US" sz="1350" dirty="0">
                <a:solidFill>
                  <a:srgbClr val="1B2A4A"/>
                </a:solidFill>
                <a:latin typeface="Calibri" pitchFamily="34" charset="0"/>
                <a:ea typeface="Calibri" pitchFamily="34" charset="-122"/>
                <a:cs typeface="Calibri" pitchFamily="34" charset="-120"/>
              </a:rPr>
              <a:t>Top-selling book - </a:t>
            </a:r>
            <a:r>
              <a:rPr lang="en-US" sz="1350" b="1" dirty="0">
                <a:solidFill>
                  <a:srgbClr val="1B2A4A"/>
                </a:solidFill>
                <a:latin typeface="Cambria" panose="02040503050406030204" pitchFamily="18" charset="0"/>
                <a:ea typeface="Cambria" panose="02040503050406030204" pitchFamily="18" charset="0"/>
                <a:cs typeface="Calibri" pitchFamily="34" charset="-120"/>
              </a:rPr>
              <a:t>Realigned multi-tasking installation </a:t>
            </a:r>
            <a:r>
              <a:rPr lang="en-US" sz="1350" dirty="0">
                <a:solidFill>
                  <a:srgbClr val="1B2A4A"/>
                </a:solidFill>
                <a:latin typeface="Cambria" panose="02040503050406030204" pitchFamily="18" charset="0"/>
                <a:ea typeface="Cambria" panose="02040503050406030204" pitchFamily="18" charset="0"/>
                <a:cs typeface="Calibri" pitchFamily="34" charset="-120"/>
              </a:rPr>
              <a:t>(</a:t>
            </a:r>
            <a:r>
              <a:rPr lang="en-US" sz="1350" b="1" dirty="0">
                <a:solidFill>
                  <a:srgbClr val="1B2A4A"/>
                </a:solidFill>
                <a:latin typeface="Cambria" panose="02040503050406030204" pitchFamily="18" charset="0"/>
                <a:ea typeface="Cambria" panose="02040503050406030204" pitchFamily="18" charset="0"/>
                <a:cs typeface="Calibri" pitchFamily="34" charset="-120"/>
              </a:rPr>
              <a:t>28</a:t>
            </a:r>
            <a:r>
              <a:rPr lang="en-US" sz="1350" dirty="0">
                <a:solidFill>
                  <a:srgbClr val="1B2A4A"/>
                </a:solidFill>
                <a:latin typeface="Cambria" panose="02040503050406030204" pitchFamily="18" charset="0"/>
                <a:ea typeface="Cambria" panose="02040503050406030204" pitchFamily="18" charset="0"/>
                <a:cs typeface="Calibri" pitchFamily="34" charset="-120"/>
              </a:rPr>
              <a:t>)</a:t>
            </a:r>
          </a:p>
          <a:p>
            <a:pPr marL="177800" indent="-177800" algn="just">
              <a:lnSpc>
                <a:spcPct val="115000"/>
              </a:lnSpc>
              <a:spcAft>
                <a:spcPts val="1000"/>
              </a:spcAft>
              <a:buSzPct val="100000"/>
              <a:buChar char="•"/>
            </a:pPr>
            <a:r>
              <a:rPr lang="en-US" sz="1350" dirty="0">
                <a:solidFill>
                  <a:srgbClr val="1B2A4A"/>
                </a:solidFill>
                <a:latin typeface="Calibri" pitchFamily="34" charset="0"/>
                <a:ea typeface="Calibri" pitchFamily="34" charset="-122"/>
                <a:cs typeface="Calibri" pitchFamily="34" charset="-120"/>
              </a:rPr>
              <a:t>Highest-spending customer - </a:t>
            </a:r>
            <a:r>
              <a:rPr lang="en-US" sz="1350" b="1" dirty="0">
                <a:solidFill>
                  <a:srgbClr val="1B2A4A"/>
                </a:solidFill>
                <a:latin typeface="Cambria" panose="02040503050406030204" pitchFamily="18" charset="0"/>
                <a:ea typeface="Cambria" panose="02040503050406030204" pitchFamily="18" charset="0"/>
                <a:cs typeface="Calibri" pitchFamily="34" charset="-120"/>
              </a:rPr>
              <a:t>Kim Turner</a:t>
            </a:r>
            <a:r>
              <a:rPr lang="en-US" sz="1350" dirty="0">
                <a:solidFill>
                  <a:srgbClr val="1B2A4A"/>
                </a:solidFill>
                <a:latin typeface="Cambria" panose="02040503050406030204" pitchFamily="18" charset="0"/>
                <a:ea typeface="Cambria" panose="02040503050406030204" pitchFamily="18" charset="0"/>
                <a:cs typeface="Calibri" pitchFamily="34" charset="-120"/>
              </a:rPr>
              <a:t> (</a:t>
            </a:r>
            <a:r>
              <a:rPr lang="en-US" sz="1350" b="1" dirty="0">
                <a:solidFill>
                  <a:srgbClr val="1B2A4A"/>
                </a:solidFill>
                <a:latin typeface="Cambria" panose="02040503050406030204" pitchFamily="18" charset="0"/>
                <a:ea typeface="Cambria" panose="02040503050406030204" pitchFamily="18" charset="0"/>
                <a:cs typeface="Calibri" pitchFamily="34" charset="-120"/>
              </a:rPr>
              <a:t>$1398.90</a:t>
            </a:r>
            <a:r>
              <a:rPr lang="en-US" sz="1350" dirty="0">
                <a:solidFill>
                  <a:srgbClr val="1B2A4A"/>
                </a:solidFill>
                <a:latin typeface="Cambria" panose="02040503050406030204" pitchFamily="18" charset="0"/>
                <a:ea typeface="Cambria" panose="02040503050406030204" pitchFamily="18" charset="0"/>
                <a:cs typeface="Calibri" pitchFamily="34" charset="-120"/>
              </a:rPr>
              <a:t>)</a:t>
            </a:r>
          </a:p>
          <a:p>
            <a:pPr marL="177800" indent="-177800" algn="just">
              <a:lnSpc>
                <a:spcPct val="115000"/>
              </a:lnSpc>
              <a:spcAft>
                <a:spcPts val="1000"/>
              </a:spcAft>
              <a:buSzPct val="100000"/>
              <a:buChar char="•"/>
            </a:pPr>
            <a:r>
              <a:rPr lang="en-US" sz="1350" dirty="0">
                <a:solidFill>
                  <a:srgbClr val="1B2A4A"/>
                </a:solidFill>
                <a:latin typeface="Calibri" pitchFamily="34" charset="0"/>
                <a:ea typeface="Calibri" pitchFamily="34" charset="-122"/>
                <a:cs typeface="Calibri" pitchFamily="34" charset="-120"/>
              </a:rPr>
              <a:t>Country with highest revenue - </a:t>
            </a:r>
            <a:r>
              <a:rPr lang="en-US" sz="1350" b="1" dirty="0">
                <a:solidFill>
                  <a:srgbClr val="1B2A4A"/>
                </a:solidFill>
                <a:latin typeface="Cambria" panose="02040503050406030204" pitchFamily="18" charset="0"/>
                <a:ea typeface="Cambria" panose="02040503050406030204" pitchFamily="18" charset="0"/>
                <a:cs typeface="Calibri" pitchFamily="34" charset="-120"/>
              </a:rPr>
              <a:t>Cambodia</a:t>
            </a:r>
            <a:r>
              <a:rPr lang="en-US" sz="1350" dirty="0">
                <a:solidFill>
                  <a:srgbClr val="1B2A4A"/>
                </a:solidFill>
                <a:latin typeface="Cambria" panose="02040503050406030204" pitchFamily="18" charset="0"/>
                <a:ea typeface="Cambria" panose="02040503050406030204" pitchFamily="18" charset="0"/>
                <a:cs typeface="Calibri" pitchFamily="34" charset="-120"/>
              </a:rPr>
              <a:t> (</a:t>
            </a:r>
            <a:r>
              <a:rPr lang="en-US" sz="1350" b="1" dirty="0">
                <a:solidFill>
                  <a:srgbClr val="1B2A4A"/>
                </a:solidFill>
                <a:latin typeface="Cambria" panose="02040503050406030204" pitchFamily="18" charset="0"/>
                <a:ea typeface="Cambria" panose="02040503050406030204" pitchFamily="18" charset="0"/>
                <a:cs typeface="Calibri" pitchFamily="34" charset="-120"/>
              </a:rPr>
              <a:t>$1398.90</a:t>
            </a:r>
            <a:r>
              <a:rPr lang="en-US" sz="1350" dirty="0">
                <a:solidFill>
                  <a:srgbClr val="1B2A4A"/>
                </a:solidFill>
                <a:latin typeface="Cambria" panose="02040503050406030204" pitchFamily="18" charset="0"/>
                <a:ea typeface="Cambria" panose="02040503050406030204" pitchFamily="18" charset="0"/>
                <a:cs typeface="Calibri" pitchFamily="34" charset="-120"/>
              </a:rPr>
              <a:t>)</a:t>
            </a:r>
            <a:endParaRPr lang="en-US" sz="1350" dirty="0">
              <a:latin typeface="Cambria" panose="02040503050406030204" pitchFamily="18" charset="0"/>
              <a:ea typeface="Cambria" panose="02040503050406030204" pitchFamily="18" charset="0"/>
            </a:endParaRPr>
          </a:p>
          <a:p>
            <a:pPr marL="177800" indent="-177800" algn="just">
              <a:lnSpc>
                <a:spcPct val="115000"/>
              </a:lnSpc>
              <a:spcAft>
                <a:spcPts val="1000"/>
              </a:spcAft>
              <a:buSzPct val="100000"/>
              <a:buChar char="•"/>
            </a:pPr>
            <a:r>
              <a:rPr lang="en-US" sz="1350" dirty="0">
                <a:solidFill>
                  <a:srgbClr val="1B2A4A"/>
                </a:solidFill>
                <a:latin typeface="Calibri" pitchFamily="34" charset="0"/>
                <a:ea typeface="Calibri" pitchFamily="34" charset="-122"/>
                <a:cs typeface="Calibri" pitchFamily="34" charset="-120"/>
              </a:rPr>
              <a:t>Number of repeat customers - </a:t>
            </a:r>
            <a:r>
              <a:rPr lang="en-US" sz="1350" b="1" dirty="0">
                <a:solidFill>
                  <a:srgbClr val="1B2A4A"/>
                </a:solidFill>
                <a:latin typeface="Cambria" panose="02040503050406030204" pitchFamily="18" charset="0"/>
                <a:ea typeface="Cambria" panose="02040503050406030204" pitchFamily="18" charset="0"/>
                <a:cs typeface="Calibri" pitchFamily="34" charset="-120"/>
              </a:rPr>
              <a:t>138</a:t>
            </a:r>
            <a:endParaRPr lang="en-US" sz="1350" b="1" dirty="0">
              <a:latin typeface="Cambria" panose="02040503050406030204" pitchFamily="18" charset="0"/>
              <a:ea typeface="Cambria" panose="02040503050406030204" pitchFamily="18" charset="0"/>
            </a:endParaRPr>
          </a:p>
          <a:p>
            <a:pPr marL="177800" indent="-177800" algn="just">
              <a:lnSpc>
                <a:spcPct val="115000"/>
              </a:lnSpc>
              <a:spcAft>
                <a:spcPts val="1000"/>
              </a:spcAft>
              <a:buSzPct val="100000"/>
              <a:buChar char="•"/>
            </a:pPr>
            <a:r>
              <a:rPr lang="en-US" sz="1350" dirty="0">
                <a:solidFill>
                  <a:srgbClr val="1B2A4A"/>
                </a:solidFill>
                <a:latin typeface="Calibri" pitchFamily="34" charset="0"/>
                <a:ea typeface="Calibri" pitchFamily="34" charset="-122"/>
                <a:cs typeface="Calibri" pitchFamily="34" charset="-120"/>
              </a:rPr>
              <a:t>Number of never-ordered books - </a:t>
            </a:r>
            <a:r>
              <a:rPr lang="en-US" sz="1350" b="1" dirty="0">
                <a:solidFill>
                  <a:srgbClr val="1B2A4A"/>
                </a:solidFill>
                <a:latin typeface="Cambria" panose="02040503050406030204" pitchFamily="18" charset="0"/>
                <a:ea typeface="Cambria" panose="02040503050406030204" pitchFamily="18" charset="0"/>
                <a:cs typeface="Calibri" pitchFamily="34" charset="-120"/>
              </a:rPr>
              <a:t>182</a:t>
            </a:r>
            <a:endParaRPr lang="en-US" sz="1350" b="1" dirty="0">
              <a:latin typeface="Cambria" panose="02040503050406030204" pitchFamily="18" charset="0"/>
              <a:ea typeface="Cambria" panose="02040503050406030204" pitchFamily="18" charset="0"/>
            </a:endParaRPr>
          </a:p>
          <a:p>
            <a:pPr marL="177800" indent="-177800" algn="just">
              <a:lnSpc>
                <a:spcPct val="115000"/>
              </a:lnSpc>
              <a:spcAft>
                <a:spcPts val="1000"/>
              </a:spcAft>
              <a:buSzPct val="100000"/>
              <a:buChar char="•"/>
            </a:pPr>
            <a:r>
              <a:rPr lang="en-US" sz="1350" dirty="0">
                <a:solidFill>
                  <a:srgbClr val="1B2A4A"/>
                </a:solidFill>
                <a:latin typeface="Calibri" pitchFamily="34" charset="0"/>
                <a:ea typeface="Calibri" pitchFamily="34" charset="-122"/>
                <a:cs typeface="Calibri" pitchFamily="34" charset="-120"/>
              </a:rPr>
              <a:t>Number of high-demand / low-stock books - </a:t>
            </a:r>
            <a:r>
              <a:rPr lang="en-US" sz="1350" b="1" dirty="0">
                <a:solidFill>
                  <a:srgbClr val="1B2A4A"/>
                </a:solidFill>
                <a:latin typeface="Cambria" panose="02040503050406030204" pitchFamily="18" charset="0"/>
                <a:ea typeface="Cambria" panose="02040503050406030204" pitchFamily="18" charset="0"/>
                <a:cs typeface="Calibri" pitchFamily="34" charset="-120"/>
              </a:rPr>
              <a:t>25</a:t>
            </a:r>
            <a:endParaRPr lang="en-US" sz="1350" b="1" dirty="0">
              <a:latin typeface="Cambria" panose="02040503050406030204" pitchFamily="18" charset="0"/>
              <a:ea typeface="Cambria" panose="02040503050406030204" pitchFamily="18" charset="0"/>
            </a:endParaRPr>
          </a:p>
        </p:txBody>
      </p:sp>
      <p:sp>
        <p:nvSpPr>
          <p:cNvPr id="9" name="Shape 6"/>
          <p:cNvSpPr/>
          <p:nvPr/>
        </p:nvSpPr>
        <p:spPr>
          <a:xfrm>
            <a:off x="6324448" y="1417320"/>
            <a:ext cx="5410048" cy="3977640"/>
          </a:xfrm>
          <a:prstGeom prst="roundRect">
            <a:avLst>
              <a:gd name="adj" fmla="val 1839"/>
            </a:avLst>
          </a:prstGeom>
          <a:solidFill>
            <a:srgbClr val="1B2A4A"/>
          </a:solidFill>
          <a:ln>
            <a:solidFill>
              <a:srgbClr val="E8D48A"/>
            </a:solidFill>
            <a:prstDash val="lgDash"/>
          </a:ln>
          <a:effectLst>
            <a:outerShdw blurRad="50800" dist="38100" dir="2700000" algn="tl" rotWithShape="0">
              <a:prstClr val="black">
                <a:alpha val="40000"/>
              </a:prstClr>
            </a:outerShdw>
          </a:effectLst>
        </p:spPr>
        <p:txBody>
          <a:bodyPr/>
          <a:lstStyle/>
          <a:p>
            <a:endParaRPr lang="en-IN"/>
          </a:p>
        </p:txBody>
      </p:sp>
      <p:sp>
        <p:nvSpPr>
          <p:cNvPr id="10" name="Shape 7"/>
          <p:cNvSpPr/>
          <p:nvPr/>
        </p:nvSpPr>
        <p:spPr>
          <a:xfrm>
            <a:off x="6543904" y="1636776"/>
            <a:ext cx="420624" cy="420624"/>
          </a:xfrm>
          <a:prstGeom prst="ellipse">
            <a:avLst/>
          </a:prstGeom>
          <a:solidFill>
            <a:srgbClr val="C9A227"/>
          </a:solidFill>
          <a:ln/>
        </p:spPr>
        <p:txBody>
          <a:bodyPr/>
          <a:lstStyle/>
          <a:p>
            <a:endParaRPr lang="en-IN"/>
          </a:p>
        </p:txBody>
      </p:sp>
      <p:pic>
        <p:nvPicPr>
          <p:cNvPr id="11" name="Image 1" descr="/home/claude/bookverse/icons/target.png"/>
          <p:cNvPicPr>
            <a:picLocks noChangeAspect="1"/>
          </p:cNvPicPr>
          <p:nvPr/>
        </p:nvPicPr>
        <p:blipFill>
          <a:blip r:embed="rId4"/>
          <a:stretch>
            <a:fillRect/>
          </a:stretch>
        </p:blipFill>
        <p:spPr>
          <a:xfrm>
            <a:off x="6606997" y="1699870"/>
            <a:ext cx="294437" cy="294437"/>
          </a:xfrm>
          <a:prstGeom prst="rect">
            <a:avLst/>
          </a:prstGeom>
        </p:spPr>
      </p:pic>
      <p:sp>
        <p:nvSpPr>
          <p:cNvPr id="12" name="Text 8"/>
          <p:cNvSpPr txBox="1"/>
          <p:nvPr/>
        </p:nvSpPr>
        <p:spPr>
          <a:xfrm>
            <a:off x="7110832" y="1636776"/>
            <a:ext cx="4495648" cy="420624"/>
          </a:xfrm>
          <a:prstGeom prst="rect">
            <a:avLst/>
          </a:prstGeom>
          <a:noFill/>
          <a:ln/>
        </p:spPr>
        <p:txBody>
          <a:bodyPr wrap="square" rtlCol="0" anchor="ctr"/>
          <a:lstStyle/>
          <a:p>
            <a:pPr marL="0" indent="0">
              <a:buNone/>
            </a:pPr>
            <a:r>
              <a:rPr lang="en-US" sz="1400" b="1" kern="0" spc="100" dirty="0">
                <a:solidFill>
                  <a:srgbClr val="FFFFFF"/>
                </a:solidFill>
                <a:latin typeface="Calibri" pitchFamily="34" charset="0"/>
                <a:ea typeface="Calibri" pitchFamily="34" charset="-122"/>
                <a:cs typeface="Calibri" pitchFamily="34" charset="-120"/>
              </a:rPr>
              <a:t>RECOMMENDATIONS</a:t>
            </a:r>
            <a:endParaRPr lang="en-US" sz="1400" dirty="0"/>
          </a:p>
        </p:txBody>
      </p:sp>
      <p:sp>
        <p:nvSpPr>
          <p:cNvPr id="13" name="Text 9"/>
          <p:cNvSpPr txBox="1"/>
          <p:nvPr/>
        </p:nvSpPr>
        <p:spPr>
          <a:xfrm>
            <a:off x="6606997" y="2359587"/>
            <a:ext cx="4861408" cy="2170468"/>
          </a:xfrm>
          <a:prstGeom prst="rect">
            <a:avLst/>
          </a:prstGeom>
          <a:noFill/>
          <a:ln/>
        </p:spPr>
        <p:txBody>
          <a:bodyPr wrap="square" rtlCol="0" anchor="t"/>
          <a:lstStyle/>
          <a:p>
            <a:pPr marL="0" indent="0" algn="just">
              <a:lnSpc>
                <a:spcPct val="115000"/>
              </a:lnSpc>
              <a:buNone/>
            </a:pPr>
            <a:r>
              <a:rPr lang="en-US" sz="1400" b="1" dirty="0">
                <a:solidFill>
                  <a:srgbClr val="E8D48A"/>
                </a:solidFill>
                <a:latin typeface="Calibri" pitchFamily="34" charset="0"/>
                <a:ea typeface="Calibri" pitchFamily="34" charset="-122"/>
                <a:cs typeface="Calibri" pitchFamily="34" charset="-120"/>
              </a:rPr>
              <a:t>1.  </a:t>
            </a:r>
            <a:r>
              <a:rPr lang="en-US" sz="1400" dirty="0">
                <a:solidFill>
                  <a:srgbClr val="FFFFFF"/>
                </a:solidFill>
                <a:latin typeface="Calibri" pitchFamily="34" charset="0"/>
                <a:ea typeface="Calibri" pitchFamily="34" charset="-122"/>
                <a:cs typeface="Calibri" pitchFamily="34" charset="-120"/>
              </a:rPr>
              <a:t>Replenish high-demand books with low stock.</a:t>
            </a:r>
            <a:endParaRPr lang="en-US" sz="1400" dirty="0"/>
          </a:p>
          <a:p>
            <a:pPr marL="0" indent="0" algn="just">
              <a:lnSpc>
                <a:spcPct val="115000"/>
              </a:lnSpc>
              <a:buNone/>
            </a:pPr>
            <a:r>
              <a:rPr lang="en-US" sz="1400" b="1" dirty="0">
                <a:solidFill>
                  <a:srgbClr val="E8D48A"/>
                </a:solidFill>
                <a:latin typeface="Calibri" pitchFamily="34" charset="0"/>
                <a:ea typeface="Calibri" pitchFamily="34" charset="-122"/>
                <a:cs typeface="Calibri" pitchFamily="34" charset="-120"/>
              </a:rPr>
              <a:t>2.  </a:t>
            </a:r>
            <a:r>
              <a:rPr lang="en-US" sz="1400" dirty="0">
                <a:solidFill>
                  <a:srgbClr val="FFFFFF"/>
                </a:solidFill>
                <a:latin typeface="Calibri" pitchFamily="34" charset="0"/>
                <a:ea typeface="Calibri" pitchFamily="34" charset="-122"/>
                <a:cs typeface="Calibri" pitchFamily="34" charset="-120"/>
              </a:rPr>
              <a:t>Promote books with high stock and low sales.</a:t>
            </a:r>
            <a:endParaRPr lang="en-US" sz="1400" dirty="0"/>
          </a:p>
          <a:p>
            <a:pPr marL="0" indent="0" algn="just">
              <a:lnSpc>
                <a:spcPct val="115000"/>
              </a:lnSpc>
              <a:buNone/>
            </a:pPr>
            <a:r>
              <a:rPr lang="en-US" sz="1400" b="1" dirty="0">
                <a:solidFill>
                  <a:srgbClr val="E8D48A"/>
                </a:solidFill>
                <a:latin typeface="Calibri" pitchFamily="34" charset="0"/>
                <a:ea typeface="Calibri" pitchFamily="34" charset="-122"/>
                <a:cs typeface="Calibri" pitchFamily="34" charset="-120"/>
              </a:rPr>
              <a:t>3.  </a:t>
            </a:r>
            <a:r>
              <a:rPr lang="en-US" sz="1400" dirty="0">
                <a:solidFill>
                  <a:srgbClr val="FFFFFF"/>
                </a:solidFill>
                <a:latin typeface="Calibri" pitchFamily="34" charset="0"/>
                <a:ea typeface="Calibri" pitchFamily="34" charset="-122"/>
                <a:cs typeface="Calibri" pitchFamily="34" charset="-120"/>
              </a:rPr>
              <a:t>Review books that have never been ordered.</a:t>
            </a:r>
            <a:endParaRPr lang="en-US" sz="1400" dirty="0"/>
          </a:p>
          <a:p>
            <a:pPr marL="0" indent="0" algn="just">
              <a:lnSpc>
                <a:spcPct val="115000"/>
              </a:lnSpc>
              <a:buNone/>
            </a:pPr>
            <a:r>
              <a:rPr lang="en-US" sz="1400" b="1" dirty="0">
                <a:solidFill>
                  <a:srgbClr val="E8D48A"/>
                </a:solidFill>
                <a:latin typeface="Calibri" pitchFamily="34" charset="0"/>
                <a:ea typeface="Calibri" pitchFamily="34" charset="-122"/>
                <a:cs typeface="Calibri" pitchFamily="34" charset="-120"/>
              </a:rPr>
              <a:t>4.  </a:t>
            </a:r>
            <a:r>
              <a:rPr lang="en-US" sz="1400" dirty="0">
                <a:solidFill>
                  <a:srgbClr val="FFFFFF"/>
                </a:solidFill>
                <a:latin typeface="Calibri" pitchFamily="34" charset="0"/>
                <a:ea typeface="Calibri" pitchFamily="34" charset="-122"/>
                <a:cs typeface="Calibri" pitchFamily="34" charset="-120"/>
              </a:rPr>
              <a:t>Monitor high-revenue genres for inventory availability.</a:t>
            </a:r>
            <a:endParaRPr lang="en-US" sz="1400" dirty="0"/>
          </a:p>
          <a:p>
            <a:pPr marL="0" indent="0" algn="just">
              <a:lnSpc>
                <a:spcPct val="115000"/>
              </a:lnSpc>
              <a:buNone/>
            </a:pPr>
            <a:r>
              <a:rPr lang="en-US" sz="1400" b="1" dirty="0">
                <a:solidFill>
                  <a:srgbClr val="E8D48A"/>
                </a:solidFill>
                <a:latin typeface="Calibri" pitchFamily="34" charset="0"/>
                <a:ea typeface="Calibri" pitchFamily="34" charset="-122"/>
                <a:cs typeface="Calibri" pitchFamily="34" charset="-120"/>
              </a:rPr>
              <a:t>5.  </a:t>
            </a:r>
            <a:r>
              <a:rPr lang="en-US" sz="1400" dirty="0">
                <a:solidFill>
                  <a:srgbClr val="FFFFFF"/>
                </a:solidFill>
                <a:latin typeface="Calibri" pitchFamily="34" charset="0"/>
                <a:ea typeface="Calibri" pitchFamily="34" charset="-122"/>
                <a:cs typeface="Calibri" pitchFamily="34" charset="-120"/>
              </a:rPr>
              <a:t>Identify and engage high-value, repeat customers.</a:t>
            </a:r>
            <a:endParaRPr lang="en-US" sz="1400" dirty="0"/>
          </a:p>
          <a:p>
            <a:pPr marL="0" indent="0" algn="just">
              <a:lnSpc>
                <a:spcPct val="115000"/>
              </a:lnSpc>
              <a:buNone/>
            </a:pPr>
            <a:r>
              <a:rPr lang="en-US" sz="1400" b="1" dirty="0">
                <a:solidFill>
                  <a:srgbClr val="E8D48A"/>
                </a:solidFill>
                <a:latin typeface="Calibri" pitchFamily="34" charset="0"/>
                <a:ea typeface="Calibri" pitchFamily="34" charset="-122"/>
                <a:cs typeface="Calibri" pitchFamily="34" charset="-120"/>
              </a:rPr>
              <a:t>6.  </a:t>
            </a:r>
            <a:r>
              <a:rPr lang="en-US" sz="1400" dirty="0">
                <a:solidFill>
                  <a:srgbClr val="FFFFFF"/>
                </a:solidFill>
                <a:latin typeface="Calibri" pitchFamily="34" charset="0"/>
                <a:ea typeface="Calibri" pitchFamily="34" charset="-122"/>
                <a:cs typeface="Calibri" pitchFamily="34" charset="-120"/>
              </a:rPr>
              <a:t>Use country-level customer behaviour to support targeted marketing.</a:t>
            </a:r>
            <a:endParaRPr lang="en-US" sz="1400" dirty="0"/>
          </a:p>
        </p:txBody>
      </p:sp>
      <p:sp>
        <p:nvSpPr>
          <p:cNvPr id="14" name="Text 10"/>
          <p:cNvSpPr txBox="1"/>
          <p:nvPr/>
        </p:nvSpPr>
        <p:spPr>
          <a:xfrm>
            <a:off x="457201" y="5852160"/>
            <a:ext cx="11277295" cy="365760"/>
          </a:xfrm>
          <a:prstGeom prst="rect">
            <a:avLst/>
          </a:prstGeom>
          <a:noFill/>
          <a:ln/>
        </p:spPr>
        <p:txBody>
          <a:bodyPr wrap="square" rtlCol="0" anchor="ctr"/>
          <a:lstStyle/>
          <a:p>
            <a:pPr marL="0" indent="0" algn="ctr">
              <a:buNone/>
            </a:pPr>
            <a:r>
              <a:rPr lang="en-US" sz="1150" i="1" dirty="0">
                <a:solidFill>
                  <a:srgbClr val="6B7280"/>
                </a:solidFill>
                <a:latin typeface="Calibri" pitchFamily="34" charset="0"/>
                <a:ea typeface="Calibri" pitchFamily="34" charset="-122"/>
                <a:cs typeface="Calibri" pitchFamily="34" charset="-120"/>
              </a:rPr>
              <a:t>*Recommendations are based on the SQL analysis framework built in Workbench and should be finalized once the actual query results above are inserted.</a:t>
            </a:r>
            <a:endParaRPr lang="en-US" sz="1150" dirty="0"/>
          </a:p>
        </p:txBody>
      </p:sp>
      <p:sp>
        <p:nvSpPr>
          <p:cNvPr id="15" name="Text 11"/>
          <p:cNvSpPr txBox="1"/>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16" name="Text 12"/>
          <p:cNvSpPr txBox="1"/>
          <p:nvPr/>
        </p:nvSpPr>
        <p:spPr>
          <a:xfrm>
            <a:off x="10637215" y="6547104"/>
            <a:ext cx="1097280"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17 / 19</a:t>
            </a:r>
            <a:endParaRPr lang="en-US" sz="9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2" presetClass="entr" presetSubtype="8" fill="hold" grpId="0" nodeType="withEffect">
                                  <p:stCondLst>
                                    <p:cond delay="0"/>
                                  </p:stCondLst>
                                  <p:childTnLst>
                                    <p:set>
                                      <p:cBhvr>
                                        <p:cTn id="18" dur="1" fill="hold">
                                          <p:stCondLst>
                                            <p:cond delay="0"/>
                                          </p:stCondLst>
                                        </p:cTn>
                                        <p:tgtEl>
                                          <p:spTgt spid="8">
                                            <p:bg/>
                                          </p:spTgt>
                                        </p:tgtEl>
                                        <p:attrNameLst>
                                          <p:attrName>style.visibility</p:attrName>
                                        </p:attrNameLst>
                                      </p:cBhvr>
                                      <p:to>
                                        <p:strVal val="visible"/>
                                      </p:to>
                                    </p:set>
                                    <p:anim calcmode="lin" valueType="num">
                                      <p:cBhvr additive="base">
                                        <p:cTn id="19" dur="500" fill="hold"/>
                                        <p:tgtEl>
                                          <p:spTgt spid="8">
                                            <p:bg/>
                                          </p:spTgt>
                                        </p:tgtEl>
                                        <p:attrNameLst>
                                          <p:attrName>ppt_x</p:attrName>
                                        </p:attrNameLst>
                                      </p:cBhvr>
                                      <p:tavLst>
                                        <p:tav tm="0">
                                          <p:val>
                                            <p:strVal val="0-#ppt_w/2"/>
                                          </p:val>
                                        </p:tav>
                                        <p:tav tm="100000">
                                          <p:val>
                                            <p:strVal val="#ppt_x"/>
                                          </p:val>
                                        </p:tav>
                                      </p:tavLst>
                                    </p:anim>
                                    <p:anim calcmode="lin" valueType="num">
                                      <p:cBhvr additive="base">
                                        <p:cTn id="20" dur="500" fill="hold"/>
                                        <p:tgtEl>
                                          <p:spTgt spid="8">
                                            <p:bg/>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 calcmode="lin" valueType="num">
                                      <p:cBhvr additive="base">
                                        <p:cTn id="25"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anim calcmode="lin" valueType="num">
                                      <p:cBhvr additive="base">
                                        <p:cTn id="31" dur="500" fill="hold"/>
                                        <p:tgtEl>
                                          <p:spTgt spid="8">
                                            <p:txEl>
                                              <p:pRg st="1" end="1"/>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anim calcmode="lin" valueType="num">
                                      <p:cBhvr additive="base">
                                        <p:cTn id="37" dur="500" fill="hold"/>
                                        <p:tgtEl>
                                          <p:spTgt spid="8">
                                            <p:txEl>
                                              <p:pRg st="2" end="2"/>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8">
                                            <p:txEl>
                                              <p:pRg st="3" end="3"/>
                                            </p:txEl>
                                          </p:spTgt>
                                        </p:tgtEl>
                                        <p:attrNameLst>
                                          <p:attrName>style.visibility</p:attrName>
                                        </p:attrNameLst>
                                      </p:cBhvr>
                                      <p:to>
                                        <p:strVal val="visible"/>
                                      </p:to>
                                    </p:set>
                                    <p:anim calcmode="lin" valueType="num">
                                      <p:cBhvr additive="base">
                                        <p:cTn id="43" dur="500" fill="hold"/>
                                        <p:tgtEl>
                                          <p:spTgt spid="8">
                                            <p:txEl>
                                              <p:pRg st="3" end="3"/>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8">
                                            <p:txEl>
                                              <p:pRg st="4" end="4"/>
                                            </p:txEl>
                                          </p:spTgt>
                                        </p:tgtEl>
                                        <p:attrNameLst>
                                          <p:attrName>style.visibility</p:attrName>
                                        </p:attrNameLst>
                                      </p:cBhvr>
                                      <p:to>
                                        <p:strVal val="visible"/>
                                      </p:to>
                                    </p:set>
                                    <p:anim calcmode="lin" valueType="num">
                                      <p:cBhvr additive="base">
                                        <p:cTn id="49" dur="500" fill="hold"/>
                                        <p:tgtEl>
                                          <p:spTgt spid="8">
                                            <p:txEl>
                                              <p:pRg st="4" end="4"/>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8">
                                            <p:txEl>
                                              <p:pRg st="5" end="5"/>
                                            </p:txEl>
                                          </p:spTgt>
                                        </p:tgtEl>
                                        <p:attrNameLst>
                                          <p:attrName>style.visibility</p:attrName>
                                        </p:attrNameLst>
                                      </p:cBhvr>
                                      <p:to>
                                        <p:strVal val="visible"/>
                                      </p:to>
                                    </p:set>
                                    <p:anim calcmode="lin" valueType="num">
                                      <p:cBhvr additive="base">
                                        <p:cTn id="55" dur="500" fill="hold"/>
                                        <p:tgtEl>
                                          <p:spTgt spid="8">
                                            <p:txEl>
                                              <p:pRg st="5" end="5"/>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8">
                                            <p:txEl>
                                              <p:pRg st="6" end="6"/>
                                            </p:txEl>
                                          </p:spTgt>
                                        </p:tgtEl>
                                        <p:attrNameLst>
                                          <p:attrName>style.visibility</p:attrName>
                                        </p:attrNameLst>
                                      </p:cBhvr>
                                      <p:to>
                                        <p:strVal val="visible"/>
                                      </p:to>
                                    </p:set>
                                    <p:anim calcmode="lin" valueType="num">
                                      <p:cBhvr additive="base">
                                        <p:cTn id="61" dur="500" fill="hold"/>
                                        <p:tgtEl>
                                          <p:spTgt spid="8">
                                            <p:txEl>
                                              <p:pRg st="6" end="6"/>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fade">
                                      <p:cBhvr>
                                        <p:cTn id="67" dur="500"/>
                                        <p:tgtEl>
                                          <p:spTgt spid="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fade">
                                      <p:cBhvr>
                                        <p:cTn id="70" dur="500"/>
                                        <p:tgtEl>
                                          <p:spTgt spid="10"/>
                                        </p:tgtEl>
                                      </p:cBhvr>
                                    </p:animEffect>
                                  </p:childTnLst>
                                </p:cTn>
                              </p:par>
                              <p:par>
                                <p:cTn id="71" presetID="10" presetClass="entr" presetSubtype="0" fill="hold" nodeType="with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fade">
                                      <p:cBhvr>
                                        <p:cTn id="73" dur="500"/>
                                        <p:tgtEl>
                                          <p:spTgt spid="1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2"/>
                                        </p:tgtEl>
                                        <p:attrNameLst>
                                          <p:attrName>style.visibility</p:attrName>
                                        </p:attrNameLst>
                                      </p:cBhvr>
                                      <p:to>
                                        <p:strVal val="visible"/>
                                      </p:to>
                                    </p:set>
                                    <p:animEffect transition="in" filter="fade">
                                      <p:cBhvr>
                                        <p:cTn id="76" dur="500"/>
                                        <p:tgtEl>
                                          <p:spTgt spid="12"/>
                                        </p:tgtEl>
                                      </p:cBhvr>
                                    </p:animEffect>
                                  </p:childTnLst>
                                </p:cTn>
                              </p:par>
                              <p:par>
                                <p:cTn id="77" presetID="2" presetClass="entr" presetSubtype="2" fill="hold" grpId="0" nodeType="withEffect">
                                  <p:stCondLst>
                                    <p:cond delay="0"/>
                                  </p:stCondLst>
                                  <p:childTnLst>
                                    <p:set>
                                      <p:cBhvr>
                                        <p:cTn id="78" dur="1" fill="hold">
                                          <p:stCondLst>
                                            <p:cond delay="0"/>
                                          </p:stCondLst>
                                        </p:cTn>
                                        <p:tgtEl>
                                          <p:spTgt spid="13">
                                            <p:bg/>
                                          </p:spTgt>
                                        </p:tgtEl>
                                        <p:attrNameLst>
                                          <p:attrName>style.visibility</p:attrName>
                                        </p:attrNameLst>
                                      </p:cBhvr>
                                      <p:to>
                                        <p:strVal val="visible"/>
                                      </p:to>
                                    </p:set>
                                    <p:anim calcmode="lin" valueType="num">
                                      <p:cBhvr additive="base">
                                        <p:cTn id="79" dur="500" fill="hold"/>
                                        <p:tgtEl>
                                          <p:spTgt spid="13">
                                            <p:bg/>
                                          </p:spTgt>
                                        </p:tgtEl>
                                        <p:attrNameLst>
                                          <p:attrName>ppt_x</p:attrName>
                                        </p:attrNameLst>
                                      </p:cBhvr>
                                      <p:tavLst>
                                        <p:tav tm="0">
                                          <p:val>
                                            <p:strVal val="1+#ppt_w/2"/>
                                          </p:val>
                                        </p:tav>
                                        <p:tav tm="100000">
                                          <p:val>
                                            <p:strVal val="#ppt_x"/>
                                          </p:val>
                                        </p:tav>
                                      </p:tavLst>
                                    </p:anim>
                                    <p:anim calcmode="lin" valueType="num">
                                      <p:cBhvr additive="base">
                                        <p:cTn id="80" dur="500" fill="hold"/>
                                        <p:tgtEl>
                                          <p:spTgt spid="13">
                                            <p:bg/>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2" fill="hold" grpId="0" nodeType="clickEffect">
                                  <p:stCondLst>
                                    <p:cond delay="0"/>
                                  </p:stCondLst>
                                  <p:childTnLst>
                                    <p:set>
                                      <p:cBhvr>
                                        <p:cTn id="84" dur="1" fill="hold">
                                          <p:stCondLst>
                                            <p:cond delay="0"/>
                                          </p:stCondLst>
                                        </p:cTn>
                                        <p:tgtEl>
                                          <p:spTgt spid="13">
                                            <p:txEl>
                                              <p:pRg st="0" end="0"/>
                                            </p:txEl>
                                          </p:spTgt>
                                        </p:tgtEl>
                                        <p:attrNameLst>
                                          <p:attrName>style.visibility</p:attrName>
                                        </p:attrNameLst>
                                      </p:cBhvr>
                                      <p:to>
                                        <p:strVal val="visible"/>
                                      </p:to>
                                    </p:set>
                                    <p:anim calcmode="lin" valueType="num">
                                      <p:cBhvr additive="base">
                                        <p:cTn id="85" dur="50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2" fill="hold" grpId="0" nodeType="clickEffect">
                                  <p:stCondLst>
                                    <p:cond delay="0"/>
                                  </p:stCondLst>
                                  <p:childTnLst>
                                    <p:set>
                                      <p:cBhvr>
                                        <p:cTn id="90" dur="1" fill="hold">
                                          <p:stCondLst>
                                            <p:cond delay="0"/>
                                          </p:stCondLst>
                                        </p:cTn>
                                        <p:tgtEl>
                                          <p:spTgt spid="13">
                                            <p:txEl>
                                              <p:pRg st="1" end="1"/>
                                            </p:txEl>
                                          </p:spTgt>
                                        </p:tgtEl>
                                        <p:attrNameLst>
                                          <p:attrName>style.visibility</p:attrName>
                                        </p:attrNameLst>
                                      </p:cBhvr>
                                      <p:to>
                                        <p:strVal val="visible"/>
                                      </p:to>
                                    </p:set>
                                    <p:anim calcmode="lin" valueType="num">
                                      <p:cBhvr additive="base">
                                        <p:cTn id="91" dur="500" fill="hold"/>
                                        <p:tgtEl>
                                          <p:spTgt spid="13">
                                            <p:txEl>
                                              <p:pRg st="1" end="1"/>
                                            </p:txEl>
                                          </p:spTgt>
                                        </p:tgtEl>
                                        <p:attrNameLst>
                                          <p:attrName>ppt_x</p:attrName>
                                        </p:attrNameLst>
                                      </p:cBhvr>
                                      <p:tavLst>
                                        <p:tav tm="0">
                                          <p:val>
                                            <p:strVal val="1+#ppt_w/2"/>
                                          </p:val>
                                        </p:tav>
                                        <p:tav tm="100000">
                                          <p:val>
                                            <p:strVal val="#ppt_x"/>
                                          </p:val>
                                        </p:tav>
                                      </p:tavLst>
                                    </p:anim>
                                    <p:anim calcmode="lin" valueType="num">
                                      <p:cBhvr additive="base">
                                        <p:cTn id="92" dur="500" fill="hold"/>
                                        <p:tgtEl>
                                          <p:spTgt spid="1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2" fill="hold" grpId="0" nodeType="clickEffect">
                                  <p:stCondLst>
                                    <p:cond delay="0"/>
                                  </p:stCondLst>
                                  <p:childTnLst>
                                    <p:set>
                                      <p:cBhvr>
                                        <p:cTn id="96" dur="1" fill="hold">
                                          <p:stCondLst>
                                            <p:cond delay="0"/>
                                          </p:stCondLst>
                                        </p:cTn>
                                        <p:tgtEl>
                                          <p:spTgt spid="13">
                                            <p:txEl>
                                              <p:pRg st="2" end="2"/>
                                            </p:txEl>
                                          </p:spTgt>
                                        </p:tgtEl>
                                        <p:attrNameLst>
                                          <p:attrName>style.visibility</p:attrName>
                                        </p:attrNameLst>
                                      </p:cBhvr>
                                      <p:to>
                                        <p:strVal val="visible"/>
                                      </p:to>
                                    </p:set>
                                    <p:anim calcmode="lin" valueType="num">
                                      <p:cBhvr additive="base">
                                        <p:cTn id="97" dur="500" fill="hold"/>
                                        <p:tgtEl>
                                          <p:spTgt spid="13">
                                            <p:txEl>
                                              <p:pRg st="2" end="2"/>
                                            </p:txEl>
                                          </p:spTgt>
                                        </p:tgtEl>
                                        <p:attrNameLst>
                                          <p:attrName>ppt_x</p:attrName>
                                        </p:attrNameLst>
                                      </p:cBhvr>
                                      <p:tavLst>
                                        <p:tav tm="0">
                                          <p:val>
                                            <p:strVal val="1+#ppt_w/2"/>
                                          </p:val>
                                        </p:tav>
                                        <p:tav tm="100000">
                                          <p:val>
                                            <p:strVal val="#ppt_x"/>
                                          </p:val>
                                        </p:tav>
                                      </p:tavLst>
                                    </p:anim>
                                    <p:anim calcmode="lin" valueType="num">
                                      <p:cBhvr additive="base">
                                        <p:cTn id="98" dur="500" fill="hold"/>
                                        <p:tgtEl>
                                          <p:spTgt spid="1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2" fill="hold" grpId="0" nodeType="clickEffect">
                                  <p:stCondLst>
                                    <p:cond delay="0"/>
                                  </p:stCondLst>
                                  <p:childTnLst>
                                    <p:set>
                                      <p:cBhvr>
                                        <p:cTn id="102" dur="1" fill="hold">
                                          <p:stCondLst>
                                            <p:cond delay="0"/>
                                          </p:stCondLst>
                                        </p:cTn>
                                        <p:tgtEl>
                                          <p:spTgt spid="13">
                                            <p:txEl>
                                              <p:pRg st="3" end="3"/>
                                            </p:txEl>
                                          </p:spTgt>
                                        </p:tgtEl>
                                        <p:attrNameLst>
                                          <p:attrName>style.visibility</p:attrName>
                                        </p:attrNameLst>
                                      </p:cBhvr>
                                      <p:to>
                                        <p:strVal val="visible"/>
                                      </p:to>
                                    </p:set>
                                    <p:anim calcmode="lin" valueType="num">
                                      <p:cBhvr additive="base">
                                        <p:cTn id="103" dur="500" fill="hold"/>
                                        <p:tgtEl>
                                          <p:spTgt spid="13">
                                            <p:txEl>
                                              <p:pRg st="3" end="3"/>
                                            </p:txEl>
                                          </p:spTgt>
                                        </p:tgtEl>
                                        <p:attrNameLst>
                                          <p:attrName>ppt_x</p:attrName>
                                        </p:attrNameLst>
                                      </p:cBhvr>
                                      <p:tavLst>
                                        <p:tav tm="0">
                                          <p:val>
                                            <p:strVal val="1+#ppt_w/2"/>
                                          </p:val>
                                        </p:tav>
                                        <p:tav tm="100000">
                                          <p:val>
                                            <p:strVal val="#ppt_x"/>
                                          </p:val>
                                        </p:tav>
                                      </p:tavLst>
                                    </p:anim>
                                    <p:anim calcmode="lin" valueType="num">
                                      <p:cBhvr additive="base">
                                        <p:cTn id="104" dur="500" fill="hold"/>
                                        <p:tgtEl>
                                          <p:spTgt spid="1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2" fill="hold" grpId="0" nodeType="clickEffect">
                                  <p:stCondLst>
                                    <p:cond delay="0"/>
                                  </p:stCondLst>
                                  <p:childTnLst>
                                    <p:set>
                                      <p:cBhvr>
                                        <p:cTn id="108" dur="1" fill="hold">
                                          <p:stCondLst>
                                            <p:cond delay="0"/>
                                          </p:stCondLst>
                                        </p:cTn>
                                        <p:tgtEl>
                                          <p:spTgt spid="13">
                                            <p:txEl>
                                              <p:pRg st="4" end="4"/>
                                            </p:txEl>
                                          </p:spTgt>
                                        </p:tgtEl>
                                        <p:attrNameLst>
                                          <p:attrName>style.visibility</p:attrName>
                                        </p:attrNameLst>
                                      </p:cBhvr>
                                      <p:to>
                                        <p:strVal val="visible"/>
                                      </p:to>
                                    </p:set>
                                    <p:anim calcmode="lin" valueType="num">
                                      <p:cBhvr additive="base">
                                        <p:cTn id="109" dur="500" fill="hold"/>
                                        <p:tgtEl>
                                          <p:spTgt spid="13">
                                            <p:txEl>
                                              <p:pRg st="4" end="4"/>
                                            </p:txEl>
                                          </p:spTgt>
                                        </p:tgtEl>
                                        <p:attrNameLst>
                                          <p:attrName>ppt_x</p:attrName>
                                        </p:attrNameLst>
                                      </p:cBhvr>
                                      <p:tavLst>
                                        <p:tav tm="0">
                                          <p:val>
                                            <p:strVal val="1+#ppt_w/2"/>
                                          </p:val>
                                        </p:tav>
                                        <p:tav tm="100000">
                                          <p:val>
                                            <p:strVal val="#ppt_x"/>
                                          </p:val>
                                        </p:tav>
                                      </p:tavLst>
                                    </p:anim>
                                    <p:anim calcmode="lin" valueType="num">
                                      <p:cBhvr additive="base">
                                        <p:cTn id="110" dur="500" fill="hold"/>
                                        <p:tgtEl>
                                          <p:spTgt spid="1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2" fill="hold" grpId="0" nodeType="clickEffect">
                                  <p:stCondLst>
                                    <p:cond delay="0"/>
                                  </p:stCondLst>
                                  <p:childTnLst>
                                    <p:set>
                                      <p:cBhvr>
                                        <p:cTn id="114" dur="1" fill="hold">
                                          <p:stCondLst>
                                            <p:cond delay="0"/>
                                          </p:stCondLst>
                                        </p:cTn>
                                        <p:tgtEl>
                                          <p:spTgt spid="13">
                                            <p:txEl>
                                              <p:pRg st="5" end="5"/>
                                            </p:txEl>
                                          </p:spTgt>
                                        </p:tgtEl>
                                        <p:attrNameLst>
                                          <p:attrName>style.visibility</p:attrName>
                                        </p:attrNameLst>
                                      </p:cBhvr>
                                      <p:to>
                                        <p:strVal val="visible"/>
                                      </p:to>
                                    </p:set>
                                    <p:anim calcmode="lin" valueType="num">
                                      <p:cBhvr additive="base">
                                        <p:cTn id="115" dur="500" fill="hold"/>
                                        <p:tgtEl>
                                          <p:spTgt spid="13">
                                            <p:txEl>
                                              <p:pRg st="5" end="5"/>
                                            </p:txEl>
                                          </p:spTgt>
                                        </p:tgtEl>
                                        <p:attrNameLst>
                                          <p:attrName>ppt_x</p:attrName>
                                        </p:attrNameLst>
                                      </p:cBhvr>
                                      <p:tavLst>
                                        <p:tav tm="0">
                                          <p:val>
                                            <p:strVal val="1+#ppt_w/2"/>
                                          </p:val>
                                        </p:tav>
                                        <p:tav tm="100000">
                                          <p:val>
                                            <p:strVal val="#ppt_x"/>
                                          </p:val>
                                        </p:tav>
                                      </p:tavLst>
                                    </p:anim>
                                    <p:anim calcmode="lin" valueType="num">
                                      <p:cBhvr additive="base">
                                        <p:cTn id="116" dur="500" fill="hold"/>
                                        <p:tgtEl>
                                          <p:spTgt spid="1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14"/>
                                        </p:tgtEl>
                                        <p:attrNameLst>
                                          <p:attrName>style.visibility</p:attrName>
                                        </p:attrNameLst>
                                      </p:cBhvr>
                                      <p:to>
                                        <p:strVal val="visible"/>
                                      </p:to>
                                    </p:set>
                                    <p:animEffect transition="in" filter="fade">
                                      <p:cBhvr>
                                        <p:cTn id="12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build="p" animBg="1"/>
      <p:bldP spid="9" grpId="0" animBg="1"/>
      <p:bldP spid="10" grpId="0" animBg="1"/>
      <p:bldP spid="12" grpId="0" animBg="1"/>
      <p:bldP spid="13" grpId="0" build="p"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199" y="422104"/>
            <a:ext cx="11277295" cy="548640"/>
          </a:xfrm>
          <a:prstGeom prst="rect">
            <a:avLst/>
          </a:prstGeom>
          <a:noFill/>
          <a:ln/>
        </p:spPr>
        <p:txBody>
          <a:bodyPr wrap="square" rtlCol="0" anchor="ctr"/>
          <a:lstStyle/>
          <a:p>
            <a:pPr marL="0" indent="0">
              <a:buNone/>
            </a:pPr>
            <a:r>
              <a:rPr lang="en-US" sz="2900" b="1" dirty="0">
                <a:solidFill>
                  <a:srgbClr val="1B2A4A"/>
                </a:solidFill>
                <a:latin typeface="Cambria" pitchFamily="34" charset="0"/>
                <a:ea typeface="Cambria" pitchFamily="34" charset="-122"/>
                <a:cs typeface="Cambria" pitchFamily="34" charset="-120"/>
              </a:rPr>
              <a:t>Data Checklist - </a:t>
            </a:r>
            <a:r>
              <a:rPr lang="en-US" sz="2700" b="1" dirty="0">
                <a:solidFill>
                  <a:srgbClr val="00758F"/>
                </a:solidFill>
                <a:latin typeface="sans-serif typeface"/>
                <a:ea typeface="Cambria" panose="02040503050406030204" pitchFamily="18" charset="0"/>
                <a:cs typeface="Cambria" pitchFamily="34" charset="-120"/>
              </a:rPr>
              <a:t>M</a:t>
            </a:r>
            <a:r>
              <a:rPr lang="en-US" sz="2700" b="1" i="1" dirty="0">
                <a:solidFill>
                  <a:srgbClr val="00758F"/>
                </a:solidFill>
                <a:latin typeface="sans-serif typeface"/>
                <a:ea typeface="Cambria" panose="02040503050406030204" pitchFamily="18" charset="0"/>
                <a:cs typeface="Cambria" pitchFamily="34" charset="-120"/>
              </a:rPr>
              <a:t>y</a:t>
            </a:r>
            <a:r>
              <a:rPr lang="en-US" sz="2700" b="1" dirty="0">
                <a:solidFill>
                  <a:srgbClr val="F29111"/>
                </a:solidFill>
                <a:latin typeface="sans-serif typeface"/>
                <a:ea typeface="Cambria" panose="02040503050406030204" pitchFamily="18" charset="0"/>
                <a:cs typeface="Cambria" pitchFamily="34" charset="-120"/>
              </a:rPr>
              <a:t>SQL</a:t>
            </a:r>
            <a:r>
              <a:rPr lang="en-US" sz="2700" b="1" dirty="0">
                <a:solidFill>
                  <a:srgbClr val="1B2A4A"/>
                </a:solidFill>
                <a:latin typeface="sans-serif typeface"/>
                <a:ea typeface="Cambria" pitchFamily="34" charset="-122"/>
                <a:cs typeface="Cambria" pitchFamily="34" charset="-120"/>
              </a:rPr>
              <a:t> </a:t>
            </a:r>
            <a:r>
              <a:rPr lang="en-US" sz="2700" b="1" dirty="0">
                <a:solidFill>
                  <a:srgbClr val="1B2A4A"/>
                </a:solidFill>
                <a:latin typeface="Cambria" pitchFamily="34" charset="0"/>
                <a:ea typeface="Cambria" pitchFamily="34" charset="-122"/>
                <a:cs typeface="Cambria" pitchFamily="34" charset="-120"/>
              </a:rPr>
              <a:t>Workbench Insights</a:t>
            </a:r>
            <a:endParaRPr lang="en-US" sz="2700" dirty="0"/>
          </a:p>
        </p:txBody>
      </p:sp>
      <p:sp>
        <p:nvSpPr>
          <p:cNvPr id="4" name="Shape 2"/>
          <p:cNvSpPr/>
          <p:nvPr/>
        </p:nvSpPr>
        <p:spPr>
          <a:xfrm>
            <a:off x="457200" y="1417320"/>
            <a:ext cx="3576218" cy="2331720"/>
          </a:xfrm>
          <a:prstGeom prst="roundRect">
            <a:avLst>
              <a:gd name="adj" fmla="val 3137"/>
            </a:avLst>
          </a:prstGeom>
          <a:solidFill>
            <a:srgbClr val="F7EFD9"/>
          </a:solidFill>
          <a:ln>
            <a:solidFill>
              <a:srgbClr val="E7EAF2"/>
            </a:solidFill>
          </a:ln>
          <a:effectLst>
            <a:outerShdw blurRad="76200" dist="25400" dir="5400000" algn="bl" rotWithShape="0">
              <a:srgbClr val="1B2A4A">
                <a:alpha val="12000"/>
              </a:srgbClr>
            </a:outerShdw>
          </a:effectLst>
        </p:spPr>
        <p:txBody>
          <a:bodyPr/>
          <a:lstStyle/>
          <a:p>
            <a:endParaRPr lang="en-IN"/>
          </a:p>
        </p:txBody>
      </p:sp>
      <p:sp>
        <p:nvSpPr>
          <p:cNvPr id="5" name="Shape 3"/>
          <p:cNvSpPr/>
          <p:nvPr/>
        </p:nvSpPr>
        <p:spPr>
          <a:xfrm>
            <a:off x="640080" y="1581912"/>
            <a:ext cx="365760" cy="365760"/>
          </a:xfrm>
          <a:prstGeom prst="ellipse">
            <a:avLst/>
          </a:prstGeom>
          <a:solidFill>
            <a:srgbClr val="1B2A4A"/>
          </a:solidFill>
          <a:ln/>
        </p:spPr>
        <p:txBody>
          <a:bodyPr/>
          <a:lstStyle/>
          <a:p>
            <a:endParaRPr lang="en-IN"/>
          </a:p>
        </p:txBody>
      </p:sp>
      <p:pic>
        <p:nvPicPr>
          <p:cNvPr id="6" name="Image 0" descr="/home/claude/bookverse/icons/validate.png"/>
          <p:cNvPicPr>
            <a:picLocks noChangeAspect="1"/>
          </p:cNvPicPr>
          <p:nvPr/>
        </p:nvPicPr>
        <p:blipFill>
          <a:blip r:embed="rId3"/>
          <a:stretch>
            <a:fillRect/>
          </a:stretch>
        </p:blipFill>
        <p:spPr>
          <a:xfrm>
            <a:off x="694944" y="1636776"/>
            <a:ext cx="256032" cy="256032"/>
          </a:xfrm>
          <a:prstGeom prst="rect">
            <a:avLst/>
          </a:prstGeom>
        </p:spPr>
      </p:pic>
      <p:sp>
        <p:nvSpPr>
          <p:cNvPr id="7" name="Text 4"/>
          <p:cNvSpPr txBox="1"/>
          <p:nvPr/>
        </p:nvSpPr>
        <p:spPr>
          <a:xfrm>
            <a:off x="1115568" y="1581912"/>
            <a:ext cx="2753258" cy="36576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Validation</a:t>
            </a:r>
            <a:endParaRPr lang="en-US" sz="1350" dirty="0"/>
          </a:p>
        </p:txBody>
      </p:sp>
      <p:sp>
        <p:nvSpPr>
          <p:cNvPr id="8" name="Text 5"/>
          <p:cNvSpPr txBox="1"/>
          <p:nvPr/>
        </p:nvSpPr>
        <p:spPr>
          <a:xfrm>
            <a:off x="658368" y="2020824"/>
            <a:ext cx="3192170" cy="1331976"/>
          </a:xfrm>
          <a:prstGeom prst="rect">
            <a:avLst/>
          </a:prstGeom>
          <a:noFill/>
          <a:ln/>
        </p:spPr>
        <p:txBody>
          <a:bodyPr wrap="square" rtlCol="0" anchor="t"/>
          <a:lstStyle/>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Record counts - Books, Customers, Orders</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Duplicate primary key check results</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Missing-value check results (all columns)</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Orphan-order check results (FK consistency)</a:t>
            </a:r>
            <a:endParaRPr lang="en-US" sz="1350" dirty="0"/>
          </a:p>
        </p:txBody>
      </p:sp>
      <p:sp>
        <p:nvSpPr>
          <p:cNvPr id="9" name="Shape 6"/>
          <p:cNvSpPr/>
          <p:nvPr/>
        </p:nvSpPr>
        <p:spPr>
          <a:xfrm>
            <a:off x="4307738" y="1417320"/>
            <a:ext cx="3576218" cy="2331720"/>
          </a:xfrm>
          <a:prstGeom prst="roundRect">
            <a:avLst>
              <a:gd name="adj" fmla="val 3137"/>
            </a:avLst>
          </a:prstGeom>
          <a:solidFill>
            <a:srgbClr val="E7EAF2"/>
          </a:solidFill>
          <a:ln>
            <a:solidFill>
              <a:srgbClr val="E8D48A"/>
            </a:solidFill>
          </a:ln>
          <a:effectLst>
            <a:outerShdw blurRad="76200" dist="25400" dir="5400000" algn="bl" rotWithShape="0">
              <a:srgbClr val="1B2A4A">
                <a:alpha val="12000"/>
              </a:srgbClr>
            </a:outerShdw>
          </a:effectLst>
        </p:spPr>
        <p:txBody>
          <a:bodyPr/>
          <a:lstStyle/>
          <a:p>
            <a:endParaRPr lang="en-IN"/>
          </a:p>
        </p:txBody>
      </p:sp>
      <p:sp>
        <p:nvSpPr>
          <p:cNvPr id="10" name="Shape 7"/>
          <p:cNvSpPr/>
          <p:nvPr/>
        </p:nvSpPr>
        <p:spPr>
          <a:xfrm>
            <a:off x="4490618" y="1581912"/>
            <a:ext cx="365760" cy="365760"/>
          </a:xfrm>
          <a:prstGeom prst="ellipse">
            <a:avLst/>
          </a:prstGeom>
          <a:solidFill>
            <a:srgbClr val="1B2A4A"/>
          </a:solidFill>
          <a:ln/>
        </p:spPr>
        <p:txBody>
          <a:bodyPr/>
          <a:lstStyle/>
          <a:p>
            <a:endParaRPr lang="en-IN"/>
          </a:p>
        </p:txBody>
      </p:sp>
      <p:pic>
        <p:nvPicPr>
          <p:cNvPr id="11" name="Image 1" descr="/home/claude/bookverse/icons/question.png"/>
          <p:cNvPicPr>
            <a:picLocks noChangeAspect="1"/>
          </p:cNvPicPr>
          <p:nvPr/>
        </p:nvPicPr>
        <p:blipFill>
          <a:blip r:embed="rId4"/>
          <a:stretch>
            <a:fillRect/>
          </a:stretch>
        </p:blipFill>
        <p:spPr>
          <a:xfrm>
            <a:off x="4545482" y="1636776"/>
            <a:ext cx="256032" cy="256032"/>
          </a:xfrm>
          <a:prstGeom prst="rect">
            <a:avLst/>
          </a:prstGeom>
        </p:spPr>
      </p:pic>
      <p:sp>
        <p:nvSpPr>
          <p:cNvPr id="12" name="Text 8"/>
          <p:cNvSpPr txBox="1"/>
          <p:nvPr/>
        </p:nvSpPr>
        <p:spPr>
          <a:xfrm>
            <a:off x="4966106" y="1581912"/>
            <a:ext cx="2753258" cy="36576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Basic Exploration</a:t>
            </a:r>
            <a:endParaRPr lang="en-US" sz="1350" dirty="0"/>
          </a:p>
        </p:txBody>
      </p:sp>
      <p:sp>
        <p:nvSpPr>
          <p:cNvPr id="13" name="Text 9"/>
          <p:cNvSpPr txBox="1"/>
          <p:nvPr/>
        </p:nvSpPr>
        <p:spPr>
          <a:xfrm>
            <a:off x="4508906" y="2020824"/>
            <a:ext cx="3192170" cy="1600200"/>
          </a:xfrm>
          <a:prstGeom prst="rect">
            <a:avLst/>
          </a:prstGeom>
          <a:noFill/>
          <a:ln/>
        </p:spPr>
        <p:txBody>
          <a:bodyPr wrap="square" rtlCol="0" anchor="t"/>
          <a:lstStyle/>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Total Books, Customers, Orders</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Distinct Genres list</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Distinct Countries list</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Total Quantity Sold</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Total Revenue, Average Order Value</a:t>
            </a:r>
            <a:endParaRPr lang="en-US" sz="1350" dirty="0"/>
          </a:p>
        </p:txBody>
      </p:sp>
      <p:sp>
        <p:nvSpPr>
          <p:cNvPr id="14" name="Shape 10"/>
          <p:cNvSpPr/>
          <p:nvPr/>
        </p:nvSpPr>
        <p:spPr>
          <a:xfrm>
            <a:off x="8158277" y="1417320"/>
            <a:ext cx="3576218" cy="2331720"/>
          </a:xfrm>
          <a:prstGeom prst="roundRect">
            <a:avLst>
              <a:gd name="adj" fmla="val 3137"/>
            </a:avLst>
          </a:prstGeom>
          <a:solidFill>
            <a:srgbClr val="F7EFD9"/>
          </a:solidFill>
          <a:ln>
            <a:solidFill>
              <a:srgbClr val="E7EAF2"/>
            </a:solidFill>
          </a:ln>
          <a:effectLst>
            <a:outerShdw blurRad="76200" dist="25400" dir="5400000" algn="bl" rotWithShape="0">
              <a:srgbClr val="1B2A4A">
                <a:alpha val="12000"/>
              </a:srgbClr>
            </a:outerShdw>
          </a:effectLst>
        </p:spPr>
        <p:txBody>
          <a:bodyPr/>
          <a:lstStyle/>
          <a:p>
            <a:endParaRPr lang="en-IN"/>
          </a:p>
        </p:txBody>
      </p:sp>
      <p:sp>
        <p:nvSpPr>
          <p:cNvPr id="15" name="Shape 11"/>
          <p:cNvSpPr/>
          <p:nvPr/>
        </p:nvSpPr>
        <p:spPr>
          <a:xfrm>
            <a:off x="8341157" y="1581912"/>
            <a:ext cx="365760" cy="365760"/>
          </a:xfrm>
          <a:prstGeom prst="ellipse">
            <a:avLst/>
          </a:prstGeom>
          <a:solidFill>
            <a:srgbClr val="1B2A4A"/>
          </a:solidFill>
          <a:ln/>
        </p:spPr>
        <p:txBody>
          <a:bodyPr/>
          <a:lstStyle/>
          <a:p>
            <a:endParaRPr lang="en-IN"/>
          </a:p>
        </p:txBody>
      </p:sp>
      <p:pic>
        <p:nvPicPr>
          <p:cNvPr id="16" name="Image 2" descr="/home/claude/bookverse/icons/sales.png"/>
          <p:cNvPicPr>
            <a:picLocks noChangeAspect="1"/>
          </p:cNvPicPr>
          <p:nvPr/>
        </p:nvPicPr>
        <p:blipFill>
          <a:blip r:embed="rId5"/>
          <a:stretch>
            <a:fillRect/>
          </a:stretch>
        </p:blipFill>
        <p:spPr>
          <a:xfrm>
            <a:off x="8396021" y="1636776"/>
            <a:ext cx="256032" cy="256032"/>
          </a:xfrm>
          <a:prstGeom prst="rect">
            <a:avLst/>
          </a:prstGeom>
        </p:spPr>
      </p:pic>
      <p:sp>
        <p:nvSpPr>
          <p:cNvPr id="17" name="Text 12"/>
          <p:cNvSpPr txBox="1"/>
          <p:nvPr/>
        </p:nvSpPr>
        <p:spPr>
          <a:xfrm>
            <a:off x="8816645" y="1581912"/>
            <a:ext cx="2753258" cy="36576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Sales Performance</a:t>
            </a:r>
            <a:endParaRPr lang="en-US" sz="1350" dirty="0"/>
          </a:p>
        </p:txBody>
      </p:sp>
      <p:sp>
        <p:nvSpPr>
          <p:cNvPr id="18" name="Text 13"/>
          <p:cNvSpPr txBox="1"/>
          <p:nvPr/>
        </p:nvSpPr>
        <p:spPr>
          <a:xfrm>
            <a:off x="8359445" y="2020824"/>
            <a:ext cx="3192170" cy="1600200"/>
          </a:xfrm>
          <a:prstGeom prst="rect">
            <a:avLst/>
          </a:prstGeom>
          <a:noFill/>
          <a:ln/>
        </p:spPr>
        <p:txBody>
          <a:bodyPr wrap="square" rtlCol="0" anchor="t"/>
          <a:lstStyle/>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Top 10 books by units sold</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Top 10 books by revenue</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Revenue by author and by genre</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Monthly and yearly sales figures</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Highest-priced books; high-volume books (≥20)</a:t>
            </a:r>
            <a:endParaRPr lang="en-US" sz="1350" dirty="0"/>
          </a:p>
        </p:txBody>
      </p:sp>
      <p:sp>
        <p:nvSpPr>
          <p:cNvPr id="19" name="Shape 14"/>
          <p:cNvSpPr/>
          <p:nvPr/>
        </p:nvSpPr>
        <p:spPr>
          <a:xfrm>
            <a:off x="457200" y="4023360"/>
            <a:ext cx="3576218" cy="2331720"/>
          </a:xfrm>
          <a:prstGeom prst="roundRect">
            <a:avLst>
              <a:gd name="adj" fmla="val 3137"/>
            </a:avLst>
          </a:prstGeom>
          <a:solidFill>
            <a:srgbClr val="E7EAF2"/>
          </a:solidFill>
          <a:ln>
            <a:solidFill>
              <a:srgbClr val="E8D48A"/>
            </a:solidFill>
          </a:ln>
          <a:effectLst>
            <a:outerShdw blurRad="76200" dist="25400" dir="5400000" algn="bl" rotWithShape="0">
              <a:srgbClr val="1B2A4A">
                <a:alpha val="12000"/>
              </a:srgbClr>
            </a:outerShdw>
          </a:effectLst>
        </p:spPr>
        <p:txBody>
          <a:bodyPr/>
          <a:lstStyle/>
          <a:p>
            <a:endParaRPr lang="en-IN"/>
          </a:p>
        </p:txBody>
      </p:sp>
      <p:sp>
        <p:nvSpPr>
          <p:cNvPr id="20" name="Shape 15"/>
          <p:cNvSpPr/>
          <p:nvPr/>
        </p:nvSpPr>
        <p:spPr>
          <a:xfrm>
            <a:off x="640080" y="4187952"/>
            <a:ext cx="365760" cy="365760"/>
          </a:xfrm>
          <a:prstGeom prst="ellipse">
            <a:avLst/>
          </a:prstGeom>
          <a:solidFill>
            <a:srgbClr val="1B2A4A"/>
          </a:solidFill>
          <a:ln/>
        </p:spPr>
        <p:txBody>
          <a:bodyPr/>
          <a:lstStyle/>
          <a:p>
            <a:endParaRPr lang="en-IN"/>
          </a:p>
        </p:txBody>
      </p:sp>
      <p:pic>
        <p:nvPicPr>
          <p:cNvPr id="21" name="Image 3" descr="/home/claude/bookverse/icons/customers.png"/>
          <p:cNvPicPr>
            <a:picLocks noChangeAspect="1"/>
          </p:cNvPicPr>
          <p:nvPr/>
        </p:nvPicPr>
        <p:blipFill>
          <a:blip r:embed="rId6"/>
          <a:stretch>
            <a:fillRect/>
          </a:stretch>
        </p:blipFill>
        <p:spPr>
          <a:xfrm>
            <a:off x="694944" y="4242816"/>
            <a:ext cx="256032" cy="256032"/>
          </a:xfrm>
          <a:prstGeom prst="rect">
            <a:avLst/>
          </a:prstGeom>
        </p:spPr>
      </p:pic>
      <p:sp>
        <p:nvSpPr>
          <p:cNvPr id="22" name="Text 16"/>
          <p:cNvSpPr txBox="1"/>
          <p:nvPr/>
        </p:nvSpPr>
        <p:spPr>
          <a:xfrm>
            <a:off x="1115568" y="4187952"/>
            <a:ext cx="2753258" cy="36576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Customer Behaviour</a:t>
            </a:r>
            <a:endParaRPr lang="en-US" sz="1350" dirty="0"/>
          </a:p>
        </p:txBody>
      </p:sp>
      <p:sp>
        <p:nvSpPr>
          <p:cNvPr id="23" name="Text 17"/>
          <p:cNvSpPr txBox="1"/>
          <p:nvPr/>
        </p:nvSpPr>
        <p:spPr>
          <a:xfrm>
            <a:off x="658368" y="4626864"/>
            <a:ext cx="3192170" cy="1600200"/>
          </a:xfrm>
          <a:prstGeom prst="rect">
            <a:avLst/>
          </a:prstGeom>
          <a:noFill/>
          <a:ln/>
        </p:spPr>
        <p:txBody>
          <a:bodyPr wrap="square" rtlCol="0" anchor="t"/>
          <a:lstStyle/>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Top 10 customers by spending</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Repeat customer count</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Country-level order count and revenue</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Average customer spending</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Customers who bought multiple genres</a:t>
            </a:r>
            <a:endParaRPr lang="en-US" sz="1350" dirty="0"/>
          </a:p>
        </p:txBody>
      </p:sp>
      <p:sp>
        <p:nvSpPr>
          <p:cNvPr id="24" name="Shape 18"/>
          <p:cNvSpPr/>
          <p:nvPr/>
        </p:nvSpPr>
        <p:spPr>
          <a:xfrm>
            <a:off x="4307738" y="4023360"/>
            <a:ext cx="3576218" cy="2331720"/>
          </a:xfrm>
          <a:prstGeom prst="roundRect">
            <a:avLst>
              <a:gd name="adj" fmla="val 3137"/>
            </a:avLst>
          </a:prstGeom>
          <a:solidFill>
            <a:srgbClr val="F7EFD9"/>
          </a:solidFill>
          <a:ln>
            <a:solidFill>
              <a:srgbClr val="E7EAF2"/>
            </a:solidFill>
          </a:ln>
          <a:effectLst>
            <a:outerShdw blurRad="76200" dist="25400" dir="5400000" algn="bl" rotWithShape="0">
              <a:srgbClr val="1B2A4A">
                <a:alpha val="12000"/>
              </a:srgbClr>
            </a:outerShdw>
          </a:effectLst>
        </p:spPr>
        <p:txBody>
          <a:bodyPr/>
          <a:lstStyle/>
          <a:p>
            <a:endParaRPr lang="en-IN"/>
          </a:p>
        </p:txBody>
      </p:sp>
      <p:sp>
        <p:nvSpPr>
          <p:cNvPr id="25" name="Shape 19"/>
          <p:cNvSpPr/>
          <p:nvPr/>
        </p:nvSpPr>
        <p:spPr>
          <a:xfrm>
            <a:off x="4490618" y="4187952"/>
            <a:ext cx="365760" cy="365760"/>
          </a:xfrm>
          <a:prstGeom prst="ellipse">
            <a:avLst/>
          </a:prstGeom>
          <a:solidFill>
            <a:srgbClr val="1B2A4A"/>
          </a:solidFill>
          <a:ln/>
        </p:spPr>
        <p:txBody>
          <a:bodyPr/>
          <a:lstStyle/>
          <a:p>
            <a:endParaRPr lang="en-IN"/>
          </a:p>
        </p:txBody>
      </p:sp>
      <p:pic>
        <p:nvPicPr>
          <p:cNvPr id="26" name="Image 4" descr="/home/claude/bookverse/icons/genre.png"/>
          <p:cNvPicPr>
            <a:picLocks noChangeAspect="1"/>
          </p:cNvPicPr>
          <p:nvPr/>
        </p:nvPicPr>
        <p:blipFill>
          <a:blip r:embed="rId7"/>
          <a:stretch>
            <a:fillRect/>
          </a:stretch>
        </p:blipFill>
        <p:spPr>
          <a:xfrm>
            <a:off x="4545482" y="4242816"/>
            <a:ext cx="256032" cy="256032"/>
          </a:xfrm>
          <a:prstGeom prst="rect">
            <a:avLst/>
          </a:prstGeom>
        </p:spPr>
      </p:pic>
      <p:sp>
        <p:nvSpPr>
          <p:cNvPr id="27" name="Text 20"/>
          <p:cNvSpPr txBox="1"/>
          <p:nvPr/>
        </p:nvSpPr>
        <p:spPr>
          <a:xfrm>
            <a:off x="4966106" y="4187952"/>
            <a:ext cx="2753258" cy="36576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Product &amp; </a:t>
            </a:r>
            <a:r>
              <a:rPr lang="en-US" sz="1350" b="1" dirty="0">
                <a:solidFill>
                  <a:srgbClr val="1B2A4A"/>
                </a:solidFill>
                <a:latin typeface="Calibri" pitchFamily="34" charset="0"/>
                <a:ea typeface="Calibri" pitchFamily="34" charset="-122"/>
                <a:cs typeface="Calibri" pitchFamily="34" charset="-120"/>
              </a:rPr>
              <a:t>Inventory</a:t>
            </a:r>
            <a:endParaRPr lang="en-US" sz="1350" dirty="0"/>
          </a:p>
        </p:txBody>
      </p:sp>
      <p:sp>
        <p:nvSpPr>
          <p:cNvPr id="28" name="Text 21"/>
          <p:cNvSpPr txBox="1"/>
          <p:nvPr/>
        </p:nvSpPr>
        <p:spPr>
          <a:xfrm>
            <a:off x="4508906" y="4626864"/>
            <a:ext cx="3192170" cy="1600200"/>
          </a:xfrm>
          <a:prstGeom prst="rect">
            <a:avLst/>
          </a:prstGeom>
          <a:noFill/>
          <a:ln/>
        </p:spPr>
        <p:txBody>
          <a:bodyPr wrap="square" rtlCol="0" anchor="t"/>
          <a:lstStyle/>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Genre-wise units sold and revenue</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Never-ordered books list</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Author-wise performance</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Low-stock list (Stock &lt; 20)</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High-stock list (Stock ≥ 80)</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Inventory value by author</a:t>
            </a:r>
            <a:endParaRPr lang="en-US" sz="1350" dirty="0"/>
          </a:p>
        </p:txBody>
      </p:sp>
      <p:sp>
        <p:nvSpPr>
          <p:cNvPr id="29" name="Shape 22"/>
          <p:cNvSpPr/>
          <p:nvPr/>
        </p:nvSpPr>
        <p:spPr>
          <a:xfrm>
            <a:off x="8158277" y="4023360"/>
            <a:ext cx="3576218" cy="2331720"/>
          </a:xfrm>
          <a:prstGeom prst="roundRect">
            <a:avLst>
              <a:gd name="adj" fmla="val 3137"/>
            </a:avLst>
          </a:prstGeom>
          <a:solidFill>
            <a:srgbClr val="E7EAF2"/>
          </a:solidFill>
          <a:ln>
            <a:solidFill>
              <a:srgbClr val="E8D48A"/>
            </a:solidFill>
          </a:ln>
          <a:effectLst>
            <a:outerShdw blurRad="76200" dist="25400" dir="5400000" algn="bl" rotWithShape="0">
              <a:srgbClr val="1B2A4A">
                <a:alpha val="12000"/>
              </a:srgbClr>
            </a:outerShdw>
          </a:effectLst>
        </p:spPr>
        <p:txBody>
          <a:bodyPr/>
          <a:lstStyle/>
          <a:p>
            <a:endParaRPr lang="en-IN"/>
          </a:p>
        </p:txBody>
      </p:sp>
      <p:sp>
        <p:nvSpPr>
          <p:cNvPr id="30" name="Shape 23"/>
          <p:cNvSpPr/>
          <p:nvPr/>
        </p:nvSpPr>
        <p:spPr>
          <a:xfrm>
            <a:off x="8341157" y="4187952"/>
            <a:ext cx="365760" cy="365760"/>
          </a:xfrm>
          <a:prstGeom prst="ellipse">
            <a:avLst/>
          </a:prstGeom>
          <a:solidFill>
            <a:srgbClr val="1B2A4A"/>
          </a:solidFill>
          <a:ln/>
        </p:spPr>
        <p:txBody>
          <a:bodyPr/>
          <a:lstStyle/>
          <a:p>
            <a:endParaRPr lang="en-IN"/>
          </a:p>
        </p:txBody>
      </p:sp>
      <p:pic>
        <p:nvPicPr>
          <p:cNvPr id="31" name="Image 5" descr="/home/claude/bookverse/icons/target.png"/>
          <p:cNvPicPr>
            <a:picLocks noChangeAspect="1"/>
          </p:cNvPicPr>
          <p:nvPr/>
        </p:nvPicPr>
        <p:blipFill>
          <a:blip r:embed="rId8"/>
          <a:stretch>
            <a:fillRect/>
          </a:stretch>
        </p:blipFill>
        <p:spPr>
          <a:xfrm>
            <a:off x="8396021" y="4242816"/>
            <a:ext cx="256032" cy="256032"/>
          </a:xfrm>
          <a:prstGeom prst="rect">
            <a:avLst/>
          </a:prstGeom>
        </p:spPr>
      </p:pic>
      <p:sp>
        <p:nvSpPr>
          <p:cNvPr id="32" name="Text 24"/>
          <p:cNvSpPr txBox="1"/>
          <p:nvPr/>
        </p:nvSpPr>
        <p:spPr>
          <a:xfrm>
            <a:off x="8816645" y="4187952"/>
            <a:ext cx="2753258" cy="36576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Sales + Inventory</a:t>
            </a:r>
            <a:endParaRPr lang="en-US" sz="1350" dirty="0"/>
          </a:p>
        </p:txBody>
      </p:sp>
      <p:sp>
        <p:nvSpPr>
          <p:cNvPr id="33" name="Text 25"/>
          <p:cNvSpPr txBox="1"/>
          <p:nvPr/>
        </p:nvSpPr>
        <p:spPr>
          <a:xfrm>
            <a:off x="8359445" y="4626864"/>
            <a:ext cx="3192170" cy="1600200"/>
          </a:xfrm>
          <a:prstGeom prst="rect">
            <a:avLst/>
          </a:prstGeom>
          <a:noFill/>
          <a:ln/>
        </p:spPr>
        <p:txBody>
          <a:bodyPr wrap="square" rtlCol="0" anchor="t"/>
          <a:lstStyle/>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High Sales + Low Stock book list</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High Stock + Low Sales book list</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Never Ordered + Stock &gt; 0 list</a:t>
            </a:r>
            <a:endParaRPr lang="en-US" sz="1350" dirty="0"/>
          </a:p>
          <a:p>
            <a:pPr marL="152400" indent="-152400" algn="just">
              <a:lnSpc>
                <a:spcPct val="106000"/>
              </a:lnSpc>
              <a:spcAft>
                <a:spcPts val="500"/>
              </a:spcAft>
              <a:buSzPct val="100000"/>
              <a:buChar char="•"/>
            </a:pPr>
            <a:r>
              <a:rPr lang="en-US" sz="1350" dirty="0">
                <a:solidFill>
                  <a:srgbClr val="23262F"/>
                </a:solidFill>
                <a:latin typeface="Calibri" pitchFamily="34" charset="0"/>
                <a:ea typeface="Calibri" pitchFamily="34" charset="-122"/>
                <a:cs typeface="Calibri" pitchFamily="34" charset="-120"/>
              </a:rPr>
              <a:t>Values needed for Slide 14 insights</a:t>
            </a:r>
            <a:endParaRPr lang="en-US" sz="1350" dirty="0"/>
          </a:p>
        </p:txBody>
      </p:sp>
      <p:sp>
        <p:nvSpPr>
          <p:cNvPr id="34" name="Text 26"/>
          <p:cNvSpPr txBox="1"/>
          <p:nvPr/>
        </p:nvSpPr>
        <p:spPr>
          <a:xfrm>
            <a:off x="457200" y="6547104"/>
            <a:ext cx="3576218" cy="256032"/>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35" name="Text 27"/>
          <p:cNvSpPr txBox="1"/>
          <p:nvPr/>
        </p:nvSpPr>
        <p:spPr>
          <a:xfrm>
            <a:off x="10637215" y="6547104"/>
            <a:ext cx="1097280"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18 / 19</a:t>
            </a:r>
            <a:endParaRPr lang="en-US" sz="900" dirty="0"/>
          </a:p>
        </p:txBody>
      </p:sp>
      <p:sp>
        <p:nvSpPr>
          <p:cNvPr id="36" name="TextBox 35">
            <a:extLst>
              <a:ext uri="{FF2B5EF4-FFF2-40B4-BE49-F238E27FC236}">
                <a16:creationId xmlns:a16="http://schemas.microsoft.com/office/drawing/2014/main" id="{DD2AC154-B3AC-6DBC-1202-DB3E1AC3D758}"/>
              </a:ext>
            </a:extLst>
          </p:cNvPr>
          <p:cNvSpPr txBox="1"/>
          <p:nvPr/>
        </p:nvSpPr>
        <p:spPr>
          <a:xfrm>
            <a:off x="4119154" y="6476013"/>
            <a:ext cx="5538652" cy="246221"/>
          </a:xfrm>
          <a:prstGeom prst="rect">
            <a:avLst/>
          </a:prstGeom>
          <a:noFill/>
        </p:spPr>
        <p:txBody>
          <a:bodyPr wrap="square" rtlCol="0">
            <a:spAutoFit/>
          </a:bodyPr>
          <a:lstStyle/>
          <a:p>
            <a:r>
              <a:rPr lang="en-US" sz="1000" i="1" dirty="0">
                <a:solidFill>
                  <a:schemeClr val="tx2">
                    <a:lumMod val="60000"/>
                    <a:lumOff val="40000"/>
                  </a:schemeClr>
                </a:solidFill>
                <a:latin typeface="Calibri" pitchFamily="34" charset="0"/>
                <a:ea typeface="Calibri" pitchFamily="34" charset="-122"/>
                <a:cs typeface="Calibri" pitchFamily="34" charset="-120"/>
              </a:rPr>
              <a:t>*Orphan Orders </a:t>
            </a:r>
            <a:r>
              <a:rPr lang="en-US" sz="1000" i="1" dirty="0">
                <a:solidFill>
                  <a:schemeClr val="tx2">
                    <a:lumMod val="60000"/>
                    <a:lumOff val="40000"/>
                  </a:schemeClr>
                </a:solidFill>
              </a:rPr>
              <a:t>(orders that reference a customer or a book that no longer exists in the database)</a:t>
            </a:r>
            <a:endParaRPr lang="en-IN" sz="1000" i="1" dirty="0">
              <a:solidFill>
                <a:schemeClr val="tx2">
                  <a:lumMod val="60000"/>
                  <a:lumOff val="40000"/>
                </a:schemeClr>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0-#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1"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0-#ppt_h/2"/>
                                          </p:val>
                                        </p:tav>
                                        <p:tav tm="100000">
                                          <p:val>
                                            <p:strVal val="#ppt_y"/>
                                          </p:val>
                                        </p:tav>
                                      </p:tavLst>
                                    </p:anim>
                                  </p:childTnLst>
                                </p:cTn>
                              </p:par>
                              <p:par>
                                <p:cTn id="36" presetID="2" presetClass="entr" presetSubtype="1"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00" fill="hold"/>
                                        <p:tgtEl>
                                          <p:spTgt spid="10"/>
                                        </p:tgtEl>
                                        <p:attrNameLst>
                                          <p:attrName>ppt_x</p:attrName>
                                        </p:attrNameLst>
                                      </p:cBhvr>
                                      <p:tavLst>
                                        <p:tav tm="0">
                                          <p:val>
                                            <p:strVal val="#ppt_x"/>
                                          </p:val>
                                        </p:tav>
                                        <p:tav tm="100000">
                                          <p:val>
                                            <p:strVal val="#ppt_x"/>
                                          </p:val>
                                        </p:tav>
                                      </p:tavLst>
                                    </p:anim>
                                    <p:anim calcmode="lin" valueType="num">
                                      <p:cBhvr additive="base">
                                        <p:cTn id="39" dur="500" fill="hold"/>
                                        <p:tgtEl>
                                          <p:spTgt spid="10"/>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ppt_x"/>
                                          </p:val>
                                        </p:tav>
                                        <p:tav tm="100000">
                                          <p:val>
                                            <p:strVal val="#ppt_x"/>
                                          </p:val>
                                        </p:tav>
                                      </p:tavLst>
                                    </p:anim>
                                    <p:anim calcmode="lin" valueType="num">
                                      <p:cBhvr additive="base">
                                        <p:cTn id="43" dur="500" fill="hold"/>
                                        <p:tgtEl>
                                          <p:spTgt spid="11"/>
                                        </p:tgtEl>
                                        <p:attrNameLst>
                                          <p:attrName>ppt_y</p:attrName>
                                        </p:attrNameLst>
                                      </p:cBhvr>
                                      <p:tavLst>
                                        <p:tav tm="0">
                                          <p:val>
                                            <p:strVal val="0-#ppt_h/2"/>
                                          </p:val>
                                        </p:tav>
                                        <p:tav tm="100000">
                                          <p:val>
                                            <p:strVal val="#ppt_y"/>
                                          </p:val>
                                        </p:tav>
                                      </p:tavLst>
                                    </p:anim>
                                  </p:childTnLst>
                                </p:cTn>
                              </p:par>
                              <p:par>
                                <p:cTn id="44" presetID="2" presetClass="entr" presetSubtype="1"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0-#ppt_h/2"/>
                                          </p:val>
                                        </p:tav>
                                        <p:tav tm="100000">
                                          <p:val>
                                            <p:strVal val="#ppt_y"/>
                                          </p:val>
                                        </p:tav>
                                      </p:tavLst>
                                    </p:anim>
                                  </p:childTnLst>
                                </p:cTn>
                              </p:par>
                              <p:par>
                                <p:cTn id="48" presetID="2" presetClass="entr" presetSubtype="1"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500" fill="hold"/>
                                        <p:tgtEl>
                                          <p:spTgt spid="13"/>
                                        </p:tgtEl>
                                        <p:attrNameLst>
                                          <p:attrName>ppt_x</p:attrName>
                                        </p:attrNameLst>
                                      </p:cBhvr>
                                      <p:tavLst>
                                        <p:tav tm="0">
                                          <p:val>
                                            <p:strVal val="#ppt_x"/>
                                          </p:val>
                                        </p:tav>
                                        <p:tav tm="100000">
                                          <p:val>
                                            <p:strVal val="#ppt_x"/>
                                          </p:val>
                                        </p:tav>
                                      </p:tavLst>
                                    </p:anim>
                                    <p:anim calcmode="lin" valueType="num">
                                      <p:cBhvr additive="base">
                                        <p:cTn id="51"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2"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500" fill="hold"/>
                                        <p:tgtEl>
                                          <p:spTgt spid="14"/>
                                        </p:tgtEl>
                                        <p:attrNameLst>
                                          <p:attrName>ppt_x</p:attrName>
                                        </p:attrNameLst>
                                      </p:cBhvr>
                                      <p:tavLst>
                                        <p:tav tm="0">
                                          <p:val>
                                            <p:strVal val="1+#ppt_w/2"/>
                                          </p:val>
                                        </p:tav>
                                        <p:tav tm="100000">
                                          <p:val>
                                            <p:strVal val="#ppt_x"/>
                                          </p:val>
                                        </p:tav>
                                      </p:tavLst>
                                    </p:anim>
                                    <p:anim calcmode="lin" valueType="num">
                                      <p:cBhvr additive="base">
                                        <p:cTn id="57" dur="500" fill="hold"/>
                                        <p:tgtEl>
                                          <p:spTgt spid="14"/>
                                        </p:tgtEl>
                                        <p:attrNameLst>
                                          <p:attrName>ppt_y</p:attrName>
                                        </p:attrNameLst>
                                      </p:cBhvr>
                                      <p:tavLst>
                                        <p:tav tm="0">
                                          <p:val>
                                            <p:strVal val="#ppt_y"/>
                                          </p:val>
                                        </p:tav>
                                        <p:tav tm="100000">
                                          <p:val>
                                            <p:strVal val="#ppt_y"/>
                                          </p:val>
                                        </p:tav>
                                      </p:tavLst>
                                    </p:anim>
                                  </p:childTnLst>
                                </p:cTn>
                              </p:par>
                              <p:par>
                                <p:cTn id="58" presetID="2" presetClass="entr" presetSubtype="2"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 calcmode="lin" valueType="num">
                                      <p:cBhvr additive="base">
                                        <p:cTn id="60" dur="500" fill="hold"/>
                                        <p:tgtEl>
                                          <p:spTgt spid="15"/>
                                        </p:tgtEl>
                                        <p:attrNameLst>
                                          <p:attrName>ppt_x</p:attrName>
                                        </p:attrNameLst>
                                      </p:cBhvr>
                                      <p:tavLst>
                                        <p:tav tm="0">
                                          <p:val>
                                            <p:strVal val="1+#ppt_w/2"/>
                                          </p:val>
                                        </p:tav>
                                        <p:tav tm="100000">
                                          <p:val>
                                            <p:strVal val="#ppt_x"/>
                                          </p:val>
                                        </p:tav>
                                      </p:tavLst>
                                    </p:anim>
                                    <p:anim calcmode="lin" valueType="num">
                                      <p:cBhvr additive="base">
                                        <p:cTn id="61" dur="500" fill="hold"/>
                                        <p:tgtEl>
                                          <p:spTgt spid="15"/>
                                        </p:tgtEl>
                                        <p:attrNameLst>
                                          <p:attrName>ppt_y</p:attrName>
                                        </p:attrNameLst>
                                      </p:cBhvr>
                                      <p:tavLst>
                                        <p:tav tm="0">
                                          <p:val>
                                            <p:strVal val="#ppt_y"/>
                                          </p:val>
                                        </p:tav>
                                        <p:tav tm="100000">
                                          <p:val>
                                            <p:strVal val="#ppt_y"/>
                                          </p:val>
                                        </p:tav>
                                      </p:tavLst>
                                    </p:anim>
                                  </p:childTnLst>
                                </p:cTn>
                              </p:par>
                              <p:par>
                                <p:cTn id="62" presetID="2" presetClass="entr" presetSubtype="2" fill="hold" nodeType="with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additive="base">
                                        <p:cTn id="64" dur="500" fill="hold"/>
                                        <p:tgtEl>
                                          <p:spTgt spid="16"/>
                                        </p:tgtEl>
                                        <p:attrNameLst>
                                          <p:attrName>ppt_x</p:attrName>
                                        </p:attrNameLst>
                                      </p:cBhvr>
                                      <p:tavLst>
                                        <p:tav tm="0">
                                          <p:val>
                                            <p:strVal val="1+#ppt_w/2"/>
                                          </p:val>
                                        </p:tav>
                                        <p:tav tm="100000">
                                          <p:val>
                                            <p:strVal val="#ppt_x"/>
                                          </p:val>
                                        </p:tav>
                                      </p:tavLst>
                                    </p:anim>
                                    <p:anim calcmode="lin" valueType="num">
                                      <p:cBhvr additive="base">
                                        <p:cTn id="65" dur="500" fill="hold"/>
                                        <p:tgtEl>
                                          <p:spTgt spid="16"/>
                                        </p:tgtEl>
                                        <p:attrNameLst>
                                          <p:attrName>ppt_y</p:attrName>
                                        </p:attrNameLst>
                                      </p:cBhvr>
                                      <p:tavLst>
                                        <p:tav tm="0">
                                          <p:val>
                                            <p:strVal val="#ppt_y"/>
                                          </p:val>
                                        </p:tav>
                                        <p:tav tm="100000">
                                          <p:val>
                                            <p:strVal val="#ppt_y"/>
                                          </p:val>
                                        </p:tav>
                                      </p:tavLst>
                                    </p:anim>
                                  </p:childTnLst>
                                </p:cTn>
                              </p:par>
                              <p:par>
                                <p:cTn id="66" presetID="2" presetClass="entr" presetSubtype="2"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 calcmode="lin" valueType="num">
                                      <p:cBhvr additive="base">
                                        <p:cTn id="68" dur="500" fill="hold"/>
                                        <p:tgtEl>
                                          <p:spTgt spid="17"/>
                                        </p:tgtEl>
                                        <p:attrNameLst>
                                          <p:attrName>ppt_x</p:attrName>
                                        </p:attrNameLst>
                                      </p:cBhvr>
                                      <p:tavLst>
                                        <p:tav tm="0">
                                          <p:val>
                                            <p:strVal val="1+#ppt_w/2"/>
                                          </p:val>
                                        </p:tav>
                                        <p:tav tm="100000">
                                          <p:val>
                                            <p:strVal val="#ppt_x"/>
                                          </p:val>
                                        </p:tav>
                                      </p:tavLst>
                                    </p:anim>
                                    <p:anim calcmode="lin" valueType="num">
                                      <p:cBhvr additive="base">
                                        <p:cTn id="69" dur="500" fill="hold"/>
                                        <p:tgtEl>
                                          <p:spTgt spid="17"/>
                                        </p:tgtEl>
                                        <p:attrNameLst>
                                          <p:attrName>ppt_y</p:attrName>
                                        </p:attrNameLst>
                                      </p:cBhvr>
                                      <p:tavLst>
                                        <p:tav tm="0">
                                          <p:val>
                                            <p:strVal val="#ppt_y"/>
                                          </p:val>
                                        </p:tav>
                                        <p:tav tm="100000">
                                          <p:val>
                                            <p:strVal val="#ppt_y"/>
                                          </p:val>
                                        </p:tav>
                                      </p:tavLst>
                                    </p:anim>
                                  </p:childTnLst>
                                </p:cTn>
                              </p:par>
                              <p:par>
                                <p:cTn id="70" presetID="2" presetClass="entr" presetSubtype="2"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500" fill="hold"/>
                                        <p:tgtEl>
                                          <p:spTgt spid="18"/>
                                        </p:tgtEl>
                                        <p:attrNameLst>
                                          <p:attrName>ppt_x</p:attrName>
                                        </p:attrNameLst>
                                      </p:cBhvr>
                                      <p:tavLst>
                                        <p:tav tm="0">
                                          <p:val>
                                            <p:strVal val="1+#ppt_w/2"/>
                                          </p:val>
                                        </p:tav>
                                        <p:tav tm="100000">
                                          <p:val>
                                            <p:strVal val="#ppt_x"/>
                                          </p:val>
                                        </p:tav>
                                      </p:tavLst>
                                    </p:anim>
                                    <p:anim calcmode="lin" valueType="num">
                                      <p:cBhvr additive="base">
                                        <p:cTn id="73"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8" fill="hold" grpId="0" nodeType="clickEffect">
                                  <p:stCondLst>
                                    <p:cond delay="0"/>
                                  </p:stCondLst>
                                  <p:childTnLst>
                                    <p:set>
                                      <p:cBhvr>
                                        <p:cTn id="77" dur="1" fill="hold">
                                          <p:stCondLst>
                                            <p:cond delay="0"/>
                                          </p:stCondLst>
                                        </p:cTn>
                                        <p:tgtEl>
                                          <p:spTgt spid="19"/>
                                        </p:tgtEl>
                                        <p:attrNameLst>
                                          <p:attrName>style.visibility</p:attrName>
                                        </p:attrNameLst>
                                      </p:cBhvr>
                                      <p:to>
                                        <p:strVal val="visible"/>
                                      </p:to>
                                    </p:set>
                                    <p:anim calcmode="lin" valueType="num">
                                      <p:cBhvr additive="base">
                                        <p:cTn id="78" dur="500" fill="hold"/>
                                        <p:tgtEl>
                                          <p:spTgt spid="19"/>
                                        </p:tgtEl>
                                        <p:attrNameLst>
                                          <p:attrName>ppt_x</p:attrName>
                                        </p:attrNameLst>
                                      </p:cBhvr>
                                      <p:tavLst>
                                        <p:tav tm="0">
                                          <p:val>
                                            <p:strVal val="0-#ppt_w/2"/>
                                          </p:val>
                                        </p:tav>
                                        <p:tav tm="100000">
                                          <p:val>
                                            <p:strVal val="#ppt_x"/>
                                          </p:val>
                                        </p:tav>
                                      </p:tavLst>
                                    </p:anim>
                                    <p:anim calcmode="lin" valueType="num">
                                      <p:cBhvr additive="base">
                                        <p:cTn id="79" dur="500" fill="hold"/>
                                        <p:tgtEl>
                                          <p:spTgt spid="19"/>
                                        </p:tgtEl>
                                        <p:attrNameLst>
                                          <p:attrName>ppt_y</p:attrName>
                                        </p:attrNameLst>
                                      </p:cBhvr>
                                      <p:tavLst>
                                        <p:tav tm="0">
                                          <p:val>
                                            <p:strVal val="#ppt_y"/>
                                          </p:val>
                                        </p:tav>
                                        <p:tav tm="100000">
                                          <p:val>
                                            <p:strVal val="#ppt_y"/>
                                          </p:val>
                                        </p:tav>
                                      </p:tavLst>
                                    </p:anim>
                                  </p:childTnLst>
                                </p:cTn>
                              </p:par>
                              <p:par>
                                <p:cTn id="80" presetID="2" presetClass="entr" presetSubtype="8"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 calcmode="lin" valueType="num">
                                      <p:cBhvr additive="base">
                                        <p:cTn id="82" dur="500" fill="hold"/>
                                        <p:tgtEl>
                                          <p:spTgt spid="20"/>
                                        </p:tgtEl>
                                        <p:attrNameLst>
                                          <p:attrName>ppt_x</p:attrName>
                                        </p:attrNameLst>
                                      </p:cBhvr>
                                      <p:tavLst>
                                        <p:tav tm="0">
                                          <p:val>
                                            <p:strVal val="0-#ppt_w/2"/>
                                          </p:val>
                                        </p:tav>
                                        <p:tav tm="100000">
                                          <p:val>
                                            <p:strVal val="#ppt_x"/>
                                          </p:val>
                                        </p:tav>
                                      </p:tavLst>
                                    </p:anim>
                                    <p:anim calcmode="lin" valueType="num">
                                      <p:cBhvr additive="base">
                                        <p:cTn id="83" dur="500" fill="hold"/>
                                        <p:tgtEl>
                                          <p:spTgt spid="20"/>
                                        </p:tgtEl>
                                        <p:attrNameLst>
                                          <p:attrName>ppt_y</p:attrName>
                                        </p:attrNameLst>
                                      </p:cBhvr>
                                      <p:tavLst>
                                        <p:tav tm="0">
                                          <p:val>
                                            <p:strVal val="#ppt_y"/>
                                          </p:val>
                                        </p:tav>
                                        <p:tav tm="100000">
                                          <p:val>
                                            <p:strVal val="#ppt_y"/>
                                          </p:val>
                                        </p:tav>
                                      </p:tavLst>
                                    </p:anim>
                                  </p:childTnLst>
                                </p:cTn>
                              </p:par>
                              <p:par>
                                <p:cTn id="84" presetID="2" presetClass="entr" presetSubtype="8" fill="hold" nodeType="withEffect">
                                  <p:stCondLst>
                                    <p:cond delay="0"/>
                                  </p:stCondLst>
                                  <p:childTnLst>
                                    <p:set>
                                      <p:cBhvr>
                                        <p:cTn id="85" dur="1" fill="hold">
                                          <p:stCondLst>
                                            <p:cond delay="0"/>
                                          </p:stCondLst>
                                        </p:cTn>
                                        <p:tgtEl>
                                          <p:spTgt spid="21"/>
                                        </p:tgtEl>
                                        <p:attrNameLst>
                                          <p:attrName>style.visibility</p:attrName>
                                        </p:attrNameLst>
                                      </p:cBhvr>
                                      <p:to>
                                        <p:strVal val="visible"/>
                                      </p:to>
                                    </p:set>
                                    <p:anim calcmode="lin" valueType="num">
                                      <p:cBhvr additive="base">
                                        <p:cTn id="86" dur="500" fill="hold"/>
                                        <p:tgtEl>
                                          <p:spTgt spid="21"/>
                                        </p:tgtEl>
                                        <p:attrNameLst>
                                          <p:attrName>ppt_x</p:attrName>
                                        </p:attrNameLst>
                                      </p:cBhvr>
                                      <p:tavLst>
                                        <p:tav tm="0">
                                          <p:val>
                                            <p:strVal val="0-#ppt_w/2"/>
                                          </p:val>
                                        </p:tav>
                                        <p:tav tm="100000">
                                          <p:val>
                                            <p:strVal val="#ppt_x"/>
                                          </p:val>
                                        </p:tav>
                                      </p:tavLst>
                                    </p:anim>
                                    <p:anim calcmode="lin" valueType="num">
                                      <p:cBhvr additive="base">
                                        <p:cTn id="87" dur="500" fill="hold"/>
                                        <p:tgtEl>
                                          <p:spTgt spid="21"/>
                                        </p:tgtEl>
                                        <p:attrNameLst>
                                          <p:attrName>ppt_y</p:attrName>
                                        </p:attrNameLst>
                                      </p:cBhvr>
                                      <p:tavLst>
                                        <p:tav tm="0">
                                          <p:val>
                                            <p:strVal val="#ppt_y"/>
                                          </p:val>
                                        </p:tav>
                                        <p:tav tm="100000">
                                          <p:val>
                                            <p:strVal val="#ppt_y"/>
                                          </p:val>
                                        </p:tav>
                                      </p:tavLst>
                                    </p:anim>
                                  </p:childTnLst>
                                </p:cTn>
                              </p:par>
                              <p:par>
                                <p:cTn id="88" presetID="2" presetClass="entr" presetSubtype="8" fill="hold" grpId="0" nodeType="withEffect">
                                  <p:stCondLst>
                                    <p:cond delay="0"/>
                                  </p:stCondLst>
                                  <p:childTnLst>
                                    <p:set>
                                      <p:cBhvr>
                                        <p:cTn id="89" dur="1" fill="hold">
                                          <p:stCondLst>
                                            <p:cond delay="0"/>
                                          </p:stCondLst>
                                        </p:cTn>
                                        <p:tgtEl>
                                          <p:spTgt spid="22"/>
                                        </p:tgtEl>
                                        <p:attrNameLst>
                                          <p:attrName>style.visibility</p:attrName>
                                        </p:attrNameLst>
                                      </p:cBhvr>
                                      <p:to>
                                        <p:strVal val="visible"/>
                                      </p:to>
                                    </p:set>
                                    <p:anim calcmode="lin" valueType="num">
                                      <p:cBhvr additive="base">
                                        <p:cTn id="90" dur="500" fill="hold"/>
                                        <p:tgtEl>
                                          <p:spTgt spid="22"/>
                                        </p:tgtEl>
                                        <p:attrNameLst>
                                          <p:attrName>ppt_x</p:attrName>
                                        </p:attrNameLst>
                                      </p:cBhvr>
                                      <p:tavLst>
                                        <p:tav tm="0">
                                          <p:val>
                                            <p:strVal val="0-#ppt_w/2"/>
                                          </p:val>
                                        </p:tav>
                                        <p:tav tm="100000">
                                          <p:val>
                                            <p:strVal val="#ppt_x"/>
                                          </p:val>
                                        </p:tav>
                                      </p:tavLst>
                                    </p:anim>
                                    <p:anim calcmode="lin" valueType="num">
                                      <p:cBhvr additive="base">
                                        <p:cTn id="91" dur="500" fill="hold"/>
                                        <p:tgtEl>
                                          <p:spTgt spid="22"/>
                                        </p:tgtEl>
                                        <p:attrNameLst>
                                          <p:attrName>ppt_y</p:attrName>
                                        </p:attrNameLst>
                                      </p:cBhvr>
                                      <p:tavLst>
                                        <p:tav tm="0">
                                          <p:val>
                                            <p:strVal val="#ppt_y"/>
                                          </p:val>
                                        </p:tav>
                                        <p:tav tm="100000">
                                          <p:val>
                                            <p:strVal val="#ppt_y"/>
                                          </p:val>
                                        </p:tav>
                                      </p:tavLst>
                                    </p:anim>
                                  </p:childTnLst>
                                </p:cTn>
                              </p:par>
                              <p:par>
                                <p:cTn id="92" presetID="2" presetClass="entr" presetSubtype="8" fill="hold" grpId="0" nodeType="withEffect">
                                  <p:stCondLst>
                                    <p:cond delay="0"/>
                                  </p:stCondLst>
                                  <p:childTnLst>
                                    <p:set>
                                      <p:cBhvr>
                                        <p:cTn id="93" dur="1" fill="hold">
                                          <p:stCondLst>
                                            <p:cond delay="0"/>
                                          </p:stCondLst>
                                        </p:cTn>
                                        <p:tgtEl>
                                          <p:spTgt spid="23"/>
                                        </p:tgtEl>
                                        <p:attrNameLst>
                                          <p:attrName>style.visibility</p:attrName>
                                        </p:attrNameLst>
                                      </p:cBhvr>
                                      <p:to>
                                        <p:strVal val="visible"/>
                                      </p:to>
                                    </p:set>
                                    <p:anim calcmode="lin" valueType="num">
                                      <p:cBhvr additive="base">
                                        <p:cTn id="94" dur="500" fill="hold"/>
                                        <p:tgtEl>
                                          <p:spTgt spid="23"/>
                                        </p:tgtEl>
                                        <p:attrNameLst>
                                          <p:attrName>ppt_x</p:attrName>
                                        </p:attrNameLst>
                                      </p:cBhvr>
                                      <p:tavLst>
                                        <p:tav tm="0">
                                          <p:val>
                                            <p:strVal val="0-#ppt_w/2"/>
                                          </p:val>
                                        </p:tav>
                                        <p:tav tm="100000">
                                          <p:val>
                                            <p:strVal val="#ppt_x"/>
                                          </p:val>
                                        </p:tav>
                                      </p:tavLst>
                                    </p:anim>
                                    <p:anim calcmode="lin" valueType="num">
                                      <p:cBhvr additive="base">
                                        <p:cTn id="95"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24"/>
                                        </p:tgtEl>
                                        <p:attrNameLst>
                                          <p:attrName>style.visibility</p:attrName>
                                        </p:attrNameLst>
                                      </p:cBhvr>
                                      <p:to>
                                        <p:strVal val="visible"/>
                                      </p:to>
                                    </p:set>
                                    <p:anim calcmode="lin" valueType="num">
                                      <p:cBhvr additive="base">
                                        <p:cTn id="100" dur="500" fill="hold"/>
                                        <p:tgtEl>
                                          <p:spTgt spid="24"/>
                                        </p:tgtEl>
                                        <p:attrNameLst>
                                          <p:attrName>ppt_x</p:attrName>
                                        </p:attrNameLst>
                                      </p:cBhvr>
                                      <p:tavLst>
                                        <p:tav tm="0">
                                          <p:val>
                                            <p:strVal val="#ppt_x"/>
                                          </p:val>
                                        </p:tav>
                                        <p:tav tm="100000">
                                          <p:val>
                                            <p:strVal val="#ppt_x"/>
                                          </p:val>
                                        </p:tav>
                                      </p:tavLst>
                                    </p:anim>
                                    <p:anim calcmode="lin" valueType="num">
                                      <p:cBhvr additive="base">
                                        <p:cTn id="101" dur="500" fill="hold"/>
                                        <p:tgtEl>
                                          <p:spTgt spid="24"/>
                                        </p:tgtEl>
                                        <p:attrNameLst>
                                          <p:attrName>ppt_y</p:attrName>
                                        </p:attrNameLst>
                                      </p:cBhvr>
                                      <p:tavLst>
                                        <p:tav tm="0">
                                          <p:val>
                                            <p:strVal val="1+#ppt_h/2"/>
                                          </p:val>
                                        </p:tav>
                                        <p:tav tm="100000">
                                          <p:val>
                                            <p:strVal val="#ppt_y"/>
                                          </p:val>
                                        </p:tav>
                                      </p:tavLst>
                                    </p:anim>
                                  </p:childTnLst>
                                </p:cTn>
                              </p:par>
                              <p:par>
                                <p:cTn id="102" presetID="2" presetClass="entr" presetSubtype="4" fill="hold" grpId="0" nodeType="withEffect">
                                  <p:stCondLst>
                                    <p:cond delay="0"/>
                                  </p:stCondLst>
                                  <p:childTnLst>
                                    <p:set>
                                      <p:cBhvr>
                                        <p:cTn id="103" dur="1" fill="hold">
                                          <p:stCondLst>
                                            <p:cond delay="0"/>
                                          </p:stCondLst>
                                        </p:cTn>
                                        <p:tgtEl>
                                          <p:spTgt spid="25"/>
                                        </p:tgtEl>
                                        <p:attrNameLst>
                                          <p:attrName>style.visibility</p:attrName>
                                        </p:attrNameLst>
                                      </p:cBhvr>
                                      <p:to>
                                        <p:strVal val="visible"/>
                                      </p:to>
                                    </p:set>
                                    <p:anim calcmode="lin" valueType="num">
                                      <p:cBhvr additive="base">
                                        <p:cTn id="104" dur="500" fill="hold"/>
                                        <p:tgtEl>
                                          <p:spTgt spid="25"/>
                                        </p:tgtEl>
                                        <p:attrNameLst>
                                          <p:attrName>ppt_x</p:attrName>
                                        </p:attrNameLst>
                                      </p:cBhvr>
                                      <p:tavLst>
                                        <p:tav tm="0">
                                          <p:val>
                                            <p:strVal val="#ppt_x"/>
                                          </p:val>
                                        </p:tav>
                                        <p:tav tm="100000">
                                          <p:val>
                                            <p:strVal val="#ppt_x"/>
                                          </p:val>
                                        </p:tav>
                                      </p:tavLst>
                                    </p:anim>
                                    <p:anim calcmode="lin" valueType="num">
                                      <p:cBhvr additive="base">
                                        <p:cTn id="105" dur="500" fill="hold"/>
                                        <p:tgtEl>
                                          <p:spTgt spid="25"/>
                                        </p:tgtEl>
                                        <p:attrNameLst>
                                          <p:attrName>ppt_y</p:attrName>
                                        </p:attrNameLst>
                                      </p:cBhvr>
                                      <p:tavLst>
                                        <p:tav tm="0">
                                          <p:val>
                                            <p:strVal val="1+#ppt_h/2"/>
                                          </p:val>
                                        </p:tav>
                                        <p:tav tm="100000">
                                          <p:val>
                                            <p:strVal val="#ppt_y"/>
                                          </p:val>
                                        </p:tav>
                                      </p:tavLst>
                                    </p:anim>
                                  </p:childTnLst>
                                </p:cTn>
                              </p:par>
                              <p:par>
                                <p:cTn id="106" presetID="2" presetClass="entr" presetSubtype="4" fill="hold" nodeType="withEffect">
                                  <p:stCondLst>
                                    <p:cond delay="0"/>
                                  </p:stCondLst>
                                  <p:childTnLst>
                                    <p:set>
                                      <p:cBhvr>
                                        <p:cTn id="107" dur="1" fill="hold">
                                          <p:stCondLst>
                                            <p:cond delay="0"/>
                                          </p:stCondLst>
                                        </p:cTn>
                                        <p:tgtEl>
                                          <p:spTgt spid="26"/>
                                        </p:tgtEl>
                                        <p:attrNameLst>
                                          <p:attrName>style.visibility</p:attrName>
                                        </p:attrNameLst>
                                      </p:cBhvr>
                                      <p:to>
                                        <p:strVal val="visible"/>
                                      </p:to>
                                    </p:set>
                                    <p:anim calcmode="lin" valueType="num">
                                      <p:cBhvr additive="base">
                                        <p:cTn id="108" dur="500" fill="hold"/>
                                        <p:tgtEl>
                                          <p:spTgt spid="26"/>
                                        </p:tgtEl>
                                        <p:attrNameLst>
                                          <p:attrName>ppt_x</p:attrName>
                                        </p:attrNameLst>
                                      </p:cBhvr>
                                      <p:tavLst>
                                        <p:tav tm="0">
                                          <p:val>
                                            <p:strVal val="#ppt_x"/>
                                          </p:val>
                                        </p:tav>
                                        <p:tav tm="100000">
                                          <p:val>
                                            <p:strVal val="#ppt_x"/>
                                          </p:val>
                                        </p:tav>
                                      </p:tavLst>
                                    </p:anim>
                                    <p:anim calcmode="lin" valueType="num">
                                      <p:cBhvr additive="base">
                                        <p:cTn id="109" dur="500" fill="hold"/>
                                        <p:tgtEl>
                                          <p:spTgt spid="26"/>
                                        </p:tgtEl>
                                        <p:attrNameLst>
                                          <p:attrName>ppt_y</p:attrName>
                                        </p:attrNameLst>
                                      </p:cBhvr>
                                      <p:tavLst>
                                        <p:tav tm="0">
                                          <p:val>
                                            <p:strVal val="1+#ppt_h/2"/>
                                          </p:val>
                                        </p:tav>
                                        <p:tav tm="100000">
                                          <p:val>
                                            <p:strVal val="#ppt_y"/>
                                          </p:val>
                                        </p:tav>
                                      </p:tavLst>
                                    </p:anim>
                                  </p:childTnLst>
                                </p:cTn>
                              </p:par>
                              <p:par>
                                <p:cTn id="110" presetID="2" presetClass="entr" presetSubtype="4" fill="hold" grpId="0" nodeType="withEffect">
                                  <p:stCondLst>
                                    <p:cond delay="0"/>
                                  </p:stCondLst>
                                  <p:childTnLst>
                                    <p:set>
                                      <p:cBhvr>
                                        <p:cTn id="111" dur="1" fill="hold">
                                          <p:stCondLst>
                                            <p:cond delay="0"/>
                                          </p:stCondLst>
                                        </p:cTn>
                                        <p:tgtEl>
                                          <p:spTgt spid="27"/>
                                        </p:tgtEl>
                                        <p:attrNameLst>
                                          <p:attrName>style.visibility</p:attrName>
                                        </p:attrNameLst>
                                      </p:cBhvr>
                                      <p:to>
                                        <p:strVal val="visible"/>
                                      </p:to>
                                    </p:set>
                                    <p:anim calcmode="lin" valueType="num">
                                      <p:cBhvr additive="base">
                                        <p:cTn id="112" dur="500" fill="hold"/>
                                        <p:tgtEl>
                                          <p:spTgt spid="27"/>
                                        </p:tgtEl>
                                        <p:attrNameLst>
                                          <p:attrName>ppt_x</p:attrName>
                                        </p:attrNameLst>
                                      </p:cBhvr>
                                      <p:tavLst>
                                        <p:tav tm="0">
                                          <p:val>
                                            <p:strVal val="#ppt_x"/>
                                          </p:val>
                                        </p:tav>
                                        <p:tav tm="100000">
                                          <p:val>
                                            <p:strVal val="#ppt_x"/>
                                          </p:val>
                                        </p:tav>
                                      </p:tavLst>
                                    </p:anim>
                                    <p:anim calcmode="lin" valueType="num">
                                      <p:cBhvr additive="base">
                                        <p:cTn id="113" dur="500" fill="hold"/>
                                        <p:tgtEl>
                                          <p:spTgt spid="27"/>
                                        </p:tgtEl>
                                        <p:attrNameLst>
                                          <p:attrName>ppt_y</p:attrName>
                                        </p:attrNameLst>
                                      </p:cBhvr>
                                      <p:tavLst>
                                        <p:tav tm="0">
                                          <p:val>
                                            <p:strVal val="1+#ppt_h/2"/>
                                          </p:val>
                                        </p:tav>
                                        <p:tav tm="100000">
                                          <p:val>
                                            <p:strVal val="#ppt_y"/>
                                          </p:val>
                                        </p:tav>
                                      </p:tavLst>
                                    </p:anim>
                                  </p:childTnLst>
                                </p:cTn>
                              </p:par>
                              <p:par>
                                <p:cTn id="114" presetID="2" presetClass="entr" presetSubtype="4" fill="hold" grpId="0" nodeType="withEffect">
                                  <p:stCondLst>
                                    <p:cond delay="0"/>
                                  </p:stCondLst>
                                  <p:childTnLst>
                                    <p:set>
                                      <p:cBhvr>
                                        <p:cTn id="115" dur="1" fill="hold">
                                          <p:stCondLst>
                                            <p:cond delay="0"/>
                                          </p:stCondLst>
                                        </p:cTn>
                                        <p:tgtEl>
                                          <p:spTgt spid="28"/>
                                        </p:tgtEl>
                                        <p:attrNameLst>
                                          <p:attrName>style.visibility</p:attrName>
                                        </p:attrNameLst>
                                      </p:cBhvr>
                                      <p:to>
                                        <p:strVal val="visible"/>
                                      </p:to>
                                    </p:set>
                                    <p:anim calcmode="lin" valueType="num">
                                      <p:cBhvr additive="base">
                                        <p:cTn id="116" dur="500" fill="hold"/>
                                        <p:tgtEl>
                                          <p:spTgt spid="28"/>
                                        </p:tgtEl>
                                        <p:attrNameLst>
                                          <p:attrName>ppt_x</p:attrName>
                                        </p:attrNameLst>
                                      </p:cBhvr>
                                      <p:tavLst>
                                        <p:tav tm="0">
                                          <p:val>
                                            <p:strVal val="#ppt_x"/>
                                          </p:val>
                                        </p:tav>
                                        <p:tav tm="100000">
                                          <p:val>
                                            <p:strVal val="#ppt_x"/>
                                          </p:val>
                                        </p:tav>
                                      </p:tavLst>
                                    </p:anim>
                                    <p:anim calcmode="lin" valueType="num">
                                      <p:cBhvr additive="base">
                                        <p:cTn id="117"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2" presetClass="entr" presetSubtype="2" fill="hold" grpId="0" nodeType="clickEffect">
                                  <p:stCondLst>
                                    <p:cond delay="0"/>
                                  </p:stCondLst>
                                  <p:childTnLst>
                                    <p:set>
                                      <p:cBhvr>
                                        <p:cTn id="121" dur="1" fill="hold">
                                          <p:stCondLst>
                                            <p:cond delay="0"/>
                                          </p:stCondLst>
                                        </p:cTn>
                                        <p:tgtEl>
                                          <p:spTgt spid="29"/>
                                        </p:tgtEl>
                                        <p:attrNameLst>
                                          <p:attrName>style.visibility</p:attrName>
                                        </p:attrNameLst>
                                      </p:cBhvr>
                                      <p:to>
                                        <p:strVal val="visible"/>
                                      </p:to>
                                    </p:set>
                                    <p:anim calcmode="lin" valueType="num">
                                      <p:cBhvr additive="base">
                                        <p:cTn id="122" dur="500" fill="hold"/>
                                        <p:tgtEl>
                                          <p:spTgt spid="29"/>
                                        </p:tgtEl>
                                        <p:attrNameLst>
                                          <p:attrName>ppt_x</p:attrName>
                                        </p:attrNameLst>
                                      </p:cBhvr>
                                      <p:tavLst>
                                        <p:tav tm="0">
                                          <p:val>
                                            <p:strVal val="1+#ppt_w/2"/>
                                          </p:val>
                                        </p:tav>
                                        <p:tav tm="100000">
                                          <p:val>
                                            <p:strVal val="#ppt_x"/>
                                          </p:val>
                                        </p:tav>
                                      </p:tavLst>
                                    </p:anim>
                                    <p:anim calcmode="lin" valueType="num">
                                      <p:cBhvr additive="base">
                                        <p:cTn id="123" dur="500" fill="hold"/>
                                        <p:tgtEl>
                                          <p:spTgt spid="29"/>
                                        </p:tgtEl>
                                        <p:attrNameLst>
                                          <p:attrName>ppt_y</p:attrName>
                                        </p:attrNameLst>
                                      </p:cBhvr>
                                      <p:tavLst>
                                        <p:tav tm="0">
                                          <p:val>
                                            <p:strVal val="#ppt_y"/>
                                          </p:val>
                                        </p:tav>
                                        <p:tav tm="100000">
                                          <p:val>
                                            <p:strVal val="#ppt_y"/>
                                          </p:val>
                                        </p:tav>
                                      </p:tavLst>
                                    </p:anim>
                                  </p:childTnLst>
                                </p:cTn>
                              </p:par>
                              <p:par>
                                <p:cTn id="124" presetID="2" presetClass="entr" presetSubtype="2" fill="hold" grpId="0" nodeType="withEffect">
                                  <p:stCondLst>
                                    <p:cond delay="0"/>
                                  </p:stCondLst>
                                  <p:childTnLst>
                                    <p:set>
                                      <p:cBhvr>
                                        <p:cTn id="125" dur="1" fill="hold">
                                          <p:stCondLst>
                                            <p:cond delay="0"/>
                                          </p:stCondLst>
                                        </p:cTn>
                                        <p:tgtEl>
                                          <p:spTgt spid="30"/>
                                        </p:tgtEl>
                                        <p:attrNameLst>
                                          <p:attrName>style.visibility</p:attrName>
                                        </p:attrNameLst>
                                      </p:cBhvr>
                                      <p:to>
                                        <p:strVal val="visible"/>
                                      </p:to>
                                    </p:set>
                                    <p:anim calcmode="lin" valueType="num">
                                      <p:cBhvr additive="base">
                                        <p:cTn id="126" dur="500" fill="hold"/>
                                        <p:tgtEl>
                                          <p:spTgt spid="30"/>
                                        </p:tgtEl>
                                        <p:attrNameLst>
                                          <p:attrName>ppt_x</p:attrName>
                                        </p:attrNameLst>
                                      </p:cBhvr>
                                      <p:tavLst>
                                        <p:tav tm="0">
                                          <p:val>
                                            <p:strVal val="1+#ppt_w/2"/>
                                          </p:val>
                                        </p:tav>
                                        <p:tav tm="100000">
                                          <p:val>
                                            <p:strVal val="#ppt_x"/>
                                          </p:val>
                                        </p:tav>
                                      </p:tavLst>
                                    </p:anim>
                                    <p:anim calcmode="lin" valueType="num">
                                      <p:cBhvr additive="base">
                                        <p:cTn id="127" dur="500" fill="hold"/>
                                        <p:tgtEl>
                                          <p:spTgt spid="30"/>
                                        </p:tgtEl>
                                        <p:attrNameLst>
                                          <p:attrName>ppt_y</p:attrName>
                                        </p:attrNameLst>
                                      </p:cBhvr>
                                      <p:tavLst>
                                        <p:tav tm="0">
                                          <p:val>
                                            <p:strVal val="#ppt_y"/>
                                          </p:val>
                                        </p:tav>
                                        <p:tav tm="100000">
                                          <p:val>
                                            <p:strVal val="#ppt_y"/>
                                          </p:val>
                                        </p:tav>
                                      </p:tavLst>
                                    </p:anim>
                                  </p:childTnLst>
                                </p:cTn>
                              </p:par>
                              <p:par>
                                <p:cTn id="128" presetID="2" presetClass="entr" presetSubtype="2" fill="hold" nodeType="withEffect">
                                  <p:stCondLst>
                                    <p:cond delay="0"/>
                                  </p:stCondLst>
                                  <p:childTnLst>
                                    <p:set>
                                      <p:cBhvr>
                                        <p:cTn id="129" dur="1" fill="hold">
                                          <p:stCondLst>
                                            <p:cond delay="0"/>
                                          </p:stCondLst>
                                        </p:cTn>
                                        <p:tgtEl>
                                          <p:spTgt spid="31"/>
                                        </p:tgtEl>
                                        <p:attrNameLst>
                                          <p:attrName>style.visibility</p:attrName>
                                        </p:attrNameLst>
                                      </p:cBhvr>
                                      <p:to>
                                        <p:strVal val="visible"/>
                                      </p:to>
                                    </p:set>
                                    <p:anim calcmode="lin" valueType="num">
                                      <p:cBhvr additive="base">
                                        <p:cTn id="130" dur="500" fill="hold"/>
                                        <p:tgtEl>
                                          <p:spTgt spid="31"/>
                                        </p:tgtEl>
                                        <p:attrNameLst>
                                          <p:attrName>ppt_x</p:attrName>
                                        </p:attrNameLst>
                                      </p:cBhvr>
                                      <p:tavLst>
                                        <p:tav tm="0">
                                          <p:val>
                                            <p:strVal val="1+#ppt_w/2"/>
                                          </p:val>
                                        </p:tav>
                                        <p:tav tm="100000">
                                          <p:val>
                                            <p:strVal val="#ppt_x"/>
                                          </p:val>
                                        </p:tav>
                                      </p:tavLst>
                                    </p:anim>
                                    <p:anim calcmode="lin" valueType="num">
                                      <p:cBhvr additive="base">
                                        <p:cTn id="131" dur="500" fill="hold"/>
                                        <p:tgtEl>
                                          <p:spTgt spid="31"/>
                                        </p:tgtEl>
                                        <p:attrNameLst>
                                          <p:attrName>ppt_y</p:attrName>
                                        </p:attrNameLst>
                                      </p:cBhvr>
                                      <p:tavLst>
                                        <p:tav tm="0">
                                          <p:val>
                                            <p:strVal val="#ppt_y"/>
                                          </p:val>
                                        </p:tav>
                                        <p:tav tm="100000">
                                          <p:val>
                                            <p:strVal val="#ppt_y"/>
                                          </p:val>
                                        </p:tav>
                                      </p:tavLst>
                                    </p:anim>
                                  </p:childTnLst>
                                </p:cTn>
                              </p:par>
                              <p:par>
                                <p:cTn id="132" presetID="2" presetClass="entr" presetSubtype="2" fill="hold" grpId="0" nodeType="withEffect">
                                  <p:stCondLst>
                                    <p:cond delay="0"/>
                                  </p:stCondLst>
                                  <p:childTnLst>
                                    <p:set>
                                      <p:cBhvr>
                                        <p:cTn id="133" dur="1" fill="hold">
                                          <p:stCondLst>
                                            <p:cond delay="0"/>
                                          </p:stCondLst>
                                        </p:cTn>
                                        <p:tgtEl>
                                          <p:spTgt spid="32"/>
                                        </p:tgtEl>
                                        <p:attrNameLst>
                                          <p:attrName>style.visibility</p:attrName>
                                        </p:attrNameLst>
                                      </p:cBhvr>
                                      <p:to>
                                        <p:strVal val="visible"/>
                                      </p:to>
                                    </p:set>
                                    <p:anim calcmode="lin" valueType="num">
                                      <p:cBhvr additive="base">
                                        <p:cTn id="134" dur="500" fill="hold"/>
                                        <p:tgtEl>
                                          <p:spTgt spid="32"/>
                                        </p:tgtEl>
                                        <p:attrNameLst>
                                          <p:attrName>ppt_x</p:attrName>
                                        </p:attrNameLst>
                                      </p:cBhvr>
                                      <p:tavLst>
                                        <p:tav tm="0">
                                          <p:val>
                                            <p:strVal val="1+#ppt_w/2"/>
                                          </p:val>
                                        </p:tav>
                                        <p:tav tm="100000">
                                          <p:val>
                                            <p:strVal val="#ppt_x"/>
                                          </p:val>
                                        </p:tav>
                                      </p:tavLst>
                                    </p:anim>
                                    <p:anim calcmode="lin" valueType="num">
                                      <p:cBhvr additive="base">
                                        <p:cTn id="135" dur="500" fill="hold"/>
                                        <p:tgtEl>
                                          <p:spTgt spid="32"/>
                                        </p:tgtEl>
                                        <p:attrNameLst>
                                          <p:attrName>ppt_y</p:attrName>
                                        </p:attrNameLst>
                                      </p:cBhvr>
                                      <p:tavLst>
                                        <p:tav tm="0">
                                          <p:val>
                                            <p:strVal val="#ppt_y"/>
                                          </p:val>
                                        </p:tav>
                                        <p:tav tm="100000">
                                          <p:val>
                                            <p:strVal val="#ppt_y"/>
                                          </p:val>
                                        </p:tav>
                                      </p:tavLst>
                                    </p:anim>
                                  </p:childTnLst>
                                </p:cTn>
                              </p:par>
                              <p:par>
                                <p:cTn id="136" presetID="2" presetClass="entr" presetSubtype="2" fill="hold" grpId="0" nodeType="withEffect">
                                  <p:stCondLst>
                                    <p:cond delay="0"/>
                                  </p:stCondLst>
                                  <p:childTnLst>
                                    <p:set>
                                      <p:cBhvr>
                                        <p:cTn id="137" dur="1" fill="hold">
                                          <p:stCondLst>
                                            <p:cond delay="0"/>
                                          </p:stCondLst>
                                        </p:cTn>
                                        <p:tgtEl>
                                          <p:spTgt spid="33"/>
                                        </p:tgtEl>
                                        <p:attrNameLst>
                                          <p:attrName>style.visibility</p:attrName>
                                        </p:attrNameLst>
                                      </p:cBhvr>
                                      <p:to>
                                        <p:strVal val="visible"/>
                                      </p:to>
                                    </p:set>
                                    <p:anim calcmode="lin" valueType="num">
                                      <p:cBhvr additive="base">
                                        <p:cTn id="138" dur="500" fill="hold"/>
                                        <p:tgtEl>
                                          <p:spTgt spid="33"/>
                                        </p:tgtEl>
                                        <p:attrNameLst>
                                          <p:attrName>ppt_x</p:attrName>
                                        </p:attrNameLst>
                                      </p:cBhvr>
                                      <p:tavLst>
                                        <p:tav tm="0">
                                          <p:val>
                                            <p:strVal val="1+#ppt_w/2"/>
                                          </p:val>
                                        </p:tav>
                                        <p:tav tm="100000">
                                          <p:val>
                                            <p:strVal val="#ppt_x"/>
                                          </p:val>
                                        </p:tav>
                                      </p:tavLst>
                                    </p:anim>
                                    <p:anim calcmode="lin" valueType="num">
                                      <p:cBhvr additive="base">
                                        <p:cTn id="139"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6" grpId="0"/>
    </p:bldLst>
  </p:timing>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2011680"/>
            <a:ext cx="4754880" cy="4754880"/>
          </a:xfrm>
          <a:prstGeom prst="ellipse">
            <a:avLst/>
          </a:prstGeom>
          <a:ln w="330200">
            <a:solidFill>
              <a:srgbClr val="E7EAF2"/>
            </a:solidFill>
            <a:prstDash val="solid"/>
          </a:ln>
        </p:spPr>
        <p:txBody>
          <a:bodyPr/>
          <a:lstStyle/>
          <a:p>
            <a:endParaRPr lang="en-IN"/>
          </a:p>
        </p:txBody>
      </p:sp>
      <p:sp>
        <p:nvSpPr>
          <p:cNvPr id="3" name="Shape 1"/>
          <p:cNvSpPr/>
          <p:nvPr/>
        </p:nvSpPr>
        <p:spPr>
          <a:xfrm>
            <a:off x="9875520" y="4937760"/>
            <a:ext cx="4023360" cy="4023360"/>
          </a:xfrm>
          <a:prstGeom prst="ellipse">
            <a:avLst/>
          </a:prstGeom>
          <a:ln w="279400">
            <a:solidFill>
              <a:srgbClr val="E7EAF2"/>
            </a:solidFill>
            <a:prstDash val="solid"/>
          </a:ln>
        </p:spPr>
        <p:txBody>
          <a:bodyPr/>
          <a:lstStyle/>
          <a:p>
            <a:endParaRPr lang="en-IN"/>
          </a:p>
        </p:txBody>
      </p:sp>
      <p:sp>
        <p:nvSpPr>
          <p:cNvPr id="4" name="Text 2"/>
          <p:cNvSpPr txBox="1"/>
          <p:nvPr/>
        </p:nvSpPr>
        <p:spPr>
          <a:xfrm>
            <a:off x="0" y="502920"/>
            <a:ext cx="12191695" cy="274320"/>
          </a:xfrm>
          <a:prstGeom prst="rect">
            <a:avLst/>
          </a:prstGeom>
          <a:noFill/>
          <a:ln/>
        </p:spPr>
        <p:txBody>
          <a:bodyPr wrap="square" rtlCol="0" anchor="ctr"/>
          <a:lstStyle/>
          <a:p>
            <a:pPr marL="0" indent="0" algn="ctr">
              <a:buNone/>
            </a:pPr>
            <a:r>
              <a:rPr lang="en-US" sz="1200" b="1" kern="0" spc="200" dirty="0">
                <a:solidFill>
                  <a:srgbClr val="C9A227"/>
                </a:solidFill>
                <a:latin typeface="Calibri" pitchFamily="34" charset="0"/>
                <a:ea typeface="Calibri" pitchFamily="34" charset="-122"/>
                <a:cs typeface="Calibri" pitchFamily="34" charset="-120"/>
              </a:rPr>
              <a:t>CONCLUSION</a:t>
            </a:r>
            <a:endParaRPr lang="en-US" sz="1200" dirty="0"/>
          </a:p>
        </p:txBody>
      </p:sp>
      <p:sp>
        <p:nvSpPr>
          <p:cNvPr id="5" name="Text 3"/>
          <p:cNvSpPr txBox="1"/>
          <p:nvPr/>
        </p:nvSpPr>
        <p:spPr>
          <a:xfrm>
            <a:off x="0" y="786384"/>
            <a:ext cx="12191695" cy="502920"/>
          </a:xfrm>
          <a:prstGeom prst="rect">
            <a:avLst/>
          </a:prstGeom>
          <a:noFill/>
          <a:ln/>
        </p:spPr>
        <p:txBody>
          <a:bodyPr wrap="square" rtlCol="0" anchor="ctr"/>
          <a:lstStyle/>
          <a:p>
            <a:pPr marL="0" indent="0" algn="ctr">
              <a:buNone/>
            </a:pPr>
            <a:r>
              <a:rPr lang="en-US" sz="2600" b="1" dirty="0">
                <a:solidFill>
                  <a:srgbClr val="1B2A4A"/>
                </a:solidFill>
                <a:latin typeface="Cambria" pitchFamily="34" charset="0"/>
                <a:ea typeface="Cambria" pitchFamily="34" charset="-122"/>
                <a:cs typeface="Cambria" pitchFamily="34" charset="-120"/>
              </a:rPr>
              <a:t>From Raw Data to Business Decisions</a:t>
            </a:r>
            <a:endParaRPr lang="en-US" sz="2600" dirty="0"/>
          </a:p>
        </p:txBody>
      </p:sp>
      <p:sp>
        <p:nvSpPr>
          <p:cNvPr id="6" name="Shape 4"/>
          <p:cNvSpPr/>
          <p:nvPr/>
        </p:nvSpPr>
        <p:spPr>
          <a:xfrm>
            <a:off x="846988" y="1874520"/>
            <a:ext cx="457200" cy="457200"/>
          </a:xfrm>
          <a:prstGeom prst="ellipse">
            <a:avLst/>
          </a:prstGeom>
          <a:solidFill>
            <a:srgbClr val="1B2A4A"/>
          </a:solidFill>
          <a:ln/>
        </p:spPr>
        <p:txBody>
          <a:bodyPr/>
          <a:lstStyle/>
          <a:p>
            <a:endParaRPr lang="en-IN"/>
          </a:p>
        </p:txBody>
      </p:sp>
      <p:pic>
        <p:nvPicPr>
          <p:cNvPr id="7" name="Image 0" descr="/home/claude/bookverse/icons/database.png"/>
          <p:cNvPicPr>
            <a:picLocks noChangeAspect="1"/>
          </p:cNvPicPr>
          <p:nvPr/>
        </p:nvPicPr>
        <p:blipFill>
          <a:blip r:embed="rId3"/>
          <a:stretch>
            <a:fillRect/>
          </a:stretch>
        </p:blipFill>
        <p:spPr>
          <a:xfrm>
            <a:off x="915568" y="1943100"/>
            <a:ext cx="320040" cy="320040"/>
          </a:xfrm>
          <a:prstGeom prst="rect">
            <a:avLst/>
          </a:prstGeom>
        </p:spPr>
      </p:pic>
      <p:sp>
        <p:nvSpPr>
          <p:cNvPr id="8" name="Text 5"/>
          <p:cNvSpPr txBox="1"/>
          <p:nvPr/>
        </p:nvSpPr>
        <p:spPr>
          <a:xfrm>
            <a:off x="411480" y="2404872"/>
            <a:ext cx="1328217" cy="502920"/>
          </a:xfrm>
          <a:prstGeom prst="rect">
            <a:avLst/>
          </a:prstGeom>
          <a:noFill/>
          <a:ln/>
        </p:spPr>
        <p:txBody>
          <a:bodyPr wrap="square" rtlCol="0" anchor="t"/>
          <a:lstStyle/>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Business</a:t>
            </a:r>
            <a:endParaRPr lang="en-US" sz="1100" dirty="0"/>
          </a:p>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Understanding</a:t>
            </a:r>
            <a:endParaRPr lang="en-US" sz="1100" dirty="0"/>
          </a:p>
        </p:txBody>
      </p:sp>
      <p:sp>
        <p:nvSpPr>
          <p:cNvPr id="9" name="Text 6"/>
          <p:cNvSpPr txBox="1"/>
          <p:nvPr/>
        </p:nvSpPr>
        <p:spPr>
          <a:xfrm>
            <a:off x="1648257" y="1929384"/>
            <a:ext cx="109728" cy="36576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10" name="Shape 7"/>
          <p:cNvSpPr/>
          <p:nvPr/>
        </p:nvSpPr>
        <p:spPr>
          <a:xfrm>
            <a:off x="2102053" y="1874520"/>
            <a:ext cx="457200" cy="457200"/>
          </a:xfrm>
          <a:prstGeom prst="ellipse">
            <a:avLst/>
          </a:prstGeom>
          <a:solidFill>
            <a:srgbClr val="1B2A4A"/>
          </a:solidFill>
          <a:ln/>
        </p:spPr>
        <p:txBody>
          <a:bodyPr/>
          <a:lstStyle/>
          <a:p>
            <a:endParaRPr lang="en-IN"/>
          </a:p>
        </p:txBody>
      </p:sp>
      <p:pic>
        <p:nvPicPr>
          <p:cNvPr id="11" name="Image 1" descr="/home/claude/bookverse/icons/sitemap.png"/>
          <p:cNvPicPr>
            <a:picLocks noChangeAspect="1"/>
          </p:cNvPicPr>
          <p:nvPr/>
        </p:nvPicPr>
        <p:blipFill>
          <a:blip r:embed="rId4"/>
          <a:stretch>
            <a:fillRect/>
          </a:stretch>
        </p:blipFill>
        <p:spPr>
          <a:xfrm>
            <a:off x="2170633" y="1943100"/>
            <a:ext cx="320040" cy="320040"/>
          </a:xfrm>
          <a:prstGeom prst="rect">
            <a:avLst/>
          </a:prstGeom>
        </p:spPr>
      </p:pic>
      <p:sp>
        <p:nvSpPr>
          <p:cNvPr id="12" name="Text 8"/>
          <p:cNvSpPr txBox="1"/>
          <p:nvPr/>
        </p:nvSpPr>
        <p:spPr>
          <a:xfrm>
            <a:off x="1666545" y="2404872"/>
            <a:ext cx="1328217" cy="502920"/>
          </a:xfrm>
          <a:prstGeom prst="rect">
            <a:avLst/>
          </a:prstGeom>
          <a:noFill/>
          <a:ln/>
        </p:spPr>
        <p:txBody>
          <a:bodyPr wrap="square" rtlCol="0" anchor="t"/>
          <a:lstStyle/>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Relational</a:t>
            </a:r>
            <a:endParaRPr lang="en-US" sz="1100" dirty="0"/>
          </a:p>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Database</a:t>
            </a:r>
            <a:endParaRPr lang="en-US" sz="1100" dirty="0"/>
          </a:p>
        </p:txBody>
      </p:sp>
      <p:sp>
        <p:nvSpPr>
          <p:cNvPr id="13" name="Text 9"/>
          <p:cNvSpPr txBox="1"/>
          <p:nvPr/>
        </p:nvSpPr>
        <p:spPr>
          <a:xfrm>
            <a:off x="2903322" y="1929384"/>
            <a:ext cx="109728" cy="36576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14" name="Shape 10"/>
          <p:cNvSpPr/>
          <p:nvPr/>
        </p:nvSpPr>
        <p:spPr>
          <a:xfrm>
            <a:off x="3357118" y="1874520"/>
            <a:ext cx="457200" cy="457200"/>
          </a:xfrm>
          <a:prstGeom prst="ellipse">
            <a:avLst/>
          </a:prstGeom>
          <a:solidFill>
            <a:srgbClr val="1B2A4A"/>
          </a:solidFill>
          <a:ln/>
        </p:spPr>
        <p:txBody>
          <a:bodyPr/>
          <a:lstStyle/>
          <a:p>
            <a:endParaRPr lang="en-IN"/>
          </a:p>
        </p:txBody>
      </p:sp>
      <p:pic>
        <p:nvPicPr>
          <p:cNvPr id="15" name="Image 2" descr="/home/claude/bookverse/icons/validate.png"/>
          <p:cNvPicPr>
            <a:picLocks noChangeAspect="1"/>
          </p:cNvPicPr>
          <p:nvPr/>
        </p:nvPicPr>
        <p:blipFill>
          <a:blip r:embed="rId5"/>
          <a:stretch>
            <a:fillRect/>
          </a:stretch>
        </p:blipFill>
        <p:spPr>
          <a:xfrm>
            <a:off x="3425698" y="1943100"/>
            <a:ext cx="320040" cy="320040"/>
          </a:xfrm>
          <a:prstGeom prst="rect">
            <a:avLst/>
          </a:prstGeom>
        </p:spPr>
      </p:pic>
      <p:sp>
        <p:nvSpPr>
          <p:cNvPr id="16" name="Text 11"/>
          <p:cNvSpPr txBox="1"/>
          <p:nvPr/>
        </p:nvSpPr>
        <p:spPr>
          <a:xfrm>
            <a:off x="2921610" y="2404872"/>
            <a:ext cx="1328217" cy="502920"/>
          </a:xfrm>
          <a:prstGeom prst="rect">
            <a:avLst/>
          </a:prstGeom>
          <a:noFill/>
          <a:ln/>
        </p:spPr>
        <p:txBody>
          <a:bodyPr wrap="square" rtlCol="0" anchor="t"/>
          <a:lstStyle/>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Data</a:t>
            </a:r>
            <a:endParaRPr lang="en-US" sz="1100" dirty="0"/>
          </a:p>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Validation</a:t>
            </a:r>
            <a:endParaRPr lang="en-US" sz="1100" dirty="0"/>
          </a:p>
        </p:txBody>
      </p:sp>
      <p:sp>
        <p:nvSpPr>
          <p:cNvPr id="17" name="Text 12"/>
          <p:cNvSpPr txBox="1"/>
          <p:nvPr/>
        </p:nvSpPr>
        <p:spPr>
          <a:xfrm>
            <a:off x="4158386" y="1929384"/>
            <a:ext cx="109728" cy="36576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18" name="Shape 13"/>
          <p:cNvSpPr/>
          <p:nvPr/>
        </p:nvSpPr>
        <p:spPr>
          <a:xfrm>
            <a:off x="4612183" y="1874520"/>
            <a:ext cx="457200" cy="457200"/>
          </a:xfrm>
          <a:prstGeom prst="ellipse">
            <a:avLst/>
          </a:prstGeom>
          <a:solidFill>
            <a:srgbClr val="1B2A4A"/>
          </a:solidFill>
          <a:ln/>
        </p:spPr>
        <p:txBody>
          <a:bodyPr/>
          <a:lstStyle/>
          <a:p>
            <a:endParaRPr lang="en-IN"/>
          </a:p>
        </p:txBody>
      </p:sp>
      <p:pic>
        <p:nvPicPr>
          <p:cNvPr id="19" name="Image 3" descr="/home/claude/bookverse/icons/question.png"/>
          <p:cNvPicPr>
            <a:picLocks noChangeAspect="1"/>
          </p:cNvPicPr>
          <p:nvPr/>
        </p:nvPicPr>
        <p:blipFill>
          <a:blip r:embed="rId6"/>
          <a:stretch>
            <a:fillRect/>
          </a:stretch>
        </p:blipFill>
        <p:spPr>
          <a:xfrm>
            <a:off x="4680763" y="1943100"/>
            <a:ext cx="320040" cy="320040"/>
          </a:xfrm>
          <a:prstGeom prst="rect">
            <a:avLst/>
          </a:prstGeom>
        </p:spPr>
      </p:pic>
      <p:sp>
        <p:nvSpPr>
          <p:cNvPr id="20" name="Text 14"/>
          <p:cNvSpPr txBox="1"/>
          <p:nvPr/>
        </p:nvSpPr>
        <p:spPr>
          <a:xfrm>
            <a:off x="4176674" y="2404872"/>
            <a:ext cx="1328217" cy="502920"/>
          </a:xfrm>
          <a:prstGeom prst="rect">
            <a:avLst/>
          </a:prstGeom>
          <a:noFill/>
          <a:ln/>
        </p:spPr>
        <p:txBody>
          <a:bodyPr wrap="square" rtlCol="0" anchor="t"/>
          <a:lstStyle/>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SQL</a:t>
            </a:r>
            <a:endParaRPr lang="en-US" sz="1100" dirty="0"/>
          </a:p>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Exploration</a:t>
            </a:r>
            <a:endParaRPr lang="en-US" sz="1100" dirty="0"/>
          </a:p>
        </p:txBody>
      </p:sp>
      <p:sp>
        <p:nvSpPr>
          <p:cNvPr id="21" name="Text 15"/>
          <p:cNvSpPr txBox="1"/>
          <p:nvPr/>
        </p:nvSpPr>
        <p:spPr>
          <a:xfrm>
            <a:off x="5413451" y="1929384"/>
            <a:ext cx="109728" cy="36576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22" name="Shape 16"/>
          <p:cNvSpPr/>
          <p:nvPr/>
        </p:nvSpPr>
        <p:spPr>
          <a:xfrm>
            <a:off x="5867248" y="1874520"/>
            <a:ext cx="457200" cy="457200"/>
          </a:xfrm>
          <a:prstGeom prst="ellipse">
            <a:avLst/>
          </a:prstGeom>
          <a:solidFill>
            <a:srgbClr val="1B2A4A"/>
          </a:solidFill>
          <a:ln/>
        </p:spPr>
        <p:txBody>
          <a:bodyPr/>
          <a:lstStyle/>
          <a:p>
            <a:endParaRPr lang="en-IN"/>
          </a:p>
        </p:txBody>
      </p:sp>
      <p:pic>
        <p:nvPicPr>
          <p:cNvPr id="23" name="Image 4" descr="/home/claude/bookverse/icons/sales.png"/>
          <p:cNvPicPr>
            <a:picLocks noChangeAspect="1"/>
          </p:cNvPicPr>
          <p:nvPr/>
        </p:nvPicPr>
        <p:blipFill>
          <a:blip r:embed="rId7"/>
          <a:stretch>
            <a:fillRect/>
          </a:stretch>
        </p:blipFill>
        <p:spPr>
          <a:xfrm>
            <a:off x="5935828" y="1943100"/>
            <a:ext cx="320040" cy="320040"/>
          </a:xfrm>
          <a:prstGeom prst="rect">
            <a:avLst/>
          </a:prstGeom>
        </p:spPr>
      </p:pic>
      <p:sp>
        <p:nvSpPr>
          <p:cNvPr id="24" name="Text 17"/>
          <p:cNvSpPr txBox="1"/>
          <p:nvPr/>
        </p:nvSpPr>
        <p:spPr>
          <a:xfrm>
            <a:off x="5431739" y="2404872"/>
            <a:ext cx="1328217" cy="502920"/>
          </a:xfrm>
          <a:prstGeom prst="rect">
            <a:avLst/>
          </a:prstGeom>
          <a:noFill/>
          <a:ln/>
        </p:spPr>
        <p:txBody>
          <a:bodyPr wrap="square" rtlCol="0" anchor="t"/>
          <a:lstStyle/>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Sales</a:t>
            </a:r>
            <a:endParaRPr lang="en-US" sz="1100" dirty="0"/>
          </a:p>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Analysis</a:t>
            </a:r>
            <a:endParaRPr lang="en-US" sz="1100" dirty="0"/>
          </a:p>
        </p:txBody>
      </p:sp>
      <p:sp>
        <p:nvSpPr>
          <p:cNvPr id="25" name="Text 18"/>
          <p:cNvSpPr txBox="1"/>
          <p:nvPr/>
        </p:nvSpPr>
        <p:spPr>
          <a:xfrm>
            <a:off x="6668516" y="1929384"/>
            <a:ext cx="109728" cy="36576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26" name="Shape 19"/>
          <p:cNvSpPr/>
          <p:nvPr/>
        </p:nvSpPr>
        <p:spPr>
          <a:xfrm>
            <a:off x="7122312" y="1874520"/>
            <a:ext cx="457200" cy="457200"/>
          </a:xfrm>
          <a:prstGeom prst="ellipse">
            <a:avLst/>
          </a:prstGeom>
          <a:solidFill>
            <a:srgbClr val="1B2A4A"/>
          </a:solidFill>
          <a:ln/>
        </p:spPr>
        <p:txBody>
          <a:bodyPr/>
          <a:lstStyle/>
          <a:p>
            <a:endParaRPr lang="en-IN"/>
          </a:p>
        </p:txBody>
      </p:sp>
      <p:pic>
        <p:nvPicPr>
          <p:cNvPr id="27" name="Image 5" descr="/home/claude/bookverse/icons/customers.png"/>
          <p:cNvPicPr>
            <a:picLocks noChangeAspect="1"/>
          </p:cNvPicPr>
          <p:nvPr/>
        </p:nvPicPr>
        <p:blipFill>
          <a:blip r:embed="rId8"/>
          <a:stretch>
            <a:fillRect/>
          </a:stretch>
        </p:blipFill>
        <p:spPr>
          <a:xfrm>
            <a:off x="7190892" y="1943100"/>
            <a:ext cx="320040" cy="320040"/>
          </a:xfrm>
          <a:prstGeom prst="rect">
            <a:avLst/>
          </a:prstGeom>
        </p:spPr>
      </p:pic>
      <p:sp>
        <p:nvSpPr>
          <p:cNvPr id="28" name="Text 20"/>
          <p:cNvSpPr txBox="1"/>
          <p:nvPr/>
        </p:nvSpPr>
        <p:spPr>
          <a:xfrm>
            <a:off x="6686804" y="2404872"/>
            <a:ext cx="1328217" cy="502920"/>
          </a:xfrm>
          <a:prstGeom prst="rect">
            <a:avLst/>
          </a:prstGeom>
          <a:noFill/>
          <a:ln/>
        </p:spPr>
        <p:txBody>
          <a:bodyPr wrap="square" rtlCol="0" anchor="t"/>
          <a:lstStyle/>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Customer</a:t>
            </a:r>
            <a:endParaRPr lang="en-US" sz="1100" dirty="0"/>
          </a:p>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Analysis</a:t>
            </a:r>
            <a:endParaRPr lang="en-US" sz="1100" dirty="0"/>
          </a:p>
        </p:txBody>
      </p:sp>
      <p:sp>
        <p:nvSpPr>
          <p:cNvPr id="29" name="Text 21"/>
          <p:cNvSpPr txBox="1"/>
          <p:nvPr/>
        </p:nvSpPr>
        <p:spPr>
          <a:xfrm>
            <a:off x="7923581" y="1929384"/>
            <a:ext cx="109728" cy="36576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30" name="Shape 22"/>
          <p:cNvSpPr/>
          <p:nvPr/>
        </p:nvSpPr>
        <p:spPr>
          <a:xfrm>
            <a:off x="8377377" y="1874520"/>
            <a:ext cx="457200" cy="457200"/>
          </a:xfrm>
          <a:prstGeom prst="ellipse">
            <a:avLst/>
          </a:prstGeom>
          <a:solidFill>
            <a:srgbClr val="1B2A4A"/>
          </a:solidFill>
          <a:ln/>
        </p:spPr>
        <p:txBody>
          <a:bodyPr/>
          <a:lstStyle/>
          <a:p>
            <a:endParaRPr lang="en-IN"/>
          </a:p>
        </p:txBody>
      </p:sp>
      <p:pic>
        <p:nvPicPr>
          <p:cNvPr id="31" name="Image 6" descr="/home/claude/bookverse/icons/genre.png"/>
          <p:cNvPicPr>
            <a:picLocks noChangeAspect="1"/>
          </p:cNvPicPr>
          <p:nvPr/>
        </p:nvPicPr>
        <p:blipFill>
          <a:blip r:embed="rId9"/>
          <a:stretch>
            <a:fillRect/>
          </a:stretch>
        </p:blipFill>
        <p:spPr>
          <a:xfrm>
            <a:off x="8445957" y="1943100"/>
            <a:ext cx="320040" cy="320040"/>
          </a:xfrm>
          <a:prstGeom prst="rect">
            <a:avLst/>
          </a:prstGeom>
        </p:spPr>
      </p:pic>
      <p:sp>
        <p:nvSpPr>
          <p:cNvPr id="32" name="Text 23"/>
          <p:cNvSpPr txBox="1"/>
          <p:nvPr/>
        </p:nvSpPr>
        <p:spPr>
          <a:xfrm>
            <a:off x="7941869" y="2404872"/>
            <a:ext cx="1328217" cy="502920"/>
          </a:xfrm>
          <a:prstGeom prst="rect">
            <a:avLst/>
          </a:prstGeom>
          <a:noFill/>
          <a:ln/>
        </p:spPr>
        <p:txBody>
          <a:bodyPr wrap="square" rtlCol="0" anchor="t"/>
          <a:lstStyle/>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Product &amp;</a:t>
            </a:r>
            <a:endParaRPr lang="en-US" sz="1100" dirty="0"/>
          </a:p>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Inventory</a:t>
            </a:r>
            <a:endParaRPr lang="en-US" sz="1100" dirty="0"/>
          </a:p>
        </p:txBody>
      </p:sp>
      <p:sp>
        <p:nvSpPr>
          <p:cNvPr id="33" name="Text 24"/>
          <p:cNvSpPr txBox="1"/>
          <p:nvPr/>
        </p:nvSpPr>
        <p:spPr>
          <a:xfrm>
            <a:off x="9178646" y="1929384"/>
            <a:ext cx="109728" cy="36576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34" name="Shape 25"/>
          <p:cNvSpPr/>
          <p:nvPr/>
        </p:nvSpPr>
        <p:spPr>
          <a:xfrm>
            <a:off x="9632442" y="1874520"/>
            <a:ext cx="457200" cy="457200"/>
          </a:xfrm>
          <a:prstGeom prst="ellipse">
            <a:avLst/>
          </a:prstGeom>
          <a:solidFill>
            <a:srgbClr val="1B2A4A"/>
          </a:solidFill>
          <a:ln/>
        </p:spPr>
        <p:txBody>
          <a:bodyPr/>
          <a:lstStyle/>
          <a:p>
            <a:endParaRPr lang="en-IN"/>
          </a:p>
        </p:txBody>
      </p:sp>
      <p:pic>
        <p:nvPicPr>
          <p:cNvPr id="35" name="Image 7" descr="/home/claude/bookverse/icons/target.png"/>
          <p:cNvPicPr>
            <a:picLocks noChangeAspect="1"/>
          </p:cNvPicPr>
          <p:nvPr/>
        </p:nvPicPr>
        <p:blipFill>
          <a:blip r:embed="rId10"/>
          <a:stretch>
            <a:fillRect/>
          </a:stretch>
        </p:blipFill>
        <p:spPr>
          <a:xfrm>
            <a:off x="9701022" y="1943100"/>
            <a:ext cx="320040" cy="320040"/>
          </a:xfrm>
          <a:prstGeom prst="rect">
            <a:avLst/>
          </a:prstGeom>
        </p:spPr>
      </p:pic>
      <p:sp>
        <p:nvSpPr>
          <p:cNvPr id="36" name="Text 26"/>
          <p:cNvSpPr txBox="1"/>
          <p:nvPr/>
        </p:nvSpPr>
        <p:spPr>
          <a:xfrm>
            <a:off x="9196934" y="2404872"/>
            <a:ext cx="1328217" cy="502920"/>
          </a:xfrm>
          <a:prstGeom prst="rect">
            <a:avLst/>
          </a:prstGeom>
          <a:noFill/>
          <a:ln/>
        </p:spPr>
        <p:txBody>
          <a:bodyPr wrap="square" rtlCol="0" anchor="t"/>
          <a:lstStyle/>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Business</a:t>
            </a:r>
            <a:endParaRPr lang="en-US" sz="1100" dirty="0"/>
          </a:p>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Opportunities</a:t>
            </a:r>
            <a:endParaRPr lang="en-US" sz="1100" dirty="0"/>
          </a:p>
        </p:txBody>
      </p:sp>
      <p:sp>
        <p:nvSpPr>
          <p:cNvPr id="37" name="Text 27"/>
          <p:cNvSpPr txBox="1"/>
          <p:nvPr/>
        </p:nvSpPr>
        <p:spPr>
          <a:xfrm>
            <a:off x="10433710" y="1929384"/>
            <a:ext cx="109728" cy="36576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38" name="Shape 28"/>
          <p:cNvSpPr/>
          <p:nvPr/>
        </p:nvSpPr>
        <p:spPr>
          <a:xfrm>
            <a:off x="10887507" y="1874520"/>
            <a:ext cx="457200" cy="457200"/>
          </a:xfrm>
          <a:prstGeom prst="ellipse">
            <a:avLst/>
          </a:prstGeom>
          <a:solidFill>
            <a:srgbClr val="1B2A4A"/>
          </a:solidFill>
          <a:ln/>
        </p:spPr>
        <p:txBody>
          <a:bodyPr/>
          <a:lstStyle/>
          <a:p>
            <a:endParaRPr lang="en-IN"/>
          </a:p>
        </p:txBody>
      </p:sp>
      <p:pic>
        <p:nvPicPr>
          <p:cNvPr id="39" name="Image 8" descr="/home/claude/bookverse/icons/flag.png"/>
          <p:cNvPicPr>
            <a:picLocks noChangeAspect="1"/>
          </p:cNvPicPr>
          <p:nvPr/>
        </p:nvPicPr>
        <p:blipFill>
          <a:blip r:embed="rId11"/>
          <a:stretch>
            <a:fillRect/>
          </a:stretch>
        </p:blipFill>
        <p:spPr>
          <a:xfrm>
            <a:off x="10956087" y="1943100"/>
            <a:ext cx="320040" cy="320040"/>
          </a:xfrm>
          <a:prstGeom prst="rect">
            <a:avLst/>
          </a:prstGeom>
        </p:spPr>
      </p:pic>
      <p:sp>
        <p:nvSpPr>
          <p:cNvPr id="40" name="Text 29"/>
          <p:cNvSpPr txBox="1"/>
          <p:nvPr/>
        </p:nvSpPr>
        <p:spPr>
          <a:xfrm>
            <a:off x="10451998" y="2404872"/>
            <a:ext cx="1328217" cy="502920"/>
          </a:xfrm>
          <a:prstGeom prst="rect">
            <a:avLst/>
          </a:prstGeom>
          <a:noFill/>
          <a:ln/>
        </p:spPr>
        <p:txBody>
          <a:bodyPr wrap="square" rtlCol="0" anchor="t"/>
          <a:lstStyle/>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Management</a:t>
            </a:r>
            <a:endParaRPr lang="en-US" sz="1100" dirty="0"/>
          </a:p>
          <a:p>
            <a:pPr marL="0" indent="0" algn="ctr">
              <a:lnSpc>
                <a:spcPct val="100000"/>
              </a:lnSpc>
              <a:buNone/>
            </a:pPr>
            <a:r>
              <a:rPr lang="en-US" sz="1100" b="1" dirty="0">
                <a:solidFill>
                  <a:srgbClr val="1B2A4A"/>
                </a:solidFill>
                <a:latin typeface="Calibri" pitchFamily="34" charset="0"/>
                <a:ea typeface="Calibri" pitchFamily="34" charset="-122"/>
                <a:cs typeface="Calibri" pitchFamily="34" charset="-120"/>
              </a:rPr>
              <a:t>Recommendations</a:t>
            </a:r>
            <a:endParaRPr lang="en-US" sz="1100" dirty="0"/>
          </a:p>
        </p:txBody>
      </p:sp>
      <p:sp>
        <p:nvSpPr>
          <p:cNvPr id="41" name="Shape 30"/>
          <p:cNvSpPr/>
          <p:nvPr/>
        </p:nvSpPr>
        <p:spPr>
          <a:xfrm>
            <a:off x="1005840" y="3429000"/>
            <a:ext cx="10180015" cy="1691640"/>
          </a:xfrm>
          <a:prstGeom prst="roundRect">
            <a:avLst>
              <a:gd name="adj" fmla="val 4324"/>
            </a:avLst>
          </a:prstGeom>
          <a:solidFill>
            <a:srgbClr val="1B2A4A"/>
          </a:solidFill>
          <a:ln w="28575">
            <a:solidFill>
              <a:srgbClr val="E8D48A"/>
            </a:solidFill>
          </a:ln>
          <a:effectLst>
            <a:outerShdw blurRad="50800" dist="38100" dir="8100000" algn="tr" rotWithShape="0">
              <a:prstClr val="black">
                <a:alpha val="40000"/>
              </a:prstClr>
            </a:outerShdw>
          </a:effectLst>
        </p:spPr>
        <p:txBody>
          <a:bodyPr/>
          <a:lstStyle/>
          <a:p>
            <a:endParaRPr lang="en-IN"/>
          </a:p>
        </p:txBody>
      </p:sp>
      <p:sp>
        <p:nvSpPr>
          <p:cNvPr id="42" name="Text 31"/>
          <p:cNvSpPr txBox="1"/>
          <p:nvPr/>
        </p:nvSpPr>
        <p:spPr>
          <a:xfrm>
            <a:off x="1371600" y="3611880"/>
            <a:ext cx="9448495" cy="1325880"/>
          </a:xfrm>
          <a:prstGeom prst="rect">
            <a:avLst/>
          </a:prstGeom>
          <a:noFill/>
          <a:ln/>
        </p:spPr>
        <p:txBody>
          <a:bodyPr wrap="square" rtlCol="0" anchor="ctr"/>
          <a:lstStyle/>
          <a:p>
            <a:pPr marL="0" indent="0" algn="ctr">
              <a:lnSpc>
                <a:spcPct val="125000"/>
              </a:lnSpc>
              <a:buNone/>
            </a:pPr>
            <a:r>
              <a:rPr lang="en-US" sz="1600" i="1" dirty="0">
                <a:solidFill>
                  <a:srgbClr val="FFFFFF"/>
                </a:solidFill>
                <a:latin typeface="Cambria" pitchFamily="34" charset="0"/>
                <a:ea typeface="Cambria" pitchFamily="34" charset="-122"/>
                <a:cs typeface="Cambria" pitchFamily="34" charset="-120"/>
              </a:rPr>
              <a:t>“BookVerse can use SQL-driven Business Intelligence to understand sales, customers, product demand and inventory position, enabling more informed decisions around sales, marketing and procurement.”</a:t>
            </a:r>
            <a:endParaRPr lang="en-US" sz="1600" dirty="0"/>
          </a:p>
        </p:txBody>
      </p:sp>
      <p:sp>
        <p:nvSpPr>
          <p:cNvPr id="44" name="Text 33"/>
          <p:cNvSpPr txBox="1"/>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BookVerse Retail  -  Business Intelligence &amp; Sales Analytics</a:t>
            </a:r>
            <a:endParaRPr lang="en-US" sz="900" dirty="0"/>
          </a:p>
        </p:txBody>
      </p:sp>
      <p:sp>
        <p:nvSpPr>
          <p:cNvPr id="45" name="Text 34"/>
          <p:cNvSpPr txBox="1"/>
          <p:nvPr/>
        </p:nvSpPr>
        <p:spPr>
          <a:xfrm>
            <a:off x="10637215" y="6547104"/>
            <a:ext cx="1097280" cy="256032"/>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19 / 19</a:t>
            </a:r>
            <a:endParaRPr lang="en-US" sz="9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par>
                                <p:cTn id="20" presetID="22" presetClass="entr" presetSubtype="8"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500"/>
                                        <p:tgtEl>
                                          <p:spTgt spid="12"/>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left)">
                                      <p:cBhvr>
                                        <p:cTn id="28" dur="500"/>
                                        <p:tgtEl>
                                          <p:spTgt spid="13"/>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par>
                                <p:cTn id="32" presetID="22" presetClass="entr" presetSubtype="8"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500"/>
                                        <p:tgtEl>
                                          <p:spTgt spid="15"/>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left)">
                                      <p:cBhvr>
                                        <p:cTn id="43" dur="500"/>
                                        <p:tgtEl>
                                          <p:spTgt spid="18"/>
                                        </p:tgtEl>
                                      </p:cBhvr>
                                    </p:animEffect>
                                  </p:childTnLst>
                                </p:cTn>
                              </p:par>
                              <p:par>
                                <p:cTn id="44" presetID="22" presetClass="entr" presetSubtype="8"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left)">
                                      <p:cBhvr>
                                        <p:cTn id="49" dur="500"/>
                                        <p:tgtEl>
                                          <p:spTgt spid="20"/>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left)">
                                      <p:cBhvr>
                                        <p:cTn id="52" dur="500"/>
                                        <p:tgtEl>
                                          <p:spTgt spid="21"/>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left)">
                                      <p:cBhvr>
                                        <p:cTn id="55" dur="500"/>
                                        <p:tgtEl>
                                          <p:spTgt spid="22"/>
                                        </p:tgtEl>
                                      </p:cBhvr>
                                    </p:animEffect>
                                  </p:childTnLst>
                                </p:cTn>
                              </p:par>
                              <p:par>
                                <p:cTn id="56" presetID="22" presetClass="entr" presetSubtype="8"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wipe(left)">
                                      <p:cBhvr>
                                        <p:cTn id="58" dur="500"/>
                                        <p:tgtEl>
                                          <p:spTgt spid="23"/>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left)">
                                      <p:cBhvr>
                                        <p:cTn id="61" dur="500"/>
                                        <p:tgtEl>
                                          <p:spTgt spid="24"/>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wipe(left)">
                                      <p:cBhvr>
                                        <p:cTn id="64" dur="500"/>
                                        <p:tgtEl>
                                          <p:spTgt spid="25"/>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left)">
                                      <p:cBhvr>
                                        <p:cTn id="67" dur="500"/>
                                        <p:tgtEl>
                                          <p:spTgt spid="26"/>
                                        </p:tgtEl>
                                      </p:cBhvr>
                                    </p:animEffect>
                                  </p:childTnLst>
                                </p:cTn>
                              </p:par>
                              <p:par>
                                <p:cTn id="68" presetID="22" presetClass="entr" presetSubtype="8"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wipe(left)">
                                      <p:cBhvr>
                                        <p:cTn id="70" dur="500"/>
                                        <p:tgtEl>
                                          <p:spTgt spid="27"/>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wipe(left)">
                                      <p:cBhvr>
                                        <p:cTn id="73" dur="500"/>
                                        <p:tgtEl>
                                          <p:spTgt spid="28"/>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wipe(left)">
                                      <p:cBhvr>
                                        <p:cTn id="76" dur="500"/>
                                        <p:tgtEl>
                                          <p:spTgt spid="29"/>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wipe(left)">
                                      <p:cBhvr>
                                        <p:cTn id="79" dur="500"/>
                                        <p:tgtEl>
                                          <p:spTgt spid="30"/>
                                        </p:tgtEl>
                                      </p:cBhvr>
                                    </p:animEffect>
                                  </p:childTnLst>
                                </p:cTn>
                              </p:par>
                              <p:par>
                                <p:cTn id="80" presetID="22" presetClass="entr" presetSubtype="8" fill="hold"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wipe(left)">
                                      <p:cBhvr>
                                        <p:cTn id="82" dur="500"/>
                                        <p:tgtEl>
                                          <p:spTgt spid="31"/>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wipe(left)">
                                      <p:cBhvr>
                                        <p:cTn id="85" dur="500"/>
                                        <p:tgtEl>
                                          <p:spTgt spid="32"/>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wipe(left)">
                                      <p:cBhvr>
                                        <p:cTn id="88" dur="500"/>
                                        <p:tgtEl>
                                          <p:spTgt spid="33"/>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wipe(left)">
                                      <p:cBhvr>
                                        <p:cTn id="91" dur="500"/>
                                        <p:tgtEl>
                                          <p:spTgt spid="34"/>
                                        </p:tgtEl>
                                      </p:cBhvr>
                                    </p:animEffect>
                                  </p:childTnLst>
                                </p:cTn>
                              </p:par>
                              <p:par>
                                <p:cTn id="92" presetID="22" presetClass="entr" presetSubtype="8"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wipe(left)">
                                      <p:cBhvr>
                                        <p:cTn id="94" dur="500"/>
                                        <p:tgtEl>
                                          <p:spTgt spid="35"/>
                                        </p:tgtEl>
                                      </p:cBhvr>
                                    </p:animEffect>
                                  </p:childTnLst>
                                </p:cTn>
                              </p:par>
                              <p:par>
                                <p:cTn id="95" presetID="22" presetClass="entr" presetSubtype="8"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wipe(left)">
                                      <p:cBhvr>
                                        <p:cTn id="97" dur="500"/>
                                        <p:tgtEl>
                                          <p:spTgt spid="36"/>
                                        </p:tgtEl>
                                      </p:cBhvr>
                                    </p:animEffect>
                                  </p:childTnLst>
                                </p:cTn>
                              </p:par>
                              <p:par>
                                <p:cTn id="98" presetID="22" presetClass="entr" presetSubtype="8"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wipe(left)">
                                      <p:cBhvr>
                                        <p:cTn id="100" dur="500"/>
                                        <p:tgtEl>
                                          <p:spTgt spid="37"/>
                                        </p:tgtEl>
                                      </p:cBhvr>
                                    </p:animEffect>
                                  </p:childTnLst>
                                </p:cTn>
                              </p:par>
                              <p:par>
                                <p:cTn id="101" presetID="22" presetClass="entr" presetSubtype="8"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wipe(left)">
                                      <p:cBhvr>
                                        <p:cTn id="103" dur="500"/>
                                        <p:tgtEl>
                                          <p:spTgt spid="38"/>
                                        </p:tgtEl>
                                      </p:cBhvr>
                                    </p:animEffect>
                                  </p:childTnLst>
                                </p:cTn>
                              </p:par>
                              <p:par>
                                <p:cTn id="104" presetID="22" presetClass="entr" presetSubtype="8"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wipe(left)">
                                      <p:cBhvr>
                                        <p:cTn id="106" dur="500"/>
                                        <p:tgtEl>
                                          <p:spTgt spid="39"/>
                                        </p:tgtEl>
                                      </p:cBhvr>
                                    </p:animEffect>
                                  </p:childTnLst>
                                </p:cTn>
                              </p:par>
                              <p:par>
                                <p:cTn id="107" presetID="22" presetClass="entr" presetSubtype="8"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wipe(left)">
                                      <p:cBhvr>
                                        <p:cTn id="109" dur="500"/>
                                        <p:tgtEl>
                                          <p:spTgt spid="40"/>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P spid="26" grpId="0" animBg="1"/>
      <p:bldP spid="28" grpId="0" animBg="1"/>
      <p:bldP spid="29" grpId="0" animBg="1"/>
      <p:bldP spid="30" grpId="0" animBg="1"/>
      <p:bldP spid="32" grpId="0" animBg="1"/>
      <p:bldP spid="33" grpId="0" animBg="1"/>
      <p:bldP spid="34" grpId="0" animBg="1"/>
      <p:bldP spid="36" grpId="0" animBg="1"/>
      <p:bldP spid="37" grpId="0" animBg="1"/>
      <p:bldP spid="38" grpId="0" animBg="1"/>
      <p:bldP spid="40" grpId="0" animBg="1"/>
      <p:bldP spid="4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9" name="Picture 8">
            <a:extLst>
              <a:ext uri="{FF2B5EF4-FFF2-40B4-BE49-F238E27FC236}">
                <a16:creationId xmlns:a16="http://schemas.microsoft.com/office/drawing/2014/main" id="{7896A379-0696-64B2-9A9A-EDEE9512AB43}"/>
              </a:ext>
            </a:extLst>
          </p:cNvPr>
          <p:cNvPicPr>
            <a:picLocks noChangeAspect="1"/>
          </p:cNvPicPr>
          <p:nvPr/>
        </p:nvPicPr>
        <p:blipFill>
          <a:blip r:embed="rId3"/>
          <a:stretch>
            <a:fillRect/>
          </a:stretch>
        </p:blipFill>
        <p:spPr>
          <a:xfrm flipV="1">
            <a:off x="9648824" y="3809999"/>
            <a:ext cx="2543175" cy="3048000"/>
          </a:xfrm>
          <a:prstGeom prst="rect">
            <a:avLst/>
          </a:prstGeom>
        </p:spPr>
      </p:pic>
      <p:pic>
        <p:nvPicPr>
          <p:cNvPr id="5" name="Picture 4">
            <a:extLst>
              <a:ext uri="{FF2B5EF4-FFF2-40B4-BE49-F238E27FC236}">
                <a16:creationId xmlns:a16="http://schemas.microsoft.com/office/drawing/2014/main" id="{3754164D-1BBB-1100-FFFA-F9A1710A6373}"/>
              </a:ext>
            </a:extLst>
          </p:cNvPr>
          <p:cNvPicPr>
            <a:picLocks noChangeAspect="1"/>
          </p:cNvPicPr>
          <p:nvPr/>
        </p:nvPicPr>
        <p:blipFill>
          <a:blip r:embed="rId3"/>
          <a:stretch>
            <a:fillRect/>
          </a:stretch>
        </p:blipFill>
        <p:spPr>
          <a:xfrm>
            <a:off x="9648825" y="0"/>
            <a:ext cx="2543175" cy="3048000"/>
          </a:xfrm>
          <a:prstGeom prst="rect">
            <a:avLst/>
          </a:prstGeom>
        </p:spPr>
      </p:pic>
      <p:pic>
        <p:nvPicPr>
          <p:cNvPr id="116" name="Google Shape;116;p5"/>
          <p:cNvPicPr preferRelativeResize="0"/>
          <p:nvPr/>
        </p:nvPicPr>
        <p:blipFill rotWithShape="1">
          <a:blip r:embed="rId4">
            <a:alphaModFix/>
          </a:blip>
          <a:srcRect/>
          <a:stretch/>
        </p:blipFill>
        <p:spPr>
          <a:xfrm>
            <a:off x="5783080" y="1750602"/>
            <a:ext cx="5001622" cy="33047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3" name="Picture 2">
            <a:extLst>
              <a:ext uri="{FF2B5EF4-FFF2-40B4-BE49-F238E27FC236}">
                <a16:creationId xmlns:a16="http://schemas.microsoft.com/office/drawing/2014/main" id="{8F485AD3-645B-5854-3D51-B8F2DB649F02}"/>
              </a:ext>
            </a:extLst>
          </p:cNvPr>
          <p:cNvPicPr>
            <a:picLocks noChangeAspect="1"/>
          </p:cNvPicPr>
          <p:nvPr/>
        </p:nvPicPr>
        <p:blipFill>
          <a:blip r:embed="rId5"/>
          <a:stretch>
            <a:fillRect/>
          </a:stretch>
        </p:blipFill>
        <p:spPr>
          <a:xfrm>
            <a:off x="0" y="0"/>
            <a:ext cx="2543175" cy="3048000"/>
          </a:xfrm>
          <a:prstGeom prst="rect">
            <a:avLst/>
          </a:prstGeom>
        </p:spPr>
      </p:pic>
      <p:pic>
        <p:nvPicPr>
          <p:cNvPr id="7" name="Picture 6">
            <a:extLst>
              <a:ext uri="{FF2B5EF4-FFF2-40B4-BE49-F238E27FC236}">
                <a16:creationId xmlns:a16="http://schemas.microsoft.com/office/drawing/2014/main" id="{1B225AB7-FD71-CA2E-8A3F-BF3F401244FE}"/>
              </a:ext>
            </a:extLst>
          </p:cNvPr>
          <p:cNvPicPr>
            <a:picLocks noChangeAspect="1"/>
          </p:cNvPicPr>
          <p:nvPr/>
        </p:nvPicPr>
        <p:blipFill>
          <a:blip r:embed="rId5"/>
          <a:stretch>
            <a:fillRect/>
          </a:stretch>
        </p:blipFill>
        <p:spPr>
          <a:xfrm flipV="1">
            <a:off x="0" y="3809999"/>
            <a:ext cx="2543175" cy="3048000"/>
          </a:xfrm>
          <a:prstGeom prst="rect">
            <a:avLst/>
          </a:prstGeom>
        </p:spPr>
      </p:pic>
      <p:sp>
        <p:nvSpPr>
          <p:cNvPr id="117" name="Google Shape;117;p5"/>
          <p:cNvSpPr txBox="1"/>
          <p:nvPr/>
        </p:nvSpPr>
        <p:spPr>
          <a:xfrm>
            <a:off x="1407298" y="2593702"/>
            <a:ext cx="3527698" cy="167059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6000" b="0" i="0" u="none" strike="noStrike" cap="none" dirty="0">
                <a:solidFill>
                  <a:srgbClr val="FF0000"/>
                </a:solidFill>
                <a:effectLst>
                  <a:outerShdw blurRad="38100" dist="38100" dir="2700000" algn="tl">
                    <a:srgbClr val="000000">
                      <a:alpha val="43137"/>
                    </a:srgbClr>
                  </a:outerShdw>
                </a:effectLst>
                <a:latin typeface="Libre Baskerville"/>
                <a:ea typeface="Libre Baskerville"/>
                <a:cs typeface="Libre Baskerville"/>
                <a:sym typeface="Libre Baskerville"/>
              </a:rPr>
              <a:t>THANK YOU</a:t>
            </a:r>
            <a:endParaRPr sz="6000" b="0" i="0" u="none" strike="noStrike" cap="none" dirty="0">
              <a:solidFill>
                <a:srgbClr val="FF0000"/>
              </a:solidFill>
              <a:effectLst>
                <a:outerShdw blurRad="38100" dist="38100" dir="2700000" algn="tl">
                  <a:srgbClr val="000000">
                    <a:alpha val="43137"/>
                  </a:srgbClr>
                </a:outerShdw>
              </a:effectLst>
              <a:latin typeface="Calibri"/>
              <a:ea typeface="Calibri"/>
              <a:cs typeface="Calibri"/>
              <a:sym typeface="Calibri"/>
            </a:endParaRPr>
          </a:p>
        </p:txBody>
      </p:sp>
      <p:sp>
        <p:nvSpPr>
          <p:cNvPr id="10" name="Rectangle 9">
            <a:extLst>
              <a:ext uri="{FF2B5EF4-FFF2-40B4-BE49-F238E27FC236}">
                <a16:creationId xmlns:a16="http://schemas.microsoft.com/office/drawing/2014/main" id="{9D8AA423-87B5-FC13-2C4F-80D7F40478EF}"/>
              </a:ext>
            </a:extLst>
          </p:cNvPr>
          <p:cNvSpPr/>
          <p:nvPr/>
        </p:nvSpPr>
        <p:spPr>
          <a:xfrm>
            <a:off x="8665029" y="5817326"/>
            <a:ext cx="1158240" cy="10406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3170</TotalTime>
  <Words>4541</Words>
  <Application>Microsoft Office PowerPoint</Application>
  <PresentationFormat>Widescreen</PresentationFormat>
  <Paragraphs>493</Paragraphs>
  <Slides>23</Slides>
  <Notes>18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Calibri</vt:lpstr>
      <vt:lpstr>Cambria</vt:lpstr>
      <vt:lpstr>Courier New</vt:lpstr>
      <vt:lpstr>Google Sans</vt:lpstr>
      <vt:lpstr>Lato Black</vt:lpstr>
      <vt:lpstr>Libre Baskerville</vt:lpstr>
      <vt:lpstr>sans-serif typeface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Shriram G</cp:lastModifiedBy>
  <cp:revision>16</cp:revision>
  <dcterms:created xsi:type="dcterms:W3CDTF">2026-09-14T16:15:48Z</dcterms:created>
  <dcterms:modified xsi:type="dcterms:W3CDTF">2026-09-29T08:02:49Z</dcterms:modified>
</cp:coreProperties>
</file>